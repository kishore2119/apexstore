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859ce15b7b4f76" /><Relationship Type="http://schemas.openxmlformats.org/officeDocument/2006/relationships/extended-properties" Target="/docProps/app.xml" Id="R640cff63d91645ee" /><Relationship Type="http://schemas.openxmlformats.org/officeDocument/2006/relationships/officeDocument" Target="/ppt/presentation.xml" Id="R381aa07a9db444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1e74e9b6fa4235"/>
  </p:sldMasterIdLst>
  <p:notesMasterIdLst>
    <p:notesMasterId xmlns:r="http://schemas.openxmlformats.org/officeDocument/2006/relationships" r:id="R2bfdf9608756400c"/>
  </p:notesMasterIdLst>
  <p:sldIdLst>
    <p:sldId xmlns:r="http://schemas.openxmlformats.org/officeDocument/2006/relationships" id="256" r:id="Rf2757c2e258d4e12"/>
    <p:sldId xmlns:r="http://schemas.openxmlformats.org/officeDocument/2006/relationships" id="257" r:id="Rbf87ef668230414d"/>
    <p:sldId xmlns:r="http://schemas.openxmlformats.org/officeDocument/2006/relationships" id="258" r:id="Rdbbe11791bd74df1"/>
    <p:sldId xmlns:r="http://schemas.openxmlformats.org/officeDocument/2006/relationships" id="259" r:id="Rab3d86e36cdc4675"/>
    <p:sldId xmlns:r="http://schemas.openxmlformats.org/officeDocument/2006/relationships" id="260" r:id="R379fea440feb4988"/>
    <p:sldId xmlns:r="http://schemas.openxmlformats.org/officeDocument/2006/relationships" id="261" r:id="R9e4b3a405c7c42ee"/>
    <p:sldId xmlns:r="http://schemas.openxmlformats.org/officeDocument/2006/relationships" id="262" r:id="R4d14d79659f44f94"/>
    <p:sldId xmlns:r="http://schemas.openxmlformats.org/officeDocument/2006/relationships" id="263" r:id="R852071f3779443db"/>
    <p:sldId xmlns:r="http://schemas.openxmlformats.org/officeDocument/2006/relationships" id="264" r:id="Rfbb3e6f49b9f4433"/>
    <p:sldId xmlns:r="http://schemas.openxmlformats.org/officeDocument/2006/relationships" id="265" r:id="R420256da70d44bfa"/>
    <p:sldId xmlns:r="http://schemas.openxmlformats.org/officeDocument/2006/relationships" id="266" r:id="R1b18a78ca7304bdf"/>
    <p:sldId xmlns:r="http://schemas.openxmlformats.org/officeDocument/2006/relationships" id="267" r:id="Rd3ccc288fc354125"/>
    <p:sldId xmlns:r="http://schemas.openxmlformats.org/officeDocument/2006/relationships" id="268" r:id="R3ea5eb50accd44db"/>
    <p:sldId xmlns:r="http://schemas.openxmlformats.org/officeDocument/2006/relationships" id="269" r:id="Rd0b1d0e9f70d4847"/>
    <p:sldId xmlns:r="http://schemas.openxmlformats.org/officeDocument/2006/relationships" id="270" r:id="R633acf34c7ec424d"/>
    <p:sldId xmlns:r="http://schemas.openxmlformats.org/officeDocument/2006/relationships" id="271" r:id="R541899a7e2e84183"/>
    <p:sldId xmlns:r="http://schemas.openxmlformats.org/officeDocument/2006/relationships" id="272" r:id="R775a5a4e4009411f"/>
    <p:sldId xmlns:r="http://schemas.openxmlformats.org/officeDocument/2006/relationships" id="273" r:id="Re13c4dcfb3824287"/>
  </p:sldIdLst>
  <p:sldSz cx="10058400" cy="7772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cc026293ee4c0a" /><Relationship Type="http://schemas.openxmlformats.org/officeDocument/2006/relationships/slideMaster" Target="/ppt/slideMasters/slideMaster1.xml" Id="R851e74e9b6fa4235" /><Relationship Type="http://schemas.openxmlformats.org/officeDocument/2006/relationships/notesMaster" Target="/ppt/notesMasters/notesMaster1.xml" Id="R2bfdf9608756400c" /><Relationship Type="http://schemas.openxmlformats.org/officeDocument/2006/relationships/presProps" Target="/ppt/presProps.xml" Id="R4784b8d1d3464c2c" /><Relationship Type="http://schemas.openxmlformats.org/officeDocument/2006/relationships/tableStyles" Target="/ppt/tableStyles.xml" Id="R51f40ca6a05d4605" /><Relationship Type="http://schemas.openxmlformats.org/officeDocument/2006/relationships/slide" Target="/ppt/slides/slide1.xml" Id="Rf2757c2e258d4e12" /><Relationship Type="http://schemas.openxmlformats.org/officeDocument/2006/relationships/slide" Target="/ppt/slides/slide2.xml" Id="Rbf87ef668230414d" /><Relationship Type="http://schemas.openxmlformats.org/officeDocument/2006/relationships/slide" Target="/ppt/slides/slide3.xml" Id="Rdbbe11791bd74df1" /><Relationship Type="http://schemas.openxmlformats.org/officeDocument/2006/relationships/slide" Target="/ppt/slides/slide4.xml" Id="Rab3d86e36cdc4675" /><Relationship Type="http://schemas.openxmlformats.org/officeDocument/2006/relationships/slide" Target="/ppt/slides/slide5.xml" Id="R379fea440feb4988" /><Relationship Type="http://schemas.openxmlformats.org/officeDocument/2006/relationships/slide" Target="/ppt/slides/slide6.xml" Id="R9e4b3a405c7c42ee" /><Relationship Type="http://schemas.openxmlformats.org/officeDocument/2006/relationships/slide" Target="/ppt/slides/slide7.xml" Id="R4d14d79659f44f94" /><Relationship Type="http://schemas.openxmlformats.org/officeDocument/2006/relationships/slide" Target="/ppt/slides/slide8.xml" Id="R852071f3779443db" /><Relationship Type="http://schemas.openxmlformats.org/officeDocument/2006/relationships/slide" Target="/ppt/slides/slide9.xml" Id="Rfbb3e6f49b9f4433" /><Relationship Type="http://schemas.openxmlformats.org/officeDocument/2006/relationships/slide" Target="/ppt/slides/slide10.xml" Id="R420256da70d44bfa" /><Relationship Type="http://schemas.openxmlformats.org/officeDocument/2006/relationships/slide" Target="/ppt/slides/slide11.xml" Id="R1b18a78ca7304bdf" /><Relationship Type="http://schemas.openxmlformats.org/officeDocument/2006/relationships/slide" Target="/ppt/slides/slide12.xml" Id="Rd3ccc288fc354125" /><Relationship Type="http://schemas.openxmlformats.org/officeDocument/2006/relationships/slide" Target="/ppt/slides/slide13.xml" Id="R3ea5eb50accd44db" /><Relationship Type="http://schemas.openxmlformats.org/officeDocument/2006/relationships/slide" Target="/ppt/slides/slide14.xml" Id="Rd0b1d0e9f70d4847" /><Relationship Type="http://schemas.openxmlformats.org/officeDocument/2006/relationships/slide" Target="/ppt/slides/slide15.xml" Id="R633acf34c7ec424d" /><Relationship Type="http://schemas.openxmlformats.org/officeDocument/2006/relationships/slide" Target="/ppt/slides/slide16.xml" Id="R541899a7e2e84183" /><Relationship Type="http://schemas.openxmlformats.org/officeDocument/2006/relationships/slide" Target="/ppt/slides/slide17.xml" Id="R775a5a4e4009411f" /><Relationship Type="http://schemas.openxmlformats.org/officeDocument/2006/relationships/slide" Target="/ppt/slides/slide18.xml" Id="Re13c4dcfb38242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7c7d1ac844c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9039a52bde4fb9" /><Relationship Type="http://schemas.openxmlformats.org/officeDocument/2006/relationships/notesMaster" Target="/ppt/notesMasters/notesMaster1.xml" Id="R70de6dbe703b4f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02e974ec084edb" /><Relationship Type="http://schemas.openxmlformats.org/officeDocument/2006/relationships/notesMaster" Target="/ppt/notesMasters/notesMaster1.xml" Id="Racd8cc509b0446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5ba0d8b7ef428d" /><Relationship Type="http://schemas.openxmlformats.org/officeDocument/2006/relationships/notesMaster" Target="/ppt/notesMasters/notesMaster1.xml" Id="Re3247d6eb2db4a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d0f8f1a63d4198" /><Relationship Type="http://schemas.openxmlformats.org/officeDocument/2006/relationships/notesMaster" Target="/ppt/notesMasters/notesMaster1.xml" Id="Ra8a5218e961942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6fd674d4694568" /><Relationship Type="http://schemas.openxmlformats.org/officeDocument/2006/relationships/notesMaster" Target="/ppt/notesMasters/notesMaster1.xml" Id="R2d4d81bf440c40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0591515c1f4582" /><Relationship Type="http://schemas.openxmlformats.org/officeDocument/2006/relationships/notesMaster" Target="/ppt/notesMasters/notesMaster1.xml" Id="Rd91e6ae492044e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e6cd760aa74086" /><Relationship Type="http://schemas.openxmlformats.org/officeDocument/2006/relationships/notesMaster" Target="/ppt/notesMasters/notesMaster1.xml" Id="Rb6dab1da5ba946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00914afe4a4bdb" /><Relationship Type="http://schemas.openxmlformats.org/officeDocument/2006/relationships/notesMaster" Target="/ppt/notesMasters/notesMaster1.xml" Id="R2ceb96258d2245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bf32bab6114fd7" /><Relationship Type="http://schemas.openxmlformats.org/officeDocument/2006/relationships/notesMaster" Target="/ppt/notesMasters/notesMaster1.xml" Id="R9c9e214635304c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16ceb406bc4d20" /><Relationship Type="http://schemas.openxmlformats.org/officeDocument/2006/relationships/notesMaster" Target="/ppt/notesMasters/notesMaster1.xml" Id="R230ab379406a4b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afbc9d68de4f9f" /><Relationship Type="http://schemas.openxmlformats.org/officeDocument/2006/relationships/notesMaster" Target="/ppt/notesMasters/notesMaster1.xml" Id="R548d23469f274e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fa3dd8236b40ce" /><Relationship Type="http://schemas.openxmlformats.org/officeDocument/2006/relationships/notesMaster" Target="/ppt/notesMasters/notesMaster1.xml" Id="R4f5c630d83a542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0ac50fb6784e35" /><Relationship Type="http://schemas.openxmlformats.org/officeDocument/2006/relationships/notesMaster" Target="/ppt/notesMasters/notesMaster1.xml" Id="R389f67b552d447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f72fdda5bb4886" /><Relationship Type="http://schemas.openxmlformats.org/officeDocument/2006/relationships/notesMaster" Target="/ppt/notesMasters/notesMaster1.xml" Id="Rae1ab568758f40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e57b557d8b4186" /><Relationship Type="http://schemas.openxmlformats.org/officeDocument/2006/relationships/notesMaster" Target="/ppt/notesMasters/notesMaster1.xml" Id="R90c7627a36a043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49645d6a274228" /><Relationship Type="http://schemas.openxmlformats.org/officeDocument/2006/relationships/notesMaster" Target="/ppt/notesMasters/notesMaster1.xml" Id="R79c4b11bf13d4d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fe0f1b5842b4d47" /><Relationship Type="http://schemas.openxmlformats.org/officeDocument/2006/relationships/notesMaster" Target="/ppt/notesMasters/notesMaster1.xml" Id="R29f2306669574ef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627b47815949e0" /><Relationship Type="http://schemas.openxmlformats.org/officeDocument/2006/relationships/notesMaster" Target="/ppt/notesMasters/notesMaster1.xml" Id="Reccfc9b008104e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 University logo supplied in the reference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The comparison describes a manual workflow, not the capabilities of commercial marketplaces.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 Screenshots from the project files listed in each image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application screenshots captured on 25 October 2026: administrator own inventory and administrator overview. Inventory ownership checks also apply to sellers. Source files: C:/Users/kisho/OneDrive/Documents/UsefulStuff/ecom_order/.local/presentation-team1/current-screens/admin-inventory.jpg and admin-overview.jpg.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Each schema also has a Flyway migration-history table. Services exchange data through APIs.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Angular runs on port 4200. The common module is a shared library, not a separate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An idempotency key prevents duplicate orders. COD and online payment choices are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ApexMart academic project. Team 1. Project sources: C:/Users/kisho/OneDrive/Documents/UsefulStuff/ecom_order/README.md; C:/Users/kisho/OneDrive/Documents/UsefulStuff/ecom_order/docs/architecture.md; C:/Users/kisho/OneDrive/Documents/UsefulStuff/ecom_order/docs/api.md; C:/Users/kisho/OneDrive/Documents/UsefulStuff/ecom_order/docs/requirements.md. Database tables follow the versioned Flyway SQL migrations.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25091998147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ef3444cc247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0515a604442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a4be19bbb24d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e85bce66e4c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f81337c0e54c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38369F-6203-4124-87D7-84047B9687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CBCBF6-337B-4718-80CD-7759E042F1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1A7AB9-B145-4B02-83CC-FE3014DF21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2DC99C-E907-42DA-A971-995255971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B3F470-BC8C-44B1-A983-90D2997D97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DD8991-F8F1-4CD1-918B-61901323F1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044C7A-58F1-43DB-9217-5A4DB142A8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1736F0-68C2-47F5-9477-E01583D1A8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DA419A-D991-4864-B7C8-F1C04EEDE9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609982-F605-496E-B4C1-F6F9EB213B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a0a747b7e24762" /><Relationship Type="http://schemas.openxmlformats.org/officeDocument/2006/relationships/slideLayout" Target="/ppt/slideLayouts/slideLayout1.xml" Id="R00d16d5e6ad84f91" /><Relationship Type="http://schemas.openxmlformats.org/officeDocument/2006/relationships/slideLayout" Target="/ppt/slideLayouts/slideLayout2.xml" Id="R0170321a6fb2424e" /><Relationship Type="http://schemas.openxmlformats.org/officeDocument/2006/relationships/slideLayout" Target="/ppt/slideLayouts/slideLayout3.xml" Id="R353437d2f5034b35" /><Relationship Type="http://schemas.openxmlformats.org/officeDocument/2006/relationships/slideLayout" Target="/ppt/slideLayouts/slideLayout4.xml" Id="R9680ef0c4f674c53" /><Relationship Type="http://schemas.openxmlformats.org/officeDocument/2006/relationships/slideLayout" Target="/ppt/slideLayouts/slideLayout5.xml" Id="Rff1480803e774c60" /><Relationship Type="http://schemas.openxmlformats.org/officeDocument/2006/relationships/slideLayout" Target="/ppt/slideLayouts/slideLayout6.xml" Id="R658b84a90a984a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d16d5e6ad84f91"/>
    <p:sldLayoutId xmlns:r="http://schemas.openxmlformats.org/officeDocument/2006/relationships" id="2147483650" r:id="R0170321a6fb2424e"/>
    <p:sldLayoutId xmlns:r="http://schemas.openxmlformats.org/officeDocument/2006/relationships" id="2147483651" r:id="R353437d2f5034b35"/>
    <p:sldLayoutId xmlns:r="http://schemas.openxmlformats.org/officeDocument/2006/relationships" id="2147483652" r:id="R9680ef0c4f674c53"/>
    <p:sldLayoutId xmlns:r="http://schemas.openxmlformats.org/officeDocument/2006/relationships" id="2147483653" r:id="Rff1480803e774c60"/>
    <p:sldLayoutId xmlns:r="http://schemas.openxmlformats.org/officeDocument/2006/relationships" id="2147483654" r:id="R658b84a90a984a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f64b7c67be4f3d" /><Relationship Type="http://schemas.openxmlformats.org/officeDocument/2006/relationships/image" Target="/ppt/media/image.png" Id="Ra75fee834469477c" /><Relationship Type="http://schemas.openxmlformats.org/officeDocument/2006/relationships/notesSlide" Target="/ppt/notesSlides/notesSlide1.xml" Id="R1550cda2cbb241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ac04265604d0a" /><Relationship Type="http://schemas.openxmlformats.org/officeDocument/2006/relationships/notesSlide" Target="/ppt/notesSlides/notesSlide2.xml" Id="R615b99c7ac5a42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12e997231f4c3b" /><Relationship Type="http://schemas.openxmlformats.org/officeDocument/2006/relationships/notesSlide" Target="/ppt/notesSlides/notesSlide3.xml" Id="R1fb742c76d3641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18db04da640ed" /><Relationship Type="http://schemas.openxmlformats.org/officeDocument/2006/relationships/notesSlide" Target="/ppt/notesSlides/notesSlide4.xml" Id="R7029cb15a4594e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fb2980e8c646bb" /><Relationship Type="http://schemas.openxmlformats.org/officeDocument/2006/relationships/notesSlide" Target="/ppt/notesSlides/notesSlide5.xml" Id="R25f04662d91646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37f67c40bb4bcb" /><Relationship Type="http://schemas.openxmlformats.org/officeDocument/2006/relationships/notesSlide" Target="/ppt/notesSlides/notesSlide6.xml" Id="R0fae551d36f54a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dd0fba9e204b44" /><Relationship Type="http://schemas.openxmlformats.org/officeDocument/2006/relationships/notesSlide" Target="/ppt/notesSlides/notesSlide7.xml" Id="R4515c0b6d2454e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ce47bae3a4ce0" /><Relationship Type="http://schemas.openxmlformats.org/officeDocument/2006/relationships/notesSlide" Target="/ppt/notesSlides/notesSlide8.xml" Id="R6f4f0423698540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9946f139e4e6c" /><Relationship Type="http://schemas.openxmlformats.org/officeDocument/2006/relationships/image" Target="/ppt/media/image.jpeg" Id="R7b63389339ff4fc5" /><Relationship Type="http://schemas.openxmlformats.org/officeDocument/2006/relationships/image" Target="/ppt/media/image2.png" Id="R48f5ae886b1745cc" /><Relationship Type="http://schemas.openxmlformats.org/officeDocument/2006/relationships/image" Target="/ppt/media/image3.png" Id="R6f447566ef514913" /><Relationship Type="http://schemas.openxmlformats.org/officeDocument/2006/relationships/image" Target="/ppt/media/image4.png" Id="Re62ef44e04144ecc" /><Relationship Type="http://schemas.openxmlformats.org/officeDocument/2006/relationships/notesSlide" Target="/ppt/notesSlides/notesSlide9.xml" Id="R8c65758dfe394e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ec01e4f24434e" /><Relationship Type="http://schemas.openxmlformats.org/officeDocument/2006/relationships/image" Target="/ppt/media/image2.jpeg" Id="R799aed313ade4c8b" /><Relationship Type="http://schemas.openxmlformats.org/officeDocument/2006/relationships/image" Target="/ppt/media/image3.jpeg" Id="R44e7dc83ecbc497b" /><Relationship Type="http://schemas.openxmlformats.org/officeDocument/2006/relationships/notesSlide" Target="/ppt/notesSlides/notesSlide10.xml" Id="R13dcbb5e5d0048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58c6479604dc6" /><Relationship Type="http://schemas.openxmlformats.org/officeDocument/2006/relationships/notesSlide" Target="/ppt/notesSlides/notesSlide11.xml" Id="Rff0f4cd59ed34c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be08b5ece84ba0" /><Relationship Type="http://schemas.openxmlformats.org/officeDocument/2006/relationships/notesSlide" Target="/ppt/notesSlides/notesSlide12.xml" Id="R53b21a372e7c40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56530cdc964245" /><Relationship Type="http://schemas.openxmlformats.org/officeDocument/2006/relationships/notesSlide" Target="/ppt/notesSlides/notesSlide13.xml" Id="R7370af9896e843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cd93b77e6488a" /><Relationship Type="http://schemas.openxmlformats.org/officeDocument/2006/relationships/notesSlide" Target="/ppt/notesSlides/notesSlide14.xml" Id="R9ba68aac9b2e49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673e81dcf43bf" /><Relationship Type="http://schemas.openxmlformats.org/officeDocument/2006/relationships/notesSlide" Target="/ppt/notesSlides/notesSlide15.xml" Id="Rb150fe5ccb1f43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7b9d4cdfe948b4" /><Relationship Type="http://schemas.openxmlformats.org/officeDocument/2006/relationships/notesSlide" Target="/ppt/notesSlides/notesSlide16.xml" Id="Rd03b1fb8be354c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931e8b63d64ba5" /><Relationship Type="http://schemas.openxmlformats.org/officeDocument/2006/relationships/notesSlide" Target="/ppt/notesSlides/notesSlide17.xml" Id="Rff4f9edf66f245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74379c63214c04" /><Relationship Type="http://schemas.openxmlformats.org/officeDocument/2006/relationships/notesSlide" Target="/ppt/notesSlides/notesSlide18.xml" Id="Rf6d3ecf8afce49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418ACC5-A7B6-49F8-8E91-C2C1E85A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A3D30-5629-4ADD-ABD4-7FA978E014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fee834469477c"/>
          <a:stretch xmlns:a="http://schemas.openxmlformats.org/drawingml/2006/main"/>
        </p:blipFill>
        <p:spPr>
          <a:xfrm xmlns:a="http://schemas.openxmlformats.org/drawingml/2006/main">
            <a:off x="571500" y="343695"/>
            <a:ext cx="2571750" cy="350836"/>
          </a:xfrm>
          <a:prstGeom xmlns:a="http://schemas.openxmlformats.org/drawingml/2006/main" prst="rect">
            <a:avLst/>
          </a:prstGeom>
        </p:spPr>
      </p:pic>
      <p:sp>
        <p:nvSpPr>
          <p:cNvPr id="4" name="Project title">
            <a:extLst xmlns:a="http://schemas.openxmlformats.org/drawingml/2006/main">
              <a:ext uri="{FF2B5EF4-FFF2-40B4-BE49-F238E27FC236}">
                <a16:creationId xmlns:a16="http://schemas.microsoft.com/office/drawing/2014/main" id="{AFA86CDF-FC26-4CE0-92A1-63D3B659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89154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E-Commerce Product &amp; Order</a:t>
            </a:r>
          </a:p>
          <a:p xmlns:a="http://schemas.openxmlformats.org/drawingml/2006/main">
            <a:pPr algn="ctr">
              <a:def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Management System</a:t>
            </a:r>
          </a:p>
        </p:txBody>
      </p:sp>
      <p:sp>
        <p:nvSpPr>
          <p:cNvPr id="5" name="Project name">
            <a:extLst xmlns:a="http://schemas.openxmlformats.org/drawingml/2006/main">
              <a:ext uri="{FF2B5EF4-FFF2-40B4-BE49-F238E27FC236}">
                <a16:creationId xmlns:a16="http://schemas.microsoft.com/office/drawing/2014/main" id="{86BCDC7C-4544-499A-85A0-A932604D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ApexMart</a:t>
            </a:r>
          </a:p>
        </p:txBody>
      </p:sp>
      <p:sp>
        <p:nvSpPr>
          <p:cNvPr id="6" name="Course">
            <a:extLst xmlns:a="http://schemas.openxmlformats.org/drawingml/2006/main">
              <a:ext uri="{FF2B5EF4-FFF2-40B4-BE49-F238E27FC236}">
                <a16:creationId xmlns:a16="http://schemas.microsoft.com/office/drawing/2014/main" id="{9CE6474C-21FE-4E16-8195-20A22D59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891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API &amp; Microservices Project</a:t>
            </a:r>
          </a:p>
        </p:txBody>
      </p:sp>
      <p:sp>
        <p:nvSpPr>
          <p:cNvPr id="7" name="Team number">
            <a:extLst xmlns:a="http://schemas.openxmlformats.org/drawingml/2006/main">
              <a:ext uri="{FF2B5EF4-FFF2-40B4-BE49-F238E27FC236}">
                <a16:creationId xmlns:a16="http://schemas.microsoft.com/office/drawing/2014/main" id="{F88C581C-ED9E-41AD-8BE6-29F6C6AF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71925"/>
            <a:ext cx="891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1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25BF7-4C41-4488-B186-6DE10056F848}"/>
              </a:ext>
            </a:extLst>
          </p:cNvPr>
          <p:cNvGraphicFramePr/>
          <p:nvPr/>
        </p:nvGraphicFramePr>
        <p:xfrm>
          <a:off xmlns:a="http://schemas.openxmlformats.org/drawingml/2006/main" x="1524000" y="4533900"/>
          <a:ext xmlns:a="http://schemas.openxmlformats.org/drawingml/2006/main" cx="70104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533900"/>
              </a:tblGrid>
              <a:tr h="447675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Roll Number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Name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</a:tr>
              <a:tr h="447675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24B11AI108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 Ram Prasad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24B11AI452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 Sri Sai Kishore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24B11AI454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 Siva Kumar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24B11AI340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 Karthikeya Kumar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534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7BD8858-EF57-43AF-BC4E-77436A3C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B4EDB43-2E42-4387-99BC-FE0E22EE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69073A37-2314-4B5C-AB5A-DA99253A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8801100" cy="519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ApexMart is an ecommerce application for browsing products and managing orders.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Customers place orders, view purchase history and request invoices.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Sellers upload product photos and manage their own listings and stock.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Administrators use a separate portal to monitor customers and orders.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project demonstrates Java Spring Boot APIs and microservice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785156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C02BEAA-AD1B-4EA6-8437-4F55EFB5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37EC410-BDB8-4561-ADD5-304D967F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Abstract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C502089E-F6EA-4537-8080-22CD22BE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8801100" cy="519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application combines an Angular storefront with independent Spring Boot services.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REST APIs support account access, product management and customer orders.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SOAP service generates an invoice when a customer requests a bill.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CockroachDB stores account, inventory, order and invoice records.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Transactions, validation and recovery logic support reliable checkout.</a:t>
            </a:r>
          </a:p>
        </p:txBody>
      </p:sp>
    </p:spTree>
    <p:extLst>
      <p:ext uri="{BB962C8B-B14F-4D97-AF65-F5344CB8AC3E}">
        <p14:creationId xmlns:p14="http://schemas.microsoft.com/office/powerpoint/2010/main" val="7770834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501FD1B-5E48-4B6E-848E-8A136EE8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50F5C61-C1E2-49F6-A11B-FECE9C98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A82846C9-2C9D-43CA-8AD2-666DC70E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8801100" cy="519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 listings, stock quantities and customer orders need consistent records.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Repeated checkout requests can create duplicate orders without protection.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Stock must remain accurate when several customers order the same product.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Customers need purchase history and bills that retain the original prices.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Sellers and administrators need clear access rules for managing listings.</a:t>
            </a:r>
          </a:p>
        </p:txBody>
      </p:sp>
    </p:spTree>
    <p:extLst>
      <p:ext uri="{BB962C8B-B14F-4D97-AF65-F5344CB8AC3E}">
        <p14:creationId xmlns:p14="http://schemas.microsoft.com/office/powerpoint/2010/main" val="20674466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D36D91B-BBB7-4797-A58A-4194C994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6E7E137-1D8B-4AAD-9E23-9187FAA0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vs Proposed System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D083F-1300-4D81-BDE6-A43FBE8213D5}"/>
              </a:ext>
            </a:extLst>
          </p:cNvPr>
          <p:cNvGraphicFramePr/>
          <p:nvPr/>
        </p:nvGraphicFramePr>
        <p:xfrm>
          <a:off xmlns:a="http://schemas.openxmlformats.org/drawingml/2006/main" x="571500" y="1638300"/>
          <a:ext xmlns:a="http://schemas.openxmlformats.org/drawingml/2006/main" cx="89154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238500"/>
                <a:gridCol w="3867150"/>
              </a:tblGrid>
              <a:tr h="7112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Area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Manual approach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Proposed system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</a:tr>
              <a:tr h="7112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Product records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 files or static lists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Searchable catalog with product APIs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Order tracking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Notes and manual updates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Stored orders with clear statuses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Inventory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Manual quantity checks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Stock checks and reservations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Bills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Manually prepared records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SOAP invoice generation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Access control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or informal permissions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Roles and product ownership checks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583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4B7CBA8-BAC1-4576-97BB-2DB18879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7B48891-8A7C-4668-B21E-9626C996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Objectives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DD8B23DE-3213-4ED9-86B1-7BC8DCEF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8801100" cy="519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 product and order entities with persistent database records.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Build REST APIs for product and order operations.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 catalog search, pagination and sorting.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Manage inventory and order placement with transactions and recovery.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order invoices through a SOAP web service.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 AOP logging, input validation and consistent exception handling.</a:t>
            </a:r>
          </a:p>
        </p:txBody>
      </p:sp>
    </p:spTree>
    <p:extLst>
      <p:ext uri="{BB962C8B-B14F-4D97-AF65-F5344CB8AC3E}">
        <p14:creationId xmlns:p14="http://schemas.microsoft.com/office/powerpoint/2010/main" val="7777745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2DB92B5-54DF-449F-AD60-D7E1A63B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8F66B08-5425-4C1E-BC7E-45A4C046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Technologies Used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93C45-8114-452A-A8BB-ABD9CA89CC2F}"/>
              </a:ext>
            </a:extLst>
          </p:cNvPr>
          <p:cNvGraphicFramePr/>
          <p:nvPr/>
        </p:nvGraphicFramePr>
        <p:xfrm>
          <a:off xmlns:a="http://schemas.openxmlformats.org/drawingml/2006/main" x="571500" y="1638300"/>
          <a:ext xmlns:a="http://schemas.openxmlformats.org/drawingml/2006/main" cx="89154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6153150"/>
              </a:tblGrid>
              <a:tr h="5715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Technology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</a:tr>
              <a:tr h="5715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Frontend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Angular, TypeScript, HTML and CSS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Backend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Java and Spring Boot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Service communication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REST with JSON and SOAP with XML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Database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CockroachDB Cloud, SQL database named ecomm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access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Spring Data JPA, Hibernate and PostgreSQL JDBC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Security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Spring Security, JWT and BCrypt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Supporting tools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Flyway, Maven, Postman and Git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895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D169E-E098-4E38-8570-F78E92B74873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267700" y="4791075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A068E-A964-4A53-9327-1E81FE5235BD}"/>
              </a:ext>
            </a:extLst>
          </p:cNvPr>
          <p:cNvCxnSpPr>
            <a:stCxn xmlns:a="http://schemas.openxmlformats.org/drawingml/2006/main" id="1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6248400" y="4367213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826B0-0870-4ECA-BE73-95B28AA90348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029200" y="3305175"/>
            <a:ext cx="3238500" cy="638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BA608-79C3-4183-A42A-64968E8B1A89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029200" y="3305175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62A53-0BB9-465D-8D5F-30B6C6415FA3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1790700" y="3305175"/>
            <a:ext cx="3238500" cy="638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6D1BD-CFB8-467D-8DF5-E541B54133FA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029200" y="2105025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arrow" w="sm" len="sm"/>
          </a:ln>
        </p:spPr>
      </p:cxn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161FCB7-33F3-4887-980A-A73EC5B1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955B050-E005-4106-B6CE-E04E4697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</a:p>
        </p:txBody>
      </p:sp>
      <p:sp>
        <p:nvSpPr>
          <p:cNvPr id="10" name="Angular Frontend Port 4200">
            <a:extLst xmlns:a="http://schemas.openxmlformats.org/drawingml/2006/main">
              <a:ext uri="{FF2B5EF4-FFF2-40B4-BE49-F238E27FC236}">
                <a16:creationId xmlns:a16="http://schemas.microsoft.com/office/drawing/2014/main" id="{5CABB65F-0CA9-4DD3-8B5E-092DD3C2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09700"/>
            <a:ext cx="28194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Angular Frontend</a:t>
            </a:r>
          </a:p>
          <a:p xmlns:a="http://schemas.openxmlformats.org/drawingml/2006/main">
            <a: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Port 4200</a:t>
            </a:r>
          </a:p>
        </p:txBody>
      </p:sp>
      <p:sp>
        <p:nvSpPr>
          <p:cNvPr id="11" name="API Gateway Port 8080">
            <a:extLst xmlns:a="http://schemas.openxmlformats.org/drawingml/2006/main">
              <a:ext uri="{FF2B5EF4-FFF2-40B4-BE49-F238E27FC236}">
                <a16:creationId xmlns:a16="http://schemas.microsoft.com/office/drawing/2014/main" id="{1F3703D3-8D9F-49A8-B9DC-E5FD5843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28194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API Gateway</a:t>
            </a:r>
          </a:p>
          <a:p xmlns:a="http://schemas.openxmlformats.org/drawingml/2006/main">
            <a: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Port 8080</a:t>
            </a:r>
          </a:p>
        </p:txBody>
      </p:sp>
      <p:sp>
        <p:nvSpPr>
          <p:cNvPr id="12" name="User Service: 8081 users schema">
            <a:extLst xmlns:a="http://schemas.openxmlformats.org/drawingml/2006/main">
              <a:ext uri="{FF2B5EF4-FFF2-40B4-BE49-F238E27FC236}">
                <a16:creationId xmlns:a16="http://schemas.microsoft.com/office/drawing/2014/main" id="{02DC500E-FF12-4868-B439-7A3B41CE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24384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 Service: 8081</a:t>
            </a:r>
          </a:p>
          <a:p xmlns:a="http://schemas.openxmlformats.org/drawingml/2006/main">
            <a: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users schema</a:t>
            </a:r>
          </a:p>
        </p:txBody>
      </p:sp>
      <p:sp>
        <p:nvSpPr>
          <p:cNvPr id="13" name="Product Service: 8082 products schema">
            <a:extLst xmlns:a="http://schemas.openxmlformats.org/drawingml/2006/main">
              <a:ext uri="{FF2B5EF4-FFF2-40B4-BE49-F238E27FC236}">
                <a16:creationId xmlns:a16="http://schemas.microsoft.com/office/drawing/2014/main" id="{A9461599-0FD6-42D7-854F-07E60537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43350"/>
            <a:ext cx="24384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 Service: 8082</a:t>
            </a:r>
          </a:p>
          <a:p xmlns:a="http://schemas.openxmlformats.org/drawingml/2006/main">
            <a: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products schema</a:t>
            </a:r>
          </a:p>
        </p:txBody>
      </p:sp>
      <p:sp>
        <p:nvSpPr>
          <p:cNvPr id="14" name="Order Service: 8083 orders schema">
            <a:extLst xmlns:a="http://schemas.openxmlformats.org/drawingml/2006/main">
              <a:ext uri="{FF2B5EF4-FFF2-40B4-BE49-F238E27FC236}">
                <a16:creationId xmlns:a16="http://schemas.microsoft.com/office/drawing/2014/main" id="{D93D6E02-622D-4B6C-AE6B-349094AD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43350"/>
            <a:ext cx="24384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 Service: 8083</a:t>
            </a:r>
          </a:p>
          <a:p xmlns:a="http://schemas.openxmlformats.org/drawingml/2006/main">
            <a: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orders schema</a:t>
            </a:r>
          </a:p>
        </p:txBody>
      </p:sp>
      <p:sp>
        <p:nvSpPr>
          <p:cNvPr id="15" name="Invoice Service: 8084 invoices schema">
            <a:extLst xmlns:a="http://schemas.openxmlformats.org/drawingml/2006/main">
              <a:ext uri="{FF2B5EF4-FFF2-40B4-BE49-F238E27FC236}">
                <a16:creationId xmlns:a16="http://schemas.microsoft.com/office/drawing/2014/main" id="{B30E3BD9-EE86-45FA-94E9-EBF5B572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10225"/>
            <a:ext cx="24384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Invoice Service: 8084</a:t>
            </a:r>
          </a:p>
          <a:p xmlns:a="http://schemas.openxmlformats.org/drawingml/2006/main">
            <a:pPr algn="ctr">
              <a:def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invoices schema</a:t>
            </a:r>
          </a:p>
        </p:txBody>
      </p:sp>
      <p:sp>
        <p:nvSpPr>
          <p:cNvPr id="16" name="REST label">
            <a:extLst xmlns:a="http://schemas.openxmlformats.org/drawingml/2006/main">
              <a:ext uri="{FF2B5EF4-FFF2-40B4-BE49-F238E27FC236}">
                <a16:creationId xmlns:a16="http://schemas.microsoft.com/office/drawing/2014/main" id="{8FADAC9D-843C-481D-BB05-19CBCB5F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48125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REST</a:t>
            </a:r>
          </a:p>
        </p:txBody>
      </p:sp>
      <p:sp>
        <p:nvSpPr>
          <p:cNvPr id="17" name="SOAP label">
            <a:extLst xmlns:a="http://schemas.openxmlformats.org/drawingml/2006/main">
              <a:ext uri="{FF2B5EF4-FFF2-40B4-BE49-F238E27FC236}">
                <a16:creationId xmlns:a16="http://schemas.microsoft.com/office/drawing/2014/main" id="{93D3B145-BAE2-47C4-A2D2-340FDBAB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24450"/>
            <a:ext cx="85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SOAP</a:t>
            </a:r>
          </a:p>
        </p:txBody>
      </p:sp>
      <p:sp>
        <p:nvSpPr>
          <p:cNvPr id="18" name="Storage overview">
            <a:extLst xmlns:a="http://schemas.openxmlformats.org/drawingml/2006/main">
              <a:ext uri="{FF2B5EF4-FFF2-40B4-BE49-F238E27FC236}">
                <a16:creationId xmlns:a16="http://schemas.microsoft.com/office/drawing/2014/main" id="{00830C77-378A-4C0F-87A3-4A3B870B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3895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CockroachDB Cloud: ecomm database</a:t>
            </a:r>
          </a:p>
        </p:txBody>
      </p:sp>
      <p:sp>
        <p:nvSpPr>
          <p:cNvPr id="19" name="Schema ownership">
            <a:extLst xmlns:a="http://schemas.openxmlformats.org/drawingml/2006/main">
              <a:ext uri="{FF2B5EF4-FFF2-40B4-BE49-F238E27FC236}">
                <a16:creationId xmlns:a16="http://schemas.microsoft.com/office/drawing/2014/main" id="{1EA01B79-A4F6-4941-8CD4-50E535E0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72325"/>
            <a:ext cx="891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Each business service manages its own schema</a:t>
            </a:r>
          </a:p>
        </p:txBody>
      </p:sp>
    </p:spTree>
    <p:extLst>
      <p:ext uri="{BB962C8B-B14F-4D97-AF65-F5344CB8AC3E}">
        <p14:creationId xmlns:p14="http://schemas.microsoft.com/office/powerpoint/2010/main" val="21107470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D631A5F-3AD4-4472-B808-3B15902A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D7FDB68-F7CA-4586-817C-E17FE875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Outputs: Customer Features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01580-AC70-4217-837D-13D1055597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3389339ff4fc5"/>
          <a:stretch xmlns:a="http://schemas.openxmlformats.org/drawingml/2006/main"/>
        </p:blipFill>
        <p:spPr>
          <a:xfrm xmlns:a="http://schemas.openxmlformats.org/drawingml/2006/main">
            <a:off x="647901" y="1428750"/>
            <a:ext cx="4095349" cy="2305050"/>
          </a:xfrm>
          <a:prstGeom xmlns:a="http://schemas.openxmlformats.org/drawingml/2006/main" prst="rect">
            <a:avLst/>
          </a:prstGeom>
        </p:spPr>
      </p:pic>
      <p:sp>
        <p:nvSpPr>
          <p:cNvPr id="5" name="Screenshot caption 1">
            <a:extLst xmlns:a="http://schemas.openxmlformats.org/drawingml/2006/main">
              <a:ext uri="{FF2B5EF4-FFF2-40B4-BE49-F238E27FC236}">
                <a16:creationId xmlns:a16="http://schemas.microsoft.com/office/drawing/2014/main" id="{A040DE75-EE7D-494C-B843-FD0054FE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424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 browsing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D7706-F0AE-491B-A8CA-15F7F7FF81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5ae886b1745cc"/>
          <a:stretch xmlns:a="http://schemas.openxmlformats.org/drawingml/2006/main"/>
        </p:blipFill>
        <p:spPr>
          <a:xfrm xmlns:a="http://schemas.openxmlformats.org/drawingml/2006/main">
            <a:off x="5627258" y="1428750"/>
            <a:ext cx="3471134" cy="2305050"/>
          </a:xfrm>
          <a:prstGeom xmlns:a="http://schemas.openxmlformats.org/drawingml/2006/main" prst="rect">
            <a:avLst/>
          </a:prstGeom>
        </p:spPr>
      </p:pic>
      <p:sp>
        <p:nvSpPr>
          <p:cNvPr id="7" name="Screenshot caption 2">
            <a:extLst xmlns:a="http://schemas.openxmlformats.org/drawingml/2006/main">
              <a:ext uri="{FF2B5EF4-FFF2-40B4-BE49-F238E27FC236}">
                <a16:creationId xmlns:a16="http://schemas.microsoft.com/office/drawing/2014/main" id="{D18A79FD-7CF6-402F-A409-39D15E0D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67150"/>
            <a:ext cx="424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 details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226CA-4E76-4D82-81D5-1885E5E7D4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47566ef514913"/>
          <a:stretch xmlns:a="http://schemas.openxmlformats.org/drawingml/2006/main"/>
        </p:blipFill>
        <p:spPr>
          <a:xfrm xmlns:a="http://schemas.openxmlformats.org/drawingml/2006/main">
            <a:off x="960008" y="4352925"/>
            <a:ext cx="3471134" cy="2305050"/>
          </a:xfrm>
          <a:prstGeom xmlns:a="http://schemas.openxmlformats.org/drawingml/2006/main" prst="rect">
            <a:avLst/>
          </a:prstGeom>
        </p:spPr>
      </p:pic>
      <p:sp>
        <p:nvSpPr>
          <p:cNvPr id="9" name="Screenshot caption 3">
            <a:extLst xmlns:a="http://schemas.openxmlformats.org/drawingml/2006/main">
              <a:ext uri="{FF2B5EF4-FFF2-40B4-BE49-F238E27FC236}">
                <a16:creationId xmlns:a16="http://schemas.microsoft.com/office/drawing/2014/main" id="{9BA032A1-2B99-4945-AB0B-0D626098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91325"/>
            <a:ext cx="424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Shopping cart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A7D52-D9AA-43FC-88FC-15F3D7DD2A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ef44e04144ecc"/>
          <a:stretch xmlns:a="http://schemas.openxmlformats.org/drawingml/2006/main"/>
        </p:blipFill>
        <p:spPr>
          <a:xfrm xmlns:a="http://schemas.openxmlformats.org/drawingml/2006/main">
            <a:off x="5627258" y="4352925"/>
            <a:ext cx="3471134" cy="2305050"/>
          </a:xfrm>
          <a:prstGeom xmlns:a="http://schemas.openxmlformats.org/drawingml/2006/main" prst="rect">
            <a:avLst/>
          </a:prstGeom>
        </p:spPr>
      </p:pic>
      <p:sp>
        <p:nvSpPr>
          <p:cNvPr id="11" name="Screenshot caption 4">
            <a:extLst xmlns:a="http://schemas.openxmlformats.org/drawingml/2006/main">
              <a:ext uri="{FF2B5EF4-FFF2-40B4-BE49-F238E27FC236}">
                <a16:creationId xmlns:a16="http://schemas.microsoft.com/office/drawing/2014/main" id="{5408EF1D-9E7C-4E31-9EB5-0FAAAFBC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791325"/>
            <a:ext cx="424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 invoice</a:t>
            </a:r>
          </a:p>
        </p:txBody>
      </p:sp>
    </p:spTree>
    <p:extLst>
      <p:ext uri="{BB962C8B-B14F-4D97-AF65-F5344CB8AC3E}">
        <p14:creationId xmlns:p14="http://schemas.microsoft.com/office/powerpoint/2010/main" val="13865992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A2EDD72-A63B-4856-A9E0-935E6773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B651069-6691-4AE0-9084-966B9477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Outputs: Management Features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AEA0E-3361-4C8F-BFB5-6455109D02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aed313ade4c8b"/>
          <a:stretch xmlns:a="http://schemas.openxmlformats.org/drawingml/2006/main"/>
        </p:blipFill>
        <p:spPr>
          <a:xfrm xmlns:a="http://schemas.openxmlformats.org/drawingml/2006/main">
            <a:off x="571500" y="2495411"/>
            <a:ext cx="4248150" cy="2391054"/>
          </a:xfrm>
          <a:prstGeom xmlns:a="http://schemas.openxmlformats.org/drawingml/2006/main" prst="rect">
            <a:avLst/>
          </a:prstGeom>
        </p:spPr>
      </p:pic>
      <p:sp>
        <p:nvSpPr>
          <p:cNvPr id="5" name="Screenshot caption 1">
            <a:extLst xmlns:a="http://schemas.openxmlformats.org/drawingml/2006/main">
              <a:ext uri="{FF2B5EF4-FFF2-40B4-BE49-F238E27FC236}">
                <a16:creationId xmlns:a16="http://schemas.microsoft.com/office/drawing/2014/main" id="{D273B036-CB78-4F97-9CA9-F747F3A2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424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 inventory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2AD5F-C129-4783-94BD-DAE9B16E86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7dc83ecbc497b"/>
          <a:stretch xmlns:a="http://schemas.openxmlformats.org/drawingml/2006/main"/>
        </p:blipFill>
        <p:spPr>
          <a:xfrm xmlns:a="http://schemas.openxmlformats.org/drawingml/2006/main">
            <a:off x="5238750" y="2495411"/>
            <a:ext cx="4248150" cy="2391054"/>
          </a:xfrm>
          <a:prstGeom xmlns:a="http://schemas.openxmlformats.org/drawingml/2006/main" prst="rect">
            <a:avLst/>
          </a:prstGeom>
        </p:spPr>
      </p:pic>
      <p:sp>
        <p:nvSpPr>
          <p:cNvPr id="7" name="Screenshot caption 2">
            <a:extLst xmlns:a="http://schemas.openxmlformats.org/drawingml/2006/main">
              <a:ext uri="{FF2B5EF4-FFF2-40B4-BE49-F238E27FC236}">
                <a16:creationId xmlns:a16="http://schemas.microsoft.com/office/drawing/2014/main" id="{978C7DBA-3490-47BE-8355-7D92A354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53100"/>
            <a:ext cx="424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Administrator dashboard</a:t>
            </a:r>
          </a:p>
        </p:txBody>
      </p:sp>
    </p:spTree>
    <p:extLst>
      <p:ext uri="{BB962C8B-B14F-4D97-AF65-F5344CB8AC3E}">
        <p14:creationId xmlns:p14="http://schemas.microsoft.com/office/powerpoint/2010/main" val="5621447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33A3FDF-742B-4FCD-9517-DC0DEAFE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0E0FA12-5EDD-4A42-A395-C27C7FCB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Modules and Database Design</a:t>
            </a:r>
          </a:p>
        </p:txBody>
      </p:sp>
      <p:sp>
        <p:nvSpPr>
          <p:cNvPr id="4" name="Database overview">
            <a:extLst xmlns:a="http://schemas.openxmlformats.org/drawingml/2006/main">
              <a:ext uri="{FF2B5EF4-FFF2-40B4-BE49-F238E27FC236}">
                <a16:creationId xmlns:a16="http://schemas.microsoft.com/office/drawing/2014/main" id="{F75A7205-AB6B-48C2-A2B5-4861B378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891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One CockroachDB database: ecomm. Four schemas and ten application tables.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5CF71-DA40-43A0-9E36-CFEE6162CF0E}"/>
              </a:ext>
            </a:extLst>
          </p:cNvPr>
          <p:cNvGraphicFramePr/>
          <p:nvPr/>
        </p:nvGraphicFramePr>
        <p:xfrm>
          <a:off xmlns:a="http://schemas.openxmlformats.org/drawingml/2006/main" x="571500" y="2266950"/>
          <a:ext xmlns:a="http://schemas.openxmlformats.org/drawingml/2006/main" cx="89154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438900"/>
              </a:tblGrid>
              <a:tr h="73152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Module / schema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Application tables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</a:tr>
              <a:tr h="73152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 / users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users, user_roles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Product / products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products, stock_reservations,</a:t>
                      </a:r>
                    </a:p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stock_reservation_items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Order / orders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orders, order_items, order_workflows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Invoice / invoices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invoices, invoice_items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upporting note">
            <a:extLst xmlns:a="http://schemas.openxmlformats.org/drawingml/2006/main">
              <a:ext uri="{FF2B5EF4-FFF2-40B4-BE49-F238E27FC236}">
                <a16:creationId xmlns:a16="http://schemas.microsoft.com/office/drawing/2014/main" id="{505AB7BC-A5BD-4F69-BC92-B2A8A575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891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Each schema also has a Flyway migration-history table. Services exchange data through APIs.</a:t>
            </a:r>
          </a:p>
        </p:txBody>
      </p:sp>
    </p:spTree>
    <p:extLst>
      <p:ext uri="{BB962C8B-B14F-4D97-AF65-F5344CB8AC3E}">
        <p14:creationId xmlns:p14="http://schemas.microsoft.com/office/powerpoint/2010/main" val="14338724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23C58BE-0CD9-4068-A2C2-66CA0FD0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28502D8-C65D-46C9-95E5-8EA95BB9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Implementation: Services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06060-4D0A-432A-9FC8-C686BC8E32F5}"/>
              </a:ext>
            </a:extLst>
          </p:cNvPr>
          <p:cNvGraphicFramePr/>
          <p:nvPr/>
        </p:nvGraphicFramePr>
        <p:xfrm>
          <a:off xmlns:a="http://schemas.openxmlformats.org/drawingml/2006/main" x="571500" y="1638300"/>
          <a:ext xmlns:a="http://schemas.openxmlformats.org/drawingml/2006/main" cx="89154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952500"/>
                <a:gridCol w="5676900"/>
              </a:tblGrid>
              <a:tr h="7112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Application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Port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Responsibility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</a:tr>
              <a:tr h="7112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API Gateway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8080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Routes public API requests and handles CORS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 Service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8081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Registration, login and account roles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Product Service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8082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Product listings, ownership and inventory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Order Service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8083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Checkout, order history, recovery and cancellation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Invoice Service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8084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SOAP invoice creation and retrieval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upporting note">
            <a:extLst xmlns:a="http://schemas.openxmlformats.org/drawingml/2006/main">
              <a:ext uri="{FF2B5EF4-FFF2-40B4-BE49-F238E27FC236}">
                <a16:creationId xmlns:a16="http://schemas.microsoft.com/office/drawing/2014/main" id="{2329BF70-6140-427C-86C5-AD0F4558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891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Angular runs on port 4200. The common module is a shared library, not a separate service.</a:t>
            </a:r>
          </a:p>
        </p:txBody>
      </p:sp>
    </p:spTree>
    <p:extLst>
      <p:ext uri="{BB962C8B-B14F-4D97-AF65-F5344CB8AC3E}">
        <p14:creationId xmlns:p14="http://schemas.microsoft.com/office/powerpoint/2010/main" val="16222067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D51FEAB-E092-43C4-8121-8594A6D5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62AB903-20FE-41E5-8FDF-D216FE5E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Implementation: Order Flow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85601224-962E-4754-AF82-1B2DB72A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8801100" cy="519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customer submits products, quantities and delivery details.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 Service creates a PENDING order and a recovery workflow.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 Service validates availability and reserves the requested stock.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 Service saves the product names, prices and total from the reservation.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 Service confirms inventory and the order becomes CONFIRMED.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customer can request an invoice through the SOAP service.</a:t>
            </a:r>
          </a:p>
        </p:txBody>
      </p:sp>
      <p:sp>
        <p:nvSpPr>
          <p:cNvPr id="5" name="Supporting note">
            <a:extLst xmlns:a="http://schemas.openxmlformats.org/drawingml/2006/main">
              <a:ext uri="{FF2B5EF4-FFF2-40B4-BE49-F238E27FC236}">
                <a16:creationId xmlns:a16="http://schemas.microsoft.com/office/drawing/2014/main" id="{B9B0451F-2FD5-435B-AD08-1BE52053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96100"/>
            <a:ext cx="891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idempotency key prevents duplicate orders. COD and online payment choices are simulated.</a:t>
            </a:r>
          </a:p>
        </p:txBody>
      </p:sp>
    </p:spTree>
    <p:extLst>
      <p:ext uri="{BB962C8B-B14F-4D97-AF65-F5344CB8AC3E}">
        <p14:creationId xmlns:p14="http://schemas.microsoft.com/office/powerpoint/2010/main" val="15610574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4F2491B-4F93-442D-BBEA-6D004D51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F9BC370-6796-49E4-9832-6068D20A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Implementation: REST APIs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A548E-2E11-4CEC-8054-C30AF0248F5A}"/>
              </a:ext>
            </a:extLst>
          </p:cNvPr>
          <p:cNvGraphicFramePr/>
          <p:nvPr/>
        </p:nvGraphicFramePr>
        <p:xfrm>
          <a:off xmlns:a="http://schemas.openxmlformats.org/drawingml/2006/main" x="571500" y="1457325"/>
          <a:ext xmlns:a="http://schemas.openxmlformats.org/drawingml/2006/main" cx="8915400" cy="5276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4286250"/>
                <a:gridCol w="3676650"/>
              </a:tblGrid>
              <a:tr h="586317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Endpoint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T w="6668">
                      <a:solidFill>
                        <a:srgbClr val="808080"/>
                      </a:solidFill>
                      <a:prstDash val="solid"/>
                    </a:lnT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</a:tr>
              <a:tr h="586317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/api/auth/register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Customer registration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6317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/api/auth/login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Customer and seller sign-in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6317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/api/auth/admin/login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Dedicated admin sign-in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6317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/api/products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Catalog search, pagination and sorting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6317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/api/seller/products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Create a product listing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6317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/api/orders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Place or retry an order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6317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/api/orders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View the buyer's order history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6317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808080"/>
                      </a:solidFill>
                      <a:prstDash val="solid"/>
                    </a:lnL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/api/orders/{id}/invoice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Request an invoice through SOAP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808080"/>
                      </a:solidFill>
                      <a:prstDash val="solid"/>
                    </a:lnR>
                    <a:lnB w="6668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4826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15EA1DD-F304-47CD-B064-5176B6D2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07E8778-1101-4CAF-9658-81072598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Security, Validation and Logging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9BEFDDFA-3E06-41A8-B502-BF130019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8801100" cy="519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JWT authentication controls access to protected backend operations.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BCrypt hashes protect stored account passwords.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Administrators have a separate portal and do not use customer checkout.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Sellers and administrators can edit only the products they own.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Validation checks email, delivery details, quantities and stock. Errors use consistent responses.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AOP logging records service operations, outcomes, execution time and trace IDs.</a:t>
            </a:r>
          </a:p>
        </p:txBody>
      </p:sp>
    </p:spTree>
    <p:extLst>
      <p:ext uri="{BB962C8B-B14F-4D97-AF65-F5344CB8AC3E}">
        <p14:creationId xmlns:p14="http://schemas.microsoft.com/office/powerpoint/2010/main" val="4894815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426CF39-990B-41DF-B9EB-F5DABDE1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C1EB0F4-CF5B-4509-8FA7-9C34FB68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9E72BBCA-9CD9-488C-A97C-27647458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8801100" cy="519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Connect a payment provider for actual online payments.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 shipment tracking and customer notifications.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Store uploaded product images in cloud object storage.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 reviews, ratings and a customer wishlist.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a separate SQL login with restricted grants for each service schema.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Expand performance testing for larger catalogs and concurrent orders.</a:t>
            </a:r>
          </a:p>
        </p:txBody>
      </p:sp>
    </p:spTree>
    <p:extLst>
      <p:ext uri="{BB962C8B-B14F-4D97-AF65-F5344CB8AC3E}">
        <p14:creationId xmlns:p14="http://schemas.microsoft.com/office/powerpoint/2010/main" val="420579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C541486-7226-40BF-A247-554E0C91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3B39215-0541-493A-AA6E-B2DC3B6E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91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BADBA6DB-856C-4D60-BB24-7C75B4D1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8801100" cy="519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ApexMart supports product browsing, seller listings and customer order management.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Four business services and an API Gateway separate backend responsibilities.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REST APIs, SOAP invoicing and AOP logging demonstrate the course concepts.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CockroachDB schemas organize accounts, inventory, orders and invoices.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sample catalog contains 75 products across five categories.</a:t>
            </a:r>
          </a:p>
          <a:p xmlns:a="http://schemas.openxmlformats.org/drawingml/2006/main">
            <a:pPr marL="254000" indent="-127000" algn="l">
              <a:spcAft>
                <a:spcPts val="1900"/>
              </a:spcAft>
              <a:buChar char="•"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Transactions, validation and recovery protect the order workflow.</a:t>
            </a:r>
          </a:p>
        </p:txBody>
      </p:sp>
    </p:spTree>
    <p:extLst>
      <p:ext uri="{BB962C8B-B14F-4D97-AF65-F5344CB8AC3E}">
        <p14:creationId xmlns:p14="http://schemas.microsoft.com/office/powerpoint/2010/main" val="2066555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C3CFE52-8C68-472D-BD13-17D91211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448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3" name="Thank you">
            <a:extLst xmlns:a="http://schemas.openxmlformats.org/drawingml/2006/main">
              <a:ext uri="{FF2B5EF4-FFF2-40B4-BE49-F238E27FC236}">
                <a16:creationId xmlns:a16="http://schemas.microsoft.com/office/drawing/2014/main" id="{1FF850A4-40D3-43BF-8330-8F37FD87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891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  <p:sp>
        <p:nvSpPr>
          <p:cNvPr id="4" name="Team number">
            <a:extLst xmlns:a="http://schemas.openxmlformats.org/drawingml/2006/main">
              <a:ext uri="{FF2B5EF4-FFF2-40B4-BE49-F238E27FC236}">
                <a16:creationId xmlns:a16="http://schemas.microsoft.com/office/drawing/2014/main" id="{BE8CF9BB-3DA8-41C3-BF66-92B338F8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1</a:t>
            </a:r>
          </a:p>
        </p:txBody>
      </p:sp>
      <p:sp>
        <p:nvSpPr>
          <p:cNvPr id="5" name="Project name">
            <a:extLst xmlns:a="http://schemas.openxmlformats.org/drawingml/2006/main">
              <a:ext uri="{FF2B5EF4-FFF2-40B4-BE49-F238E27FC236}">
                <a16:creationId xmlns:a16="http://schemas.microsoft.com/office/drawing/2014/main" id="{EC30267E-7D31-44B1-A8D8-2DE34C8D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57725"/>
            <a:ext cx="891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ApexMart</a:t>
            </a:r>
          </a:p>
        </p:txBody>
      </p:sp>
      <p:sp>
        <p:nvSpPr>
          <p:cNvPr id="6" name="Course">
            <a:extLst xmlns:a="http://schemas.openxmlformats.org/drawingml/2006/main">
              <a:ext uri="{FF2B5EF4-FFF2-40B4-BE49-F238E27FC236}">
                <a16:creationId xmlns:a16="http://schemas.microsoft.com/office/drawing/2014/main" id="{5714B195-C674-40E1-9E0E-69526325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891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API &amp; Microservices</a:t>
            </a:r>
          </a:p>
        </p:txBody>
      </p:sp>
    </p:spTree>
    <p:extLst>
      <p:ext uri="{BB962C8B-B14F-4D97-AF65-F5344CB8AC3E}">
        <p14:creationId xmlns:p14="http://schemas.microsoft.com/office/powerpoint/2010/main" val="1194686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2026-10-25T17:31:43.4500000Z</dcterms:created>
  <dcterms:modified xsi:type="dcterms:W3CDTF">2026-10-25T17:31:43.4500000Z</dcterms:modified>
</coreProperties>
</file>