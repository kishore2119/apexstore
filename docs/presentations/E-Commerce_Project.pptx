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c2deb3edc341be" /><Relationship Type="http://schemas.openxmlformats.org/officeDocument/2006/relationships/extended-properties" Target="/docProps/app.xml" Id="Rbd14490938294bd2" /><Relationship Type="http://schemas.openxmlformats.org/officeDocument/2006/relationships/officeDocument" Target="/ppt/presentation.xml" Id="R999de52ea4ec42b8" /></Relationships>
</file>

<file path=ppt/presentation.xml><?xml version="1.0" encoding="utf-8"?>
<p:presentation xmlns:p="http://schemas.openxmlformats.org/presentationml/2006/main">
  <p:sldMasterIdLst>
    <p:sldMasterId xmlns:r="http://schemas.openxmlformats.org/officeDocument/2006/relationships" id="2147483648" r:id="R496c42f2bbbc4fcb"/>
  </p:sldMasterIdLst>
  <p:notesMasterIdLst>
    <p:notesMasterId xmlns:r="http://schemas.openxmlformats.org/officeDocument/2006/relationships" r:id="Rfe8fdb65931f4093"/>
  </p:notesMasterIdLst>
  <p:sldIdLst>
    <p:sldId xmlns:r="http://schemas.openxmlformats.org/officeDocument/2006/relationships" id="256" r:id="R640797b912104391"/>
    <p:sldId xmlns:r="http://schemas.openxmlformats.org/officeDocument/2006/relationships" id="257" r:id="Re0e16011bd0b40c9"/>
    <p:sldId xmlns:r="http://schemas.openxmlformats.org/officeDocument/2006/relationships" id="258" r:id="R450ce94383834d55"/>
    <p:sldId xmlns:r="http://schemas.openxmlformats.org/officeDocument/2006/relationships" id="259" r:id="Rb35b44163f394d89"/>
    <p:sldId xmlns:r="http://schemas.openxmlformats.org/officeDocument/2006/relationships" id="260" r:id="Rabfda2b34ca54de8"/>
    <p:sldId xmlns:r="http://schemas.openxmlformats.org/officeDocument/2006/relationships" id="261" r:id="R414b31ff72b847c9"/>
    <p:sldId xmlns:r="http://schemas.openxmlformats.org/officeDocument/2006/relationships" id="262" r:id="R4a858392f57f4e31"/>
    <p:sldId xmlns:r="http://schemas.openxmlformats.org/officeDocument/2006/relationships" id="263" r:id="R276b6cb1d12847bf"/>
    <p:sldId xmlns:r="http://schemas.openxmlformats.org/officeDocument/2006/relationships" id="264" r:id="R37675c6ffadb4705"/>
    <p:sldId xmlns:r="http://schemas.openxmlformats.org/officeDocument/2006/relationships" id="265" r:id="Rb33d8dba7fc64219"/>
    <p:sldId xmlns:r="http://schemas.openxmlformats.org/officeDocument/2006/relationships" id="266" r:id="R95c14e7e5f2d42b9"/>
    <p:sldId xmlns:r="http://schemas.openxmlformats.org/officeDocument/2006/relationships" id="267" r:id="Re4357ea5f13941c3"/>
    <p:sldId xmlns:r="http://schemas.openxmlformats.org/officeDocument/2006/relationships" id="268" r:id="R95feb0bf015d4e4c"/>
    <p:sldId xmlns:r="http://schemas.openxmlformats.org/officeDocument/2006/relationships" id="269" r:id="R7140590083734edd"/>
    <p:sldId xmlns:r="http://schemas.openxmlformats.org/officeDocument/2006/relationships" id="270" r:id="R3e377e926d0447b7"/>
    <p:sldId xmlns:r="http://schemas.openxmlformats.org/officeDocument/2006/relationships" id="271" r:id="R678752134cee4de4"/>
    <p:sldId xmlns:r="http://schemas.openxmlformats.org/officeDocument/2006/relationships" id="272" r:id="R8e6adb978e564820"/>
    <p:sldId xmlns:r="http://schemas.openxmlformats.org/officeDocument/2006/relationships" id="273" r:id="R7b417a4e6b2240ca"/>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172694dab4d4d95" /><Relationship Type="http://schemas.openxmlformats.org/officeDocument/2006/relationships/slideMaster" Target="/ppt/slideMasters/slideMaster1.xml" Id="R496c42f2bbbc4fcb" /><Relationship Type="http://schemas.openxmlformats.org/officeDocument/2006/relationships/notesMaster" Target="/ppt/notesMasters/notesMaster1.xml" Id="Rfe8fdb65931f4093" /><Relationship Type="http://schemas.openxmlformats.org/officeDocument/2006/relationships/presProps" Target="/ppt/presProps.xml" Id="R356117f980a04921" /><Relationship Type="http://schemas.openxmlformats.org/officeDocument/2006/relationships/viewProps" Target="/ppt/viewProps.xml" Id="Rb9d707232c8e440a" /><Relationship Type="http://schemas.openxmlformats.org/officeDocument/2006/relationships/tableStyles" Target="/ppt/tableStyles.xml" Id="Ra917b6b98fa9442f" /><Relationship Type="http://schemas.openxmlformats.org/officeDocument/2006/relationships/slide" Target="/ppt/slides/slide1.xml" Id="R640797b912104391" /><Relationship Type="http://schemas.openxmlformats.org/officeDocument/2006/relationships/slide" Target="/ppt/slides/slide2.xml" Id="Re0e16011bd0b40c9" /><Relationship Type="http://schemas.openxmlformats.org/officeDocument/2006/relationships/slide" Target="/ppt/slides/slide3.xml" Id="R450ce94383834d55" /><Relationship Type="http://schemas.openxmlformats.org/officeDocument/2006/relationships/slide" Target="/ppt/slides/slide4.xml" Id="Rb35b44163f394d89" /><Relationship Type="http://schemas.openxmlformats.org/officeDocument/2006/relationships/slide" Target="/ppt/slides/slide5.xml" Id="Rabfda2b34ca54de8" /><Relationship Type="http://schemas.openxmlformats.org/officeDocument/2006/relationships/slide" Target="/ppt/slides/slide6.xml" Id="R414b31ff72b847c9" /><Relationship Type="http://schemas.openxmlformats.org/officeDocument/2006/relationships/slide" Target="/ppt/slides/slide7.xml" Id="R4a858392f57f4e31" /><Relationship Type="http://schemas.openxmlformats.org/officeDocument/2006/relationships/slide" Target="/ppt/slides/slide8.xml" Id="R276b6cb1d12847bf" /><Relationship Type="http://schemas.openxmlformats.org/officeDocument/2006/relationships/slide" Target="/ppt/slides/slide9.xml" Id="R37675c6ffadb4705" /><Relationship Type="http://schemas.openxmlformats.org/officeDocument/2006/relationships/slide" Target="/ppt/slides/slide10.xml" Id="Rb33d8dba7fc64219" /><Relationship Type="http://schemas.openxmlformats.org/officeDocument/2006/relationships/slide" Target="/ppt/slides/slide11.xml" Id="R95c14e7e5f2d42b9" /><Relationship Type="http://schemas.openxmlformats.org/officeDocument/2006/relationships/slide" Target="/ppt/slides/slide12.xml" Id="Re4357ea5f13941c3" /><Relationship Type="http://schemas.openxmlformats.org/officeDocument/2006/relationships/slide" Target="/ppt/slides/slide13.xml" Id="R95feb0bf015d4e4c" /><Relationship Type="http://schemas.openxmlformats.org/officeDocument/2006/relationships/slide" Target="/ppt/slides/slide14.xml" Id="R7140590083734edd" /><Relationship Type="http://schemas.openxmlformats.org/officeDocument/2006/relationships/slide" Target="/ppt/slides/slide15.xml" Id="R3e377e926d0447b7" /><Relationship Type="http://schemas.openxmlformats.org/officeDocument/2006/relationships/slide" Target="/ppt/slides/slide16.xml" Id="R678752134cee4de4" /><Relationship Type="http://schemas.openxmlformats.org/officeDocument/2006/relationships/slide" Target="/ppt/slides/slide17.xml" Id="R8e6adb978e564820" /><Relationship Type="http://schemas.openxmlformats.org/officeDocument/2006/relationships/slide" Target="/ppt/slides/slide18.xml" Id="R7b417a4e6b2240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e69027278b48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b8315f36cd425a" /><Relationship Type="http://schemas.openxmlformats.org/officeDocument/2006/relationships/notesMaster" Target="/ppt/notesMasters/notesMaster1.xml" Id="Re722ddc8bd734a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16202d992f4e4a" /><Relationship Type="http://schemas.openxmlformats.org/officeDocument/2006/relationships/notesMaster" Target="/ppt/notesMasters/notesMaster1.xml" Id="R80740541c06d4d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d9306b0f8432a" /><Relationship Type="http://schemas.openxmlformats.org/officeDocument/2006/relationships/notesMaster" Target="/ppt/notesMasters/notesMaster1.xml" Id="R5ee10a4437c144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8392cb58194848" /><Relationship Type="http://schemas.openxmlformats.org/officeDocument/2006/relationships/notesMaster" Target="/ppt/notesMasters/notesMaster1.xml" Id="Rd0421a8f76a64d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c00f5a4b604243" /><Relationship Type="http://schemas.openxmlformats.org/officeDocument/2006/relationships/notesMaster" Target="/ppt/notesMasters/notesMaster1.xml" Id="Rf45aaf81f3cb46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45a044c464462" /><Relationship Type="http://schemas.openxmlformats.org/officeDocument/2006/relationships/notesMaster" Target="/ppt/notesMasters/notesMaster1.xml" Id="R15edf422aaa14f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2ba8248d394699" /><Relationship Type="http://schemas.openxmlformats.org/officeDocument/2006/relationships/notesMaster" Target="/ppt/notesMasters/notesMaster1.xml" Id="R4633f805cc744f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878a6132df4505" /><Relationship Type="http://schemas.openxmlformats.org/officeDocument/2006/relationships/notesMaster" Target="/ppt/notesMasters/notesMaster1.xml" Id="R45c1753bbb3c4b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318e2221d7456b" /><Relationship Type="http://schemas.openxmlformats.org/officeDocument/2006/relationships/notesMaster" Target="/ppt/notesMasters/notesMaster1.xml" Id="R30da1cc809b740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9da872c10a4405" /><Relationship Type="http://schemas.openxmlformats.org/officeDocument/2006/relationships/notesMaster" Target="/ppt/notesMasters/notesMaster1.xml" Id="R582fb7ee625c4a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4b2496447546b1" /><Relationship Type="http://schemas.openxmlformats.org/officeDocument/2006/relationships/notesMaster" Target="/ppt/notesMasters/notesMaster1.xml" Id="R9d3089e5549545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b8603b1ea9444a" /><Relationship Type="http://schemas.openxmlformats.org/officeDocument/2006/relationships/notesMaster" Target="/ppt/notesMasters/notesMaster1.xml" Id="R6847a45227c341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49f5e28afc43f9" /><Relationship Type="http://schemas.openxmlformats.org/officeDocument/2006/relationships/notesMaster" Target="/ppt/notesMasters/notesMaster1.xml" Id="Rb11a7ab73beb49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096a7f699f24723" /><Relationship Type="http://schemas.openxmlformats.org/officeDocument/2006/relationships/notesMaster" Target="/ppt/notesMasters/notesMaster1.xml" Id="R8dfec27e3df743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c2326413b64d3c" /><Relationship Type="http://schemas.openxmlformats.org/officeDocument/2006/relationships/notesMaster" Target="/ppt/notesMasters/notesMaster1.xml" Id="Rc6a880cf384d40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81488720604fec" /><Relationship Type="http://schemas.openxmlformats.org/officeDocument/2006/relationships/notesMaster" Target="/ppt/notesMasters/notesMaster1.xml" Id="R57e3ab8964104c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8844a28a484d13" /><Relationship Type="http://schemas.openxmlformats.org/officeDocument/2006/relationships/notesMaster" Target="/ppt/notesMasters/notesMaster1.xml" Id="R5f8f570b2c9d47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761a18cfc44159" /><Relationship Type="http://schemas.openxmlformats.org/officeDocument/2006/relationships/notesMaster" Target="/ppt/notesMasters/notesMaster1.xml" Id="Ra2374f871c6242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3: E-Commerce Product &amp; Order Management System, also called ApexMart. The team names, roll numbers and batch number follow the supplied 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presentation modules group related features. The runtime consists of four business microservices and one API Gateway. Slide 18 closes the presentation.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and docs/api.md. If asked why this exists alongside Amazon or Flipkart: the objective is to implement and explain the engineering of a smaller marketplace. It is an academic implementation, with possible adaptation for local sellers or a campus community.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common/src/main/java/com/ecom/common/OperationLogging.java. These are the engineering problems addressed by this project, not claims that existing commercial marketplaces lack these features.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docs/api.md and docs/requirements.md. Uploaded image files remain on disk and the database stores their paths. Payment selection is for an academic demonstration, without payment collection.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docs/api.md, user-service and common modules. User Service listens on port 8081. Gateway routes authentication requests but business services enforce JWT authentication. Seller enablement issues an updated token.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project captures frontend/__screenshots__/redesign-login.png and admin-login.jpg. Login is email/password rather than phone OTP. /admin is a normal route protected by backend authentication and authorisation.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docs/api.md and product-service. Product Service listens on port 8082. The sample catalogue has 75 products across five categories. Uploaded images are at most 5 MB. Available stock equals stock on hand minus active reservations.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frontend/__screenshots__/redesign-storefront.png, captured during the October 9 frontend checks. Product photo source and licence credits are in frontend/public/photo-credits.html and scripts/data/photo-sources.json. The catalogue contains representative product photos.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and docs/api.md. Order Service listens on port 8083. Each service uses its own local database transactions. There is no global transaction across services. Cancellation restores stock once and is unavailable after invoice generation begins. Address line 2 is optional.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docs/verification.json, verifiedAt 2026-10-05T13:30:15.8918644Z. Confirmed order ID: 905ee491-cd92-4973-b4e6-866266a407b1. The table presents the saved real API result, not a new live request. No payment provider was used.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docs/api.md, order-service/src/main/java/com/ecom/order/InvoiceClient.java and invoice-service. Invoice Service listens on port 8084 at /ws. Its WSDL is /ws/invoices.wsdl. An internal service key protects both. Invoices are generated on request, not automatically during checkout.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docs/verification.json, verifiedAt 2026-10-05T13:30:15.8918644Z. Invoice number: INV-4562a4a7-5ba1-4620-93b4-d8428ba3fe83. Order ID: 905ee491-cd92-4973-b4e6-866266a407b1. The table is an editable summary of the recorded invoice response. It is not a screenshot of the invoice page. Invoice line quantities and unit prices equal a total of INR 999.00.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api-gateway/src/main/resources/application.yml, common/src/main/java/com/ecom/common/OperationLogging.java and CommonConfiguration.java. The AOP pointcut is execution(public * com.ecom..*Service.*(..)). call.proceed() executes the business method. Timing includes database and HTTP waits. Self-invocation within the same object bypasses a separate proxy interception. Service URLs come from configuration.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and the application.yml files for the five backend applications. Database names: users_db, products_db, orders_db, invoices_db. All are logical databases within the same CockroachDB cluster. Different ports identify different server processes. Gateway removes client-supplied X-Service-Key. Services use configured URLs, without automatic service discovery.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enhancements, not features claimed as implemented. Current payment modes only record a selection. Uploads currently use local disk. Current communication uses configured REST and SOAP URLs.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docs/testing.md and docs/verification.json. The academic value is demonstrating the implementation of API and microservice concepts. Production payments, shipping and large-scale deployment remain future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and discussion.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3f72c58c164bb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2c4e2c70e14bd5" /><Relationship Type="http://schemas.openxmlformats.org/officeDocument/2006/relationships/slideLayout" Target="/ppt/slideLayouts/slideLayout1.xml" Id="R8e1b03bda1454bb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1b03bda1454bb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64fb79183e4e74" /><Relationship Type="http://schemas.openxmlformats.org/officeDocument/2006/relationships/image" Target="/ppt/media/image.png" Id="R61da37a5d13843b4" /><Relationship Type="http://schemas.openxmlformats.org/officeDocument/2006/relationships/notesSlide" Target="/ppt/notesSlides/notesSlide1.xml" Id="R9a7a579509d340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55dc741ece4881" /><Relationship Type="http://schemas.openxmlformats.org/officeDocument/2006/relationships/image" Target="/ppt/media/image.jpeg" Id="R159349df715a43c1" /><Relationship Type="http://schemas.openxmlformats.org/officeDocument/2006/relationships/notesSlide" Target="/ppt/notesSlides/notesSlide2.xml" Id="R51e44a67dbfa4b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b92fc32c4e4559" /><Relationship Type="http://schemas.openxmlformats.org/officeDocument/2006/relationships/image" Target="/ppt/media/image.jpeg" Id="Rd01d111e5b3c45c6" /><Relationship Type="http://schemas.openxmlformats.org/officeDocument/2006/relationships/notesSlide" Target="/ppt/notesSlides/notesSlide3.xml" Id="Rf8f910a0e2b749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aaf702b1b64b2a" /><Relationship Type="http://schemas.openxmlformats.org/officeDocument/2006/relationships/image" Target="/ppt/media/image.jpeg" Id="Rbeb9580b6d2c40a1" /><Relationship Type="http://schemas.openxmlformats.org/officeDocument/2006/relationships/notesSlide" Target="/ppt/notesSlides/notesSlide4.xml" Id="R5ee962e43be946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0b777db4ba46b3" /><Relationship Type="http://schemas.openxmlformats.org/officeDocument/2006/relationships/image" Target="/ppt/media/image.jpeg" Id="R8fe9ceacacd346b6" /><Relationship Type="http://schemas.openxmlformats.org/officeDocument/2006/relationships/notesSlide" Target="/ppt/notesSlides/notesSlide5.xml" Id="R05123d97488f4f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11f4ce4a2e4a9c" /><Relationship Type="http://schemas.openxmlformats.org/officeDocument/2006/relationships/image" Target="/ppt/media/image.jpeg" Id="Rc6d1552ad5544bf8" /><Relationship Type="http://schemas.openxmlformats.org/officeDocument/2006/relationships/notesSlide" Target="/ppt/notesSlides/notesSlide6.xml" Id="R23c587568eaa48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c34d9318e349db" /><Relationship Type="http://schemas.openxmlformats.org/officeDocument/2006/relationships/image" Target="/ppt/media/image.jpeg" Id="R16b5963343524a63" /><Relationship Type="http://schemas.openxmlformats.org/officeDocument/2006/relationships/image" Target="/ppt/media/image2.jpeg" Id="Ra3abc9e3386b4798" /><Relationship Type="http://schemas.openxmlformats.org/officeDocument/2006/relationships/image" Target="/ppt/media/image3.jpeg" Id="R5ea242c1f329487d" /><Relationship Type="http://schemas.openxmlformats.org/officeDocument/2006/relationships/notesSlide" Target="/ppt/notesSlides/notesSlide7.xml" Id="R7093db39b4f54f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c0908ec5a54e9b" /><Relationship Type="http://schemas.openxmlformats.org/officeDocument/2006/relationships/image" Target="/ppt/media/image.jpeg" Id="R0628d68be2704da7" /><Relationship Type="http://schemas.openxmlformats.org/officeDocument/2006/relationships/notesSlide" Target="/ppt/notesSlides/notesSlide8.xml" Id="R859f51ede9cf42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3213f975bf4bb5" /><Relationship Type="http://schemas.openxmlformats.org/officeDocument/2006/relationships/image" Target="/ppt/media/image.jpeg" Id="Rc11a4432473b450e" /><Relationship Type="http://schemas.openxmlformats.org/officeDocument/2006/relationships/image" Target="/ppt/media/image4.jpeg" Id="Rb3fd87f643874edf" /><Relationship Type="http://schemas.openxmlformats.org/officeDocument/2006/relationships/notesSlide" Target="/ppt/notesSlides/notesSlide9.xml" Id="R5f652ff438034f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f9b9c1ab374909" /><Relationship Type="http://schemas.openxmlformats.org/officeDocument/2006/relationships/image" Target="/ppt/media/image.jpeg" Id="R2fd4286c26d24623" /><Relationship Type="http://schemas.openxmlformats.org/officeDocument/2006/relationships/notesSlide" Target="/ppt/notesSlides/notesSlide10.xml" Id="R74d95fac7d9a45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181c6ed6a04f4a" /><Relationship Type="http://schemas.openxmlformats.org/officeDocument/2006/relationships/image" Target="/ppt/media/image.jpeg" Id="Re2ecca17c2084b8c" /><Relationship Type="http://schemas.openxmlformats.org/officeDocument/2006/relationships/notesSlide" Target="/ppt/notesSlides/notesSlide11.xml" Id="R30dce399b2594e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b2c1a54010c4603" /><Relationship Type="http://schemas.openxmlformats.org/officeDocument/2006/relationships/image" Target="/ppt/media/image.jpeg" Id="Rf3be924e166d4d99" /><Relationship Type="http://schemas.openxmlformats.org/officeDocument/2006/relationships/notesSlide" Target="/ppt/notesSlides/notesSlide12.xml" Id="R5d553811d0dd42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f9bf0a6d4d4e75" /><Relationship Type="http://schemas.openxmlformats.org/officeDocument/2006/relationships/image" Target="/ppt/media/image.jpeg" Id="R7ab674cc871349b5" /><Relationship Type="http://schemas.openxmlformats.org/officeDocument/2006/relationships/notesSlide" Target="/ppt/notesSlides/notesSlide13.xml" Id="R7130f7e4c05847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ea3aed1b09a42fd" /><Relationship Type="http://schemas.openxmlformats.org/officeDocument/2006/relationships/image" Target="/ppt/media/image.jpeg" Id="R59092e209f724461" /><Relationship Type="http://schemas.openxmlformats.org/officeDocument/2006/relationships/notesSlide" Target="/ppt/notesSlides/notesSlide14.xml" Id="R3a61f896a65544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46afc4accf49b7" /><Relationship Type="http://schemas.openxmlformats.org/officeDocument/2006/relationships/image" Target="/ppt/media/image.jpeg" Id="R88d79a8738fe4a87" /><Relationship Type="http://schemas.openxmlformats.org/officeDocument/2006/relationships/notesSlide" Target="/ppt/notesSlides/notesSlide15.xml" Id="R8c2084f8404f41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143ac728c70439a" /><Relationship Type="http://schemas.openxmlformats.org/officeDocument/2006/relationships/image" Target="/ppt/media/image.jpeg" Id="Rcdcedeeb01504668" /><Relationship Type="http://schemas.openxmlformats.org/officeDocument/2006/relationships/notesSlide" Target="/ppt/notesSlides/notesSlide16.xml" Id="R8ae36ce14e3741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8033f568164a18" /><Relationship Type="http://schemas.openxmlformats.org/officeDocument/2006/relationships/image" Target="/ppt/media/image.jpeg" Id="R91dfcb0593b44f93" /><Relationship Type="http://schemas.openxmlformats.org/officeDocument/2006/relationships/notesSlide" Target="/ppt/notesSlides/notesSlide17.xml" Id="Rdb25c2d7286646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400b86ce3474609" /><Relationship Type="http://schemas.openxmlformats.org/officeDocument/2006/relationships/image" Target="/ppt/media/image.png" Id="R5a9280601bd8432d" /><Relationship Type="http://schemas.openxmlformats.org/officeDocument/2006/relationships/notesSlide" Target="/ppt/notesSlides/notesSlide18.xml" Id="R6f063d9f624749e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D3AC951-AD17-4A64-BE76-F9CDC223620D}"/>
              </a:ext>
            </a:extLst>
          </p:cNvPr>
          <p:cNvPicPr>
            <a:picLocks xmlns:a="http://schemas.openxmlformats.org/drawingml/2006/main" noChangeAspect="1"/>
          </p:cNvPicPr>
          <p:nvPr/>
        </p:nvPicPr>
        <p:blipFill>
          <a:blip xmlns:r="http://schemas.openxmlformats.org/officeDocument/2006/relationships" xmlns:a="http://schemas.openxmlformats.org/drawingml/2006/main" r:embed="R61da37a5d13843b4"/>
          <a:stretch xmlns:a="http://schemas.openxmlformats.org/drawingml/2006/main">
            <a:fillRect l="0" t="0" r="0" b="0"/>
          </a:stretch>
        </p:blipFill>
        <p:spPr>
          <a:xfrm xmlns:a="http://schemas.openxmlformats.org/drawingml/2006/main">
            <a:off x="2286000" y="228600"/>
            <a:ext cx="4572000" cy="621792"/>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26CC6D6-73EC-4A85-8A10-9D3F4794BC75}"/>
              </a:ext>
            </a:extLst>
          </p:cNvPr>
          <p:cNvSpPr>
            <a:spLocks xmlns:a="http://schemas.openxmlformats.org/drawingml/2006/main" noGrp="1"/>
          </p:cNvSpPr>
          <p:nvPr/>
        </p:nvSpPr>
        <p:spPr>
          <a:xfrm xmlns:a="http://schemas.openxmlformats.org/drawingml/2006/main">
            <a:off x="504613" y="1783417"/>
            <a:ext cx="8229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002060"/>
                </a:solidFill>
                <a:latin typeface="Times New Roman"/>
                <a:ea typeface="Times New Roman"/>
                <a:cs typeface="Times New Roman"/>
              </a:rPr>
              <a:t>API &amp; Microservices</a:t>
            </a:r>
            <a:endParaRPr sz="2200"/>
          </a:p>
        </p:txBody>
      </p:sp>
      <p:sp>
        <p:nvSpPr>
          <p:cNvPr id="4" name="Text 1">
            <a:extLst xmlns:a="http://schemas.openxmlformats.org/drawingml/2006/main">
              <a:ext uri="{FF2B5EF4-FFF2-40B4-BE49-F238E27FC236}">
                <a16:creationId xmlns:a16="http://schemas.microsoft.com/office/drawing/2014/main" id="{018D53B6-8A00-426A-A8C8-3B159659F467}"/>
              </a:ext>
            </a:extLst>
          </p:cNvPr>
          <p:cNvSpPr>
            <a:spLocks xmlns:a="http://schemas.openxmlformats.org/drawingml/2006/main" noGrp="1"/>
          </p:cNvSpPr>
          <p:nvPr/>
        </p:nvSpPr>
        <p:spPr>
          <a:xfrm xmlns:a="http://schemas.openxmlformats.org/drawingml/2006/main">
            <a:off x="396240" y="2254588"/>
            <a:ext cx="8229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C55A11"/>
                </a:solidFill>
                <a:latin typeface="Times New Roman"/>
                <a:ea typeface="Times New Roman"/>
                <a:cs typeface="Times New Roman"/>
              </a:rPr>
              <a:t>Title of the Project:</a:t>
            </a:r>
            <a:endParaRPr sz="2400"/>
          </a:p>
          <a:p xmlns:a="http://schemas.openxmlformats.org/drawingml/2006/main">
            <a:pPr marL="0" indent="0" algn="ctr">
              <a:buNone/>
            </a:pPr>
            <a:r>
              <a:rPr sz="2400" b="1">
                <a:solidFill>
                  <a:srgbClr val="002060"/>
                </a:solidFill>
                <a:latin typeface="Times New Roman"/>
                <a:ea typeface="Times New Roman"/>
                <a:cs typeface="Times New Roman"/>
              </a:rPr>
              <a:t>E-Commerce Product &amp; Order Management System</a:t>
            </a:r>
            <a:endParaRPr sz="2400"/>
          </a:p>
        </p:txBody>
      </p:sp>
      <p:sp>
        <p:nvSpPr>
          <p:cNvPr id="5" name="Text 2">
            <a:extLst xmlns:a="http://schemas.openxmlformats.org/drawingml/2006/main">
              <a:ext uri="{FF2B5EF4-FFF2-40B4-BE49-F238E27FC236}">
                <a16:creationId xmlns:a16="http://schemas.microsoft.com/office/drawing/2014/main" id="{899FEF73-F705-4E7C-8957-9FBE2D94D0FE}"/>
              </a:ext>
            </a:extLst>
          </p:cNvPr>
          <p:cNvSpPr>
            <a:spLocks xmlns:a="http://schemas.openxmlformats.org/drawingml/2006/main" noGrp="1"/>
          </p:cNvSpPr>
          <p:nvPr/>
        </p:nvSpPr>
        <p:spPr>
          <a:xfrm xmlns:a="http://schemas.openxmlformats.org/drawingml/2006/main">
            <a:off x="457200" y="3189816"/>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C55A11"/>
                </a:solidFill>
                <a:latin typeface="Times New Roman"/>
                <a:ea typeface="Times New Roman"/>
                <a:cs typeface="Times New Roman"/>
              </a:rPr>
              <a:t>BATCH NUMBER: 22</a:t>
            </a:r>
            <a:endParaRPr sz="1600"/>
          </a:p>
        </p:txBody>
      </p:sp>
      <p:sp>
        <p:nvSpPr>
          <p:cNvPr id="6" name="Text 3">
            <a:extLst xmlns:a="http://schemas.openxmlformats.org/drawingml/2006/main">
              <a:ext uri="{FF2B5EF4-FFF2-40B4-BE49-F238E27FC236}">
                <a16:creationId xmlns:a16="http://schemas.microsoft.com/office/drawing/2014/main" id="{9D9083C2-A2B2-4840-A762-7997205A5217}"/>
              </a:ext>
            </a:extLst>
          </p:cNvPr>
          <p:cNvSpPr>
            <a:spLocks xmlns:a="http://schemas.openxmlformats.org/drawingml/2006/main" noGrp="1"/>
          </p:cNvSpPr>
          <p:nvPr/>
        </p:nvSpPr>
        <p:spPr>
          <a:xfrm xmlns:a="http://schemas.openxmlformats.org/drawingml/2006/main" rot="0" flipH="0" flipV="0">
            <a:off x="504613" y="35988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02060"/>
                </a:solidFill>
                <a:latin typeface="Times New Roman"/>
                <a:ea typeface="Times New Roman"/>
                <a:cs typeface="Times New Roman"/>
              </a:rPr>
              <a:t>Presented by</a:t>
            </a:r>
            <a:endParaRPr sz="1300"/>
          </a:p>
        </p:txBody>
      </p:sp>
      <p:sp>
        <p:nvSpPr>
          <p:cNvPr id="7" name="Text 4">
            <a:extLst xmlns:a="http://schemas.openxmlformats.org/drawingml/2006/main">
              <a:ext uri="{FF2B5EF4-FFF2-40B4-BE49-F238E27FC236}">
                <a16:creationId xmlns:a16="http://schemas.microsoft.com/office/drawing/2014/main" id="{B7966CB9-BB18-4421-B47A-1FCC016D5DF2}"/>
              </a:ext>
            </a:extLst>
          </p:cNvPr>
          <p:cNvSpPr>
            <a:spLocks xmlns:a="http://schemas.openxmlformats.org/drawingml/2006/main" noGrp="1"/>
          </p:cNvSpPr>
          <p:nvPr/>
        </p:nvSpPr>
        <p:spPr>
          <a:xfrm xmlns:a="http://schemas.openxmlformats.org/drawingml/2006/main" rot="0" flipH="0" flipV="0">
            <a:off x="2762250" y="3857911"/>
            <a:ext cx="476250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t>B.HEMANTH    24B11AI040</a:t>
            </a:r>
          </a:p>
          <a:p xmlns:a="http://schemas.openxmlformats.org/drawingml/2006/main">
            <a:pPr marL="0" indent="0">
              <a:buNone/>
            </a:pPr>
            <a:r>
              <a:rPr sz="1400"/>
              <a:t>G.KASYAP    24B11AI134</a:t>
            </a:r>
          </a:p>
          <a:p xmlns:a="http://schemas.openxmlformats.org/drawingml/2006/main">
            <a:pPr marL="0" indent="0">
              <a:buNone/>
            </a:pPr>
            <a:r>
              <a:rPr sz="1400"/>
              <a:t>J.SV.S.CHARAN     24B11AI143</a:t>
            </a:r>
          </a:p>
          <a:p xmlns:a="http://schemas.openxmlformats.org/drawingml/2006/main">
            <a:pPr marL="0" indent="0">
              <a:buNone/>
            </a:pPr>
            <a:r>
              <a:rPr sz="1400"/>
              <a:t>D.JAYANTH         24B11AI077</a:t>
            </a:r>
          </a:p>
        </p:txBody>
      </p:sp>
      <p:sp>
        <p:nvSpPr>
          <p:cNvPr id="8" name="Text 5">
            <a:extLst xmlns:a="http://schemas.openxmlformats.org/drawingml/2006/main">
              <a:ext uri="{FF2B5EF4-FFF2-40B4-BE49-F238E27FC236}">
                <a16:creationId xmlns:a16="http://schemas.microsoft.com/office/drawing/2014/main" id="{54384608-DDCB-4135-8C2B-28F907F45C81}"/>
              </a:ext>
            </a:extLst>
          </p:cNvPr>
          <p:cNvSpPr>
            <a:spLocks xmlns:a="http://schemas.openxmlformats.org/drawingml/2006/main" noGrp="1"/>
          </p:cNvSpPr>
          <p:nvPr/>
        </p:nvSpPr>
        <p:spPr>
          <a:xfrm xmlns:a="http://schemas.openxmlformats.org/drawingml/2006/main">
            <a:off x="396240" y="1187831"/>
            <a:ext cx="8229600" cy="3710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02060"/>
                </a:solidFill>
                <a:latin typeface="Times New Roman"/>
                <a:ea typeface="Times New Roman"/>
                <a:cs typeface="Times New Roman"/>
              </a:rPr>
              <a:t>DEPARTMENT OF </a:t>
            </a:r>
          </a:p>
          <a:p xmlns:a="http://schemas.openxmlformats.org/drawingml/2006/main">
            <a:pPr marL="0" indent="0" algn="ctr">
              <a:buNone/>
            </a:pPr>
            <a:r>
              <a:rPr sz="1600" b="1">
                <a:solidFill>
                  <a:srgbClr val="002060"/>
                </a:solidFill>
                <a:latin typeface="Times New Roman"/>
                <a:ea typeface="Times New Roman"/>
                <a:cs typeface="Times New Roman"/>
              </a:rPr>
              <a:t>ARTIFICIAL INTELLIGENCE AND MACHINE LEARNING</a:t>
            </a:r>
            <a:endParaRPr sz="1600"/>
          </a:p>
        </p:txBody>
      </p:sp>
    </p:spTree>
    <p:extLst>
      <p:ext uri="{BB962C8B-B14F-4D97-AF65-F5344CB8AC3E}">
        <p14:creationId xmlns:p14="http://schemas.microsoft.com/office/powerpoint/2010/main" val="16961705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A4E2F38-5BEE-4AB8-96C5-FBE9C1D90A21}"/>
              </a:ext>
            </a:extLst>
          </p:cNvPr>
          <p:cNvPicPr>
            <a:picLocks xmlns:a="http://schemas.openxmlformats.org/drawingml/2006/main" noChangeAspect="1"/>
          </p:cNvPicPr>
          <p:nvPr/>
        </p:nvPicPr>
        <p:blipFill>
          <a:blip xmlns:r="http://schemas.openxmlformats.org/officeDocument/2006/relationships" xmlns:a="http://schemas.openxmlformats.org/drawingml/2006/main" r:embed="R159349df715a43c1"/>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019A4910-169D-40CF-9153-5DD127810E69}"/>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324220B6-8539-4244-964D-BE1E3ECEE0E5}"/>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Table of Contents</a:t>
            </a:r>
            <a:endParaRPr sz="1800"/>
          </a:p>
        </p:txBody>
      </p:sp>
      <p:sp>
        <p:nvSpPr>
          <p:cNvPr id="5" name="Shape 2">
            <a:extLst xmlns:a="http://schemas.openxmlformats.org/drawingml/2006/main">
              <a:ext uri="{FF2B5EF4-FFF2-40B4-BE49-F238E27FC236}">
                <a16:creationId xmlns:a16="http://schemas.microsoft.com/office/drawing/2014/main" id="{28DC3E06-B3F5-47D9-BD63-F9D6D55FC5CE}"/>
              </a:ext>
            </a:extLst>
          </p:cNvPr>
          <p:cNvSpPr>
            <a:spLocks xmlns:a="http://schemas.openxmlformats.org/drawingml/2006/main" noGrp="1"/>
          </p:cNvSpPr>
          <p:nvPr/>
        </p:nvSpPr>
        <p:spPr>
          <a:xfrm xmlns:a="http://schemas.openxmlformats.org/drawingml/2006/main">
            <a:off x="914400" y="978408"/>
            <a:ext cx="384048" cy="384048"/>
          </a:xfrm>
          <a:prstGeom xmlns:a="http://schemas.openxmlformats.org/drawingml/2006/main" prst="ellipse">
            <a:avLst/>
          </a:prstGeom>
          <a:solidFill xmlns:a="http://schemas.openxmlformats.org/drawingml/2006/main">
            <a:srgbClr val="C55A11"/>
          </a:solidFill>
          <a:ln xmlns:a="http://schemas.openxmlformats.org/drawingml/2006/main" w="12700">
            <a:solidFill>
              <a:srgbClr val="C55A11"/>
            </a:solidFill>
            <a:prstDash val="solid"/>
          </a:ln>
        </p:spPr>
      </p:sp>
      <p:sp>
        <p:nvSpPr>
          <p:cNvPr id="6" name="Text 3">
            <a:extLst xmlns:a="http://schemas.openxmlformats.org/drawingml/2006/main">
              <a:ext uri="{FF2B5EF4-FFF2-40B4-BE49-F238E27FC236}">
                <a16:creationId xmlns:a16="http://schemas.microsoft.com/office/drawing/2014/main" id="{96E78076-9857-4881-88C5-BE678E0785A7}"/>
              </a:ext>
            </a:extLst>
          </p:cNvPr>
          <p:cNvSpPr>
            <a:spLocks xmlns:a="http://schemas.openxmlformats.org/drawingml/2006/main" noGrp="1"/>
          </p:cNvSpPr>
          <p:nvPr/>
        </p:nvSpPr>
        <p:spPr>
          <a:xfrm xmlns:a="http://schemas.openxmlformats.org/drawingml/2006/main">
            <a:off x="914400" y="97840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Times New Roman"/>
                <a:ea typeface="Times New Roman"/>
                <a:cs typeface="Times New Roman"/>
              </a:rPr>
              <a:t>1</a:t>
            </a:r>
            <a:endParaRPr sz="1400"/>
          </a:p>
        </p:txBody>
      </p:sp>
      <p:sp>
        <p:nvSpPr>
          <p:cNvPr id="7" name="Shape 4">
            <a:extLst xmlns:a="http://schemas.openxmlformats.org/drawingml/2006/main">
              <a:ext uri="{FF2B5EF4-FFF2-40B4-BE49-F238E27FC236}">
                <a16:creationId xmlns:a16="http://schemas.microsoft.com/office/drawing/2014/main" id="{C448FC6B-16F6-4580-9A11-DB23B994D286}"/>
              </a:ext>
            </a:extLst>
          </p:cNvPr>
          <p:cNvSpPr>
            <a:spLocks xmlns:a="http://schemas.openxmlformats.org/drawingml/2006/main" noGrp="1"/>
          </p:cNvSpPr>
          <p:nvPr/>
        </p:nvSpPr>
        <p:spPr>
          <a:xfrm xmlns:a="http://schemas.openxmlformats.org/drawingml/2006/main">
            <a:off x="1463040" y="960120"/>
            <a:ext cx="6766560" cy="420624"/>
          </a:xfrm>
          <a:prstGeom xmlns:a="http://schemas.openxmlformats.org/drawingml/2006/main" prst="rect">
            <a:avLst/>
          </a:prstGeom>
          <a:solidFill xmlns:a="http://schemas.openxmlformats.org/drawingml/2006/main">
            <a:srgbClr val="FFF6EF"/>
          </a:solidFill>
          <a:ln xmlns:a="http://schemas.openxmlformats.org/drawingml/2006/main" w="9525">
            <a:solidFill>
              <a:srgbClr val="F2D3BE"/>
            </a:solidFill>
            <a:prstDash val="solid"/>
          </a:ln>
        </p:spPr>
      </p:sp>
      <p:sp>
        <p:nvSpPr>
          <p:cNvPr id="8" name="Text 5">
            <a:extLst xmlns:a="http://schemas.openxmlformats.org/drawingml/2006/main">
              <a:ext uri="{FF2B5EF4-FFF2-40B4-BE49-F238E27FC236}">
                <a16:creationId xmlns:a16="http://schemas.microsoft.com/office/drawing/2014/main" id="{EEAD0BA8-B539-4DF4-8DEC-668F35670DDF}"/>
              </a:ext>
            </a:extLst>
          </p:cNvPr>
          <p:cNvSpPr>
            <a:spLocks xmlns:a="http://schemas.openxmlformats.org/drawingml/2006/main" noGrp="1"/>
          </p:cNvSpPr>
          <p:nvPr/>
        </p:nvSpPr>
        <p:spPr>
          <a:xfrm xmlns:a="http://schemas.openxmlformats.org/drawingml/2006/main">
            <a:off x="1600200" y="960120"/>
            <a:ext cx="51206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060"/>
                </a:solidFill>
                <a:latin typeface="Times New Roman"/>
                <a:ea typeface="Times New Roman"/>
                <a:cs typeface="Times New Roman"/>
              </a:rPr>
              <a:t>Introduction</a:t>
            </a:r>
            <a:endParaRPr sz="1500"/>
          </a:p>
        </p:txBody>
      </p:sp>
      <p:sp>
        <p:nvSpPr>
          <p:cNvPr id="9" name="Text 6">
            <a:extLst xmlns:a="http://schemas.openxmlformats.org/drawingml/2006/main">
              <a:ext uri="{FF2B5EF4-FFF2-40B4-BE49-F238E27FC236}">
                <a16:creationId xmlns:a16="http://schemas.microsoft.com/office/drawing/2014/main" id="{1FFEA87A-3E88-4106-A302-020B3FD7EB35}"/>
              </a:ext>
            </a:extLst>
          </p:cNvPr>
          <p:cNvSpPr>
            <a:spLocks xmlns:a="http://schemas.openxmlformats.org/drawingml/2006/main" noGrp="1"/>
          </p:cNvSpPr>
          <p:nvPr/>
        </p:nvSpPr>
        <p:spPr>
          <a:xfrm xmlns:a="http://schemas.openxmlformats.org/drawingml/2006/main">
            <a:off x="6766560" y="960120"/>
            <a:ext cx="1325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b="1">
                <a:solidFill>
                  <a:srgbClr val="C55A11"/>
                </a:solidFill>
                <a:latin typeface="Times New Roman"/>
                <a:ea typeface="Times New Roman"/>
                <a:cs typeface="Times New Roman"/>
              </a:rPr>
              <a:t>3</a:t>
            </a:r>
            <a:endParaRPr sz="1300"/>
          </a:p>
        </p:txBody>
      </p:sp>
      <p:sp>
        <p:nvSpPr>
          <p:cNvPr id="10" name="Shape 7">
            <a:extLst xmlns:a="http://schemas.openxmlformats.org/drawingml/2006/main">
              <a:ext uri="{FF2B5EF4-FFF2-40B4-BE49-F238E27FC236}">
                <a16:creationId xmlns:a16="http://schemas.microsoft.com/office/drawing/2014/main" id="{2078682B-F674-4008-BABD-C0EB5376F090}"/>
              </a:ext>
            </a:extLst>
          </p:cNvPr>
          <p:cNvSpPr>
            <a:spLocks xmlns:a="http://schemas.openxmlformats.org/drawingml/2006/main" noGrp="1"/>
          </p:cNvSpPr>
          <p:nvPr/>
        </p:nvSpPr>
        <p:spPr>
          <a:xfrm xmlns:a="http://schemas.openxmlformats.org/drawingml/2006/main">
            <a:off x="914400" y="1508760"/>
            <a:ext cx="384048" cy="384048"/>
          </a:xfrm>
          <a:prstGeom xmlns:a="http://schemas.openxmlformats.org/drawingml/2006/main" prst="ellipse">
            <a:avLst/>
          </a:prstGeom>
          <a:solidFill xmlns:a="http://schemas.openxmlformats.org/drawingml/2006/main">
            <a:srgbClr val="C55A11"/>
          </a:solidFill>
          <a:ln xmlns:a="http://schemas.openxmlformats.org/drawingml/2006/main" w="12700">
            <a:solidFill>
              <a:srgbClr val="C55A11"/>
            </a:solidFill>
            <a:prstDash val="solid"/>
          </a:ln>
        </p:spPr>
      </p:sp>
      <p:sp>
        <p:nvSpPr>
          <p:cNvPr id="11" name="Text 8">
            <a:extLst xmlns:a="http://schemas.openxmlformats.org/drawingml/2006/main">
              <a:ext uri="{FF2B5EF4-FFF2-40B4-BE49-F238E27FC236}">
                <a16:creationId xmlns:a16="http://schemas.microsoft.com/office/drawing/2014/main" id="{E1A65AE8-EEA2-493A-AE25-F7777998A69E}"/>
              </a:ext>
            </a:extLst>
          </p:cNvPr>
          <p:cNvSpPr>
            <a:spLocks xmlns:a="http://schemas.openxmlformats.org/drawingml/2006/main" noGrp="1"/>
          </p:cNvSpPr>
          <p:nvPr/>
        </p:nvSpPr>
        <p:spPr>
          <a:xfrm xmlns:a="http://schemas.openxmlformats.org/drawingml/2006/main">
            <a:off x="914400" y="15087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Times New Roman"/>
                <a:ea typeface="Times New Roman"/>
                <a:cs typeface="Times New Roman"/>
              </a:rPr>
              <a:t>2</a:t>
            </a:r>
            <a:endParaRPr sz="1400"/>
          </a:p>
        </p:txBody>
      </p:sp>
      <p:sp>
        <p:nvSpPr>
          <p:cNvPr id="12" name="Shape 9">
            <a:extLst xmlns:a="http://schemas.openxmlformats.org/drawingml/2006/main">
              <a:ext uri="{FF2B5EF4-FFF2-40B4-BE49-F238E27FC236}">
                <a16:creationId xmlns:a16="http://schemas.microsoft.com/office/drawing/2014/main" id="{E65B9381-B10A-4331-B69F-87CA1A72A4EF}"/>
              </a:ext>
            </a:extLst>
          </p:cNvPr>
          <p:cNvSpPr>
            <a:spLocks xmlns:a="http://schemas.openxmlformats.org/drawingml/2006/main" noGrp="1"/>
          </p:cNvSpPr>
          <p:nvPr/>
        </p:nvSpPr>
        <p:spPr>
          <a:xfrm xmlns:a="http://schemas.openxmlformats.org/drawingml/2006/main">
            <a:off x="1463040" y="1490472"/>
            <a:ext cx="6766560" cy="420624"/>
          </a:xfrm>
          <a:prstGeom xmlns:a="http://schemas.openxmlformats.org/drawingml/2006/main" prst="rect">
            <a:avLst/>
          </a:prstGeom>
          <a:solidFill xmlns:a="http://schemas.openxmlformats.org/drawingml/2006/main">
            <a:srgbClr val="FFFFFF"/>
          </a:solidFill>
          <a:ln xmlns:a="http://schemas.openxmlformats.org/drawingml/2006/main" w="9525">
            <a:solidFill>
              <a:srgbClr val="F2D3BE"/>
            </a:solidFill>
            <a:prstDash val="solid"/>
          </a:ln>
        </p:spPr>
      </p:sp>
      <p:sp>
        <p:nvSpPr>
          <p:cNvPr id="13" name="Text 10">
            <a:extLst xmlns:a="http://schemas.openxmlformats.org/drawingml/2006/main">
              <a:ext uri="{FF2B5EF4-FFF2-40B4-BE49-F238E27FC236}">
                <a16:creationId xmlns:a16="http://schemas.microsoft.com/office/drawing/2014/main" id="{3195E48C-F0E2-43FC-A23B-52CDE2D61304}"/>
              </a:ext>
            </a:extLst>
          </p:cNvPr>
          <p:cNvSpPr>
            <a:spLocks xmlns:a="http://schemas.openxmlformats.org/drawingml/2006/main" noGrp="1"/>
          </p:cNvSpPr>
          <p:nvPr/>
        </p:nvSpPr>
        <p:spPr>
          <a:xfrm xmlns:a="http://schemas.openxmlformats.org/drawingml/2006/main">
            <a:off x="1600200" y="1490472"/>
            <a:ext cx="51206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060"/>
                </a:solidFill>
                <a:latin typeface="Times New Roman"/>
                <a:ea typeface="Times New Roman"/>
                <a:cs typeface="Times New Roman"/>
              </a:rPr>
              <a:t>Problem Statement &amp; Proposed Solution</a:t>
            </a:r>
            <a:endParaRPr sz="1500"/>
          </a:p>
        </p:txBody>
      </p:sp>
      <p:sp>
        <p:nvSpPr>
          <p:cNvPr id="14" name="Text 11">
            <a:extLst xmlns:a="http://schemas.openxmlformats.org/drawingml/2006/main">
              <a:ext uri="{FF2B5EF4-FFF2-40B4-BE49-F238E27FC236}">
                <a16:creationId xmlns:a16="http://schemas.microsoft.com/office/drawing/2014/main" id="{1FFB7A36-6B47-424B-80D9-63E36BC33F2C}"/>
              </a:ext>
            </a:extLst>
          </p:cNvPr>
          <p:cNvSpPr>
            <a:spLocks xmlns:a="http://schemas.openxmlformats.org/drawingml/2006/main" noGrp="1"/>
          </p:cNvSpPr>
          <p:nvPr/>
        </p:nvSpPr>
        <p:spPr>
          <a:xfrm xmlns:a="http://schemas.openxmlformats.org/drawingml/2006/main">
            <a:off x="6766560" y="1490472"/>
            <a:ext cx="1325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b="1">
                <a:solidFill>
                  <a:srgbClr val="C55A11"/>
                </a:solidFill>
                <a:latin typeface="Times New Roman"/>
                <a:ea typeface="Times New Roman"/>
                <a:cs typeface="Times New Roman"/>
              </a:rPr>
              <a:t>4</a:t>
            </a:r>
            <a:endParaRPr sz="1300"/>
          </a:p>
        </p:txBody>
      </p:sp>
      <p:sp>
        <p:nvSpPr>
          <p:cNvPr id="15" name="Shape 12">
            <a:extLst xmlns:a="http://schemas.openxmlformats.org/drawingml/2006/main">
              <a:ext uri="{FF2B5EF4-FFF2-40B4-BE49-F238E27FC236}">
                <a16:creationId xmlns:a16="http://schemas.microsoft.com/office/drawing/2014/main" id="{0CCD4F0D-8501-4E70-A1D5-3E2C24116C34}"/>
              </a:ext>
            </a:extLst>
          </p:cNvPr>
          <p:cNvSpPr>
            <a:spLocks xmlns:a="http://schemas.openxmlformats.org/drawingml/2006/main" noGrp="1"/>
          </p:cNvSpPr>
          <p:nvPr/>
        </p:nvSpPr>
        <p:spPr>
          <a:xfrm xmlns:a="http://schemas.openxmlformats.org/drawingml/2006/main">
            <a:off x="914400" y="2039112"/>
            <a:ext cx="384048" cy="384048"/>
          </a:xfrm>
          <a:prstGeom xmlns:a="http://schemas.openxmlformats.org/drawingml/2006/main" prst="ellipse">
            <a:avLst/>
          </a:prstGeom>
          <a:solidFill xmlns:a="http://schemas.openxmlformats.org/drawingml/2006/main">
            <a:srgbClr val="C55A11"/>
          </a:solidFill>
          <a:ln xmlns:a="http://schemas.openxmlformats.org/drawingml/2006/main" w="12700">
            <a:solidFill>
              <a:srgbClr val="C55A11"/>
            </a:solidFill>
            <a:prstDash val="solid"/>
          </a:ln>
        </p:spPr>
      </p:sp>
      <p:sp>
        <p:nvSpPr>
          <p:cNvPr id="16" name="Text 13">
            <a:extLst xmlns:a="http://schemas.openxmlformats.org/drawingml/2006/main">
              <a:ext uri="{FF2B5EF4-FFF2-40B4-BE49-F238E27FC236}">
                <a16:creationId xmlns:a16="http://schemas.microsoft.com/office/drawing/2014/main" id="{BB42F4DB-4492-43D0-9F8C-A1A97BEBBBD4}"/>
              </a:ext>
            </a:extLst>
          </p:cNvPr>
          <p:cNvSpPr>
            <a:spLocks xmlns:a="http://schemas.openxmlformats.org/drawingml/2006/main" noGrp="1"/>
          </p:cNvSpPr>
          <p:nvPr/>
        </p:nvSpPr>
        <p:spPr>
          <a:xfrm xmlns:a="http://schemas.openxmlformats.org/drawingml/2006/main">
            <a:off x="914400" y="203911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Times New Roman"/>
                <a:ea typeface="Times New Roman"/>
                <a:cs typeface="Times New Roman"/>
              </a:rPr>
              <a:t>3</a:t>
            </a:r>
            <a:endParaRPr sz="1400"/>
          </a:p>
        </p:txBody>
      </p:sp>
      <p:sp>
        <p:nvSpPr>
          <p:cNvPr id="17" name="Shape 14">
            <a:extLst xmlns:a="http://schemas.openxmlformats.org/drawingml/2006/main">
              <a:ext uri="{FF2B5EF4-FFF2-40B4-BE49-F238E27FC236}">
                <a16:creationId xmlns:a16="http://schemas.microsoft.com/office/drawing/2014/main" id="{F376684E-E069-4C4A-B8AD-25788127BAA1}"/>
              </a:ext>
            </a:extLst>
          </p:cNvPr>
          <p:cNvSpPr>
            <a:spLocks xmlns:a="http://schemas.openxmlformats.org/drawingml/2006/main" noGrp="1"/>
          </p:cNvSpPr>
          <p:nvPr/>
        </p:nvSpPr>
        <p:spPr>
          <a:xfrm xmlns:a="http://schemas.openxmlformats.org/drawingml/2006/main">
            <a:off x="1463040" y="2020824"/>
            <a:ext cx="6766560" cy="420624"/>
          </a:xfrm>
          <a:prstGeom xmlns:a="http://schemas.openxmlformats.org/drawingml/2006/main" prst="rect">
            <a:avLst/>
          </a:prstGeom>
          <a:solidFill xmlns:a="http://schemas.openxmlformats.org/drawingml/2006/main">
            <a:srgbClr val="FFF6EF"/>
          </a:solidFill>
          <a:ln xmlns:a="http://schemas.openxmlformats.org/drawingml/2006/main" w="9525">
            <a:solidFill>
              <a:srgbClr val="F2D3BE"/>
            </a:solidFill>
            <a:prstDash val="solid"/>
          </a:ln>
        </p:spPr>
      </p:sp>
      <p:sp>
        <p:nvSpPr>
          <p:cNvPr id="18" name="Text 15">
            <a:extLst xmlns:a="http://schemas.openxmlformats.org/drawingml/2006/main">
              <a:ext uri="{FF2B5EF4-FFF2-40B4-BE49-F238E27FC236}">
                <a16:creationId xmlns:a16="http://schemas.microsoft.com/office/drawing/2014/main" id="{49369EAC-4F53-4EDC-B7C3-7B25F2C5531F}"/>
              </a:ext>
            </a:extLst>
          </p:cNvPr>
          <p:cNvSpPr>
            <a:spLocks xmlns:a="http://schemas.openxmlformats.org/drawingml/2006/main" noGrp="1"/>
          </p:cNvSpPr>
          <p:nvPr/>
        </p:nvSpPr>
        <p:spPr>
          <a:xfrm xmlns:a="http://schemas.openxmlformats.org/drawingml/2006/main">
            <a:off x="1600200" y="2020824"/>
            <a:ext cx="51206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060"/>
                </a:solidFill>
                <a:latin typeface="Times New Roman"/>
                <a:ea typeface="Times New Roman"/>
                <a:cs typeface="Times New Roman"/>
              </a:rPr>
              <a:t>Objectives</a:t>
            </a:r>
            <a:endParaRPr sz="1500"/>
          </a:p>
        </p:txBody>
      </p:sp>
      <p:sp>
        <p:nvSpPr>
          <p:cNvPr id="19" name="Text 16">
            <a:extLst xmlns:a="http://schemas.openxmlformats.org/drawingml/2006/main">
              <a:ext uri="{FF2B5EF4-FFF2-40B4-BE49-F238E27FC236}">
                <a16:creationId xmlns:a16="http://schemas.microsoft.com/office/drawing/2014/main" id="{D3835CA9-8FE1-43EA-8F26-BD51DE4EF9A6}"/>
              </a:ext>
            </a:extLst>
          </p:cNvPr>
          <p:cNvSpPr>
            <a:spLocks xmlns:a="http://schemas.openxmlformats.org/drawingml/2006/main" noGrp="1"/>
          </p:cNvSpPr>
          <p:nvPr/>
        </p:nvSpPr>
        <p:spPr>
          <a:xfrm xmlns:a="http://schemas.openxmlformats.org/drawingml/2006/main">
            <a:off x="6766560" y="2020824"/>
            <a:ext cx="1325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b="1">
                <a:solidFill>
                  <a:srgbClr val="C55A11"/>
                </a:solidFill>
                <a:latin typeface="Times New Roman"/>
                <a:ea typeface="Times New Roman"/>
                <a:cs typeface="Times New Roman"/>
              </a:rPr>
              <a:t>5</a:t>
            </a:r>
            <a:endParaRPr sz="1300"/>
          </a:p>
        </p:txBody>
      </p:sp>
      <p:sp>
        <p:nvSpPr>
          <p:cNvPr id="25" name="Shape 22">
            <a:extLst xmlns:a="http://schemas.openxmlformats.org/drawingml/2006/main">
              <a:ext uri="{FF2B5EF4-FFF2-40B4-BE49-F238E27FC236}">
                <a16:creationId xmlns:a16="http://schemas.microsoft.com/office/drawing/2014/main" id="{9C0094FC-A581-402E-B7E4-7342FAB7FDD2}"/>
              </a:ext>
            </a:extLst>
          </p:cNvPr>
          <p:cNvSpPr>
            <a:spLocks xmlns:a="http://schemas.openxmlformats.org/drawingml/2006/main" noGrp="1"/>
          </p:cNvSpPr>
          <p:nvPr/>
        </p:nvSpPr>
        <p:spPr>
          <a:xfrm xmlns:a="http://schemas.openxmlformats.org/drawingml/2006/main" rot="0" flipH="0" flipV="0">
            <a:off x="914400" y="2606040"/>
            <a:ext cx="384048" cy="384048"/>
          </a:xfrm>
          <a:prstGeom xmlns:a="http://schemas.openxmlformats.org/drawingml/2006/main" prst="ellipse">
            <a:avLst/>
          </a:prstGeom>
          <a:solidFill xmlns:a="http://schemas.openxmlformats.org/drawingml/2006/main">
            <a:srgbClr val="C55A11"/>
          </a:solidFill>
          <a:ln xmlns:a="http://schemas.openxmlformats.org/drawingml/2006/main" w="12700">
            <a:solidFill>
              <a:srgbClr val="C55A11"/>
            </a:solidFill>
            <a:prstDash val="solid"/>
          </a:ln>
        </p:spPr>
      </p:sp>
      <p:sp>
        <p:nvSpPr>
          <p:cNvPr id="26" name="Text 23">
            <a:extLst xmlns:a="http://schemas.openxmlformats.org/drawingml/2006/main">
              <a:ext uri="{FF2B5EF4-FFF2-40B4-BE49-F238E27FC236}">
                <a16:creationId xmlns:a16="http://schemas.microsoft.com/office/drawing/2014/main" id="{C2D4F0C6-B0A2-46E8-83E3-2918391D7757}"/>
              </a:ext>
            </a:extLst>
          </p:cNvPr>
          <p:cNvSpPr>
            <a:spLocks xmlns:a="http://schemas.openxmlformats.org/drawingml/2006/main" noGrp="1"/>
          </p:cNvSpPr>
          <p:nvPr/>
        </p:nvSpPr>
        <p:spPr>
          <a:xfrm xmlns:a="http://schemas.openxmlformats.org/drawingml/2006/main" rot="0" flipH="0" flipV="0">
            <a:off x="914400" y="260604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Times New Roman"/>
                <a:ea typeface="Times New Roman"/>
                <a:cs typeface="Times New Roman"/>
              </a:rPr>
              <a:t>4</a:t>
            </a:r>
            <a:endParaRPr sz="1400"/>
          </a:p>
        </p:txBody>
      </p:sp>
      <p:sp>
        <p:nvSpPr>
          <p:cNvPr id="27" name="Shape 24">
            <a:extLst xmlns:a="http://schemas.openxmlformats.org/drawingml/2006/main">
              <a:ext uri="{FF2B5EF4-FFF2-40B4-BE49-F238E27FC236}">
                <a16:creationId xmlns:a16="http://schemas.microsoft.com/office/drawing/2014/main" id="{F9172A51-077D-46DB-9324-2B01939C0742}"/>
              </a:ext>
            </a:extLst>
          </p:cNvPr>
          <p:cNvSpPr>
            <a:spLocks xmlns:a="http://schemas.openxmlformats.org/drawingml/2006/main" noGrp="1"/>
          </p:cNvSpPr>
          <p:nvPr/>
        </p:nvSpPr>
        <p:spPr>
          <a:xfrm xmlns:a="http://schemas.openxmlformats.org/drawingml/2006/main" rot="0" flipH="0" flipV="0">
            <a:off x="1463040" y="2587752"/>
            <a:ext cx="6766560" cy="420624"/>
          </a:xfrm>
          <a:prstGeom xmlns:a="http://schemas.openxmlformats.org/drawingml/2006/main" prst="rect">
            <a:avLst/>
          </a:prstGeom>
          <a:solidFill xmlns:a="http://schemas.openxmlformats.org/drawingml/2006/main">
            <a:srgbClr val="FFF6EF"/>
          </a:solidFill>
          <a:ln xmlns:a="http://schemas.openxmlformats.org/drawingml/2006/main" w="9525">
            <a:solidFill>
              <a:srgbClr val="F2D3BE"/>
            </a:solidFill>
            <a:prstDash val="solid"/>
          </a:ln>
        </p:spPr>
      </p:sp>
      <p:sp>
        <p:nvSpPr>
          <p:cNvPr id="28" name="Text 25">
            <a:extLst xmlns:a="http://schemas.openxmlformats.org/drawingml/2006/main">
              <a:ext uri="{FF2B5EF4-FFF2-40B4-BE49-F238E27FC236}">
                <a16:creationId xmlns:a16="http://schemas.microsoft.com/office/drawing/2014/main" id="{3ED742EC-5363-4113-AB1D-9AC38C4E919A}"/>
              </a:ext>
            </a:extLst>
          </p:cNvPr>
          <p:cNvSpPr>
            <a:spLocks xmlns:a="http://schemas.openxmlformats.org/drawingml/2006/main" noGrp="1"/>
          </p:cNvSpPr>
          <p:nvPr/>
        </p:nvSpPr>
        <p:spPr>
          <a:xfrm xmlns:a="http://schemas.openxmlformats.org/drawingml/2006/main" rot="0" flipH="0" flipV="0">
            <a:off x="1600200" y="2587752"/>
            <a:ext cx="51206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060"/>
                </a:solidFill>
                <a:latin typeface="Times New Roman"/>
                <a:ea typeface="Times New Roman"/>
                <a:cs typeface="Times New Roman"/>
              </a:rPr>
              <a:t>Modules in the Project (5 modules, with outputs)</a:t>
            </a:r>
            <a:endParaRPr sz="1500"/>
          </a:p>
        </p:txBody>
      </p:sp>
      <p:sp>
        <p:nvSpPr>
          <p:cNvPr id="29" name="Text 26">
            <a:extLst xmlns:a="http://schemas.openxmlformats.org/drawingml/2006/main">
              <a:ext uri="{FF2B5EF4-FFF2-40B4-BE49-F238E27FC236}">
                <a16:creationId xmlns:a16="http://schemas.microsoft.com/office/drawing/2014/main" id="{21F7A25E-C1C4-4D0C-B19A-92393EB825EA}"/>
              </a:ext>
            </a:extLst>
          </p:cNvPr>
          <p:cNvSpPr>
            <a:spLocks xmlns:a="http://schemas.openxmlformats.org/drawingml/2006/main" noGrp="1"/>
          </p:cNvSpPr>
          <p:nvPr/>
        </p:nvSpPr>
        <p:spPr>
          <a:xfrm xmlns:a="http://schemas.openxmlformats.org/drawingml/2006/main" rot="0" flipH="0" flipV="0">
            <a:off x="6766560" y="2587752"/>
            <a:ext cx="1325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b="1">
                <a:solidFill>
                  <a:srgbClr val="C55A11"/>
                </a:solidFill>
                <a:latin typeface="Times New Roman"/>
                <a:ea typeface="Times New Roman"/>
                <a:cs typeface="Times New Roman"/>
              </a:rPr>
              <a:t>6 - 15</a:t>
            </a:r>
            <a:endParaRPr sz="1300"/>
          </a:p>
        </p:txBody>
      </p:sp>
      <p:sp>
        <p:nvSpPr>
          <p:cNvPr id="30" name="Shape 27">
            <a:extLst xmlns:a="http://schemas.openxmlformats.org/drawingml/2006/main">
              <a:ext uri="{FF2B5EF4-FFF2-40B4-BE49-F238E27FC236}">
                <a16:creationId xmlns:a16="http://schemas.microsoft.com/office/drawing/2014/main" id="{1A79CF0C-A8B5-468E-A7BD-1B5B541FCFD6}"/>
              </a:ext>
            </a:extLst>
          </p:cNvPr>
          <p:cNvSpPr>
            <a:spLocks xmlns:a="http://schemas.openxmlformats.org/drawingml/2006/main" noGrp="1"/>
          </p:cNvSpPr>
          <p:nvPr/>
        </p:nvSpPr>
        <p:spPr>
          <a:xfrm xmlns:a="http://schemas.openxmlformats.org/drawingml/2006/main" rot="0" flipH="0" flipV="0">
            <a:off x="914400" y="3136392"/>
            <a:ext cx="384048" cy="384048"/>
          </a:xfrm>
          <a:prstGeom xmlns:a="http://schemas.openxmlformats.org/drawingml/2006/main" prst="ellipse">
            <a:avLst/>
          </a:prstGeom>
          <a:solidFill xmlns:a="http://schemas.openxmlformats.org/drawingml/2006/main">
            <a:srgbClr val="C55A11"/>
          </a:solidFill>
          <a:ln xmlns:a="http://schemas.openxmlformats.org/drawingml/2006/main" w="12700">
            <a:solidFill>
              <a:srgbClr val="C55A11"/>
            </a:solidFill>
            <a:prstDash val="solid"/>
          </a:ln>
        </p:spPr>
      </p:sp>
      <p:sp>
        <p:nvSpPr>
          <p:cNvPr id="31" name="Text 28">
            <a:extLst xmlns:a="http://schemas.openxmlformats.org/drawingml/2006/main">
              <a:ext uri="{FF2B5EF4-FFF2-40B4-BE49-F238E27FC236}">
                <a16:creationId xmlns:a16="http://schemas.microsoft.com/office/drawing/2014/main" id="{6DE68A30-3206-489A-804C-BA7E07905766}"/>
              </a:ext>
            </a:extLst>
          </p:cNvPr>
          <p:cNvSpPr>
            <a:spLocks xmlns:a="http://schemas.openxmlformats.org/drawingml/2006/main" noGrp="1"/>
          </p:cNvSpPr>
          <p:nvPr/>
        </p:nvSpPr>
        <p:spPr>
          <a:xfrm xmlns:a="http://schemas.openxmlformats.org/drawingml/2006/main" rot="0" flipH="0" flipV="0">
            <a:off x="914400" y="313639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Times New Roman"/>
                <a:ea typeface="Times New Roman"/>
                <a:cs typeface="Times New Roman"/>
              </a:rPr>
              <a:t>5</a:t>
            </a:r>
            <a:endParaRPr sz="1400"/>
          </a:p>
        </p:txBody>
      </p:sp>
      <p:sp>
        <p:nvSpPr>
          <p:cNvPr id="32" name="Shape 29">
            <a:extLst xmlns:a="http://schemas.openxmlformats.org/drawingml/2006/main">
              <a:ext uri="{FF2B5EF4-FFF2-40B4-BE49-F238E27FC236}">
                <a16:creationId xmlns:a16="http://schemas.microsoft.com/office/drawing/2014/main" id="{84CA4B4F-9B1A-46D4-B85C-E981D6EF846D}"/>
              </a:ext>
            </a:extLst>
          </p:cNvPr>
          <p:cNvSpPr>
            <a:spLocks xmlns:a="http://schemas.openxmlformats.org/drawingml/2006/main" noGrp="1"/>
          </p:cNvSpPr>
          <p:nvPr/>
        </p:nvSpPr>
        <p:spPr>
          <a:xfrm xmlns:a="http://schemas.openxmlformats.org/drawingml/2006/main" rot="0" flipH="0" flipV="0">
            <a:off x="1463040" y="3118104"/>
            <a:ext cx="6766560" cy="420624"/>
          </a:xfrm>
          <a:prstGeom xmlns:a="http://schemas.openxmlformats.org/drawingml/2006/main" prst="rect">
            <a:avLst/>
          </a:prstGeom>
          <a:solidFill xmlns:a="http://schemas.openxmlformats.org/drawingml/2006/main">
            <a:srgbClr val="FFFFFF"/>
          </a:solidFill>
          <a:ln xmlns:a="http://schemas.openxmlformats.org/drawingml/2006/main" w="9525">
            <a:solidFill>
              <a:srgbClr val="F2D3BE"/>
            </a:solidFill>
            <a:prstDash val="solid"/>
          </a:ln>
        </p:spPr>
      </p:sp>
      <p:sp>
        <p:nvSpPr>
          <p:cNvPr id="33" name="Text 30">
            <a:extLst xmlns:a="http://schemas.openxmlformats.org/drawingml/2006/main">
              <a:ext uri="{FF2B5EF4-FFF2-40B4-BE49-F238E27FC236}">
                <a16:creationId xmlns:a16="http://schemas.microsoft.com/office/drawing/2014/main" id="{F9F36651-D530-4E8A-A503-3BB54E74AB26}"/>
              </a:ext>
            </a:extLst>
          </p:cNvPr>
          <p:cNvSpPr>
            <a:spLocks xmlns:a="http://schemas.openxmlformats.org/drawingml/2006/main" noGrp="1"/>
          </p:cNvSpPr>
          <p:nvPr/>
        </p:nvSpPr>
        <p:spPr>
          <a:xfrm xmlns:a="http://schemas.openxmlformats.org/drawingml/2006/main" rot="0" flipH="0" flipV="0">
            <a:off x="1600200" y="3118104"/>
            <a:ext cx="51206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060"/>
                </a:solidFill>
                <a:latin typeface="Times New Roman"/>
                <a:ea typeface="Times New Roman"/>
                <a:cs typeface="Times New Roman"/>
              </a:rPr>
              <a:t>Future Enhancements</a:t>
            </a:r>
            <a:endParaRPr sz="1500"/>
          </a:p>
        </p:txBody>
      </p:sp>
      <p:sp>
        <p:nvSpPr>
          <p:cNvPr id="34" name="Text 31">
            <a:extLst xmlns:a="http://schemas.openxmlformats.org/drawingml/2006/main">
              <a:ext uri="{FF2B5EF4-FFF2-40B4-BE49-F238E27FC236}">
                <a16:creationId xmlns:a16="http://schemas.microsoft.com/office/drawing/2014/main" id="{7C84AB04-D13B-4457-9AAB-13E7FA3E679B}"/>
              </a:ext>
            </a:extLst>
          </p:cNvPr>
          <p:cNvSpPr>
            <a:spLocks xmlns:a="http://schemas.openxmlformats.org/drawingml/2006/main" noGrp="1"/>
          </p:cNvSpPr>
          <p:nvPr/>
        </p:nvSpPr>
        <p:spPr>
          <a:xfrm xmlns:a="http://schemas.openxmlformats.org/drawingml/2006/main" rot="0" flipH="0" flipV="0">
            <a:off x="6766560" y="3118104"/>
            <a:ext cx="1325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b="1">
                <a:solidFill>
                  <a:srgbClr val="C55A11"/>
                </a:solidFill>
                <a:latin typeface="Times New Roman"/>
                <a:ea typeface="Times New Roman"/>
                <a:cs typeface="Times New Roman"/>
              </a:rPr>
              <a:t>16</a:t>
            </a:r>
            <a:endParaRPr sz="1300"/>
          </a:p>
        </p:txBody>
      </p:sp>
      <p:sp>
        <p:nvSpPr>
          <p:cNvPr id="35" name="Shape 32">
            <a:extLst xmlns:a="http://schemas.openxmlformats.org/drawingml/2006/main">
              <a:ext uri="{FF2B5EF4-FFF2-40B4-BE49-F238E27FC236}">
                <a16:creationId xmlns:a16="http://schemas.microsoft.com/office/drawing/2014/main" id="{1B8C0DFB-B6A2-4C49-9F4F-0D1514D0335B}"/>
              </a:ext>
            </a:extLst>
          </p:cNvPr>
          <p:cNvSpPr>
            <a:spLocks xmlns:a="http://schemas.openxmlformats.org/drawingml/2006/main" noGrp="1"/>
          </p:cNvSpPr>
          <p:nvPr/>
        </p:nvSpPr>
        <p:spPr>
          <a:xfrm xmlns:a="http://schemas.openxmlformats.org/drawingml/2006/main" rot="0" flipH="0" flipV="0">
            <a:off x="914400" y="3666744"/>
            <a:ext cx="384048" cy="384048"/>
          </a:xfrm>
          <a:prstGeom xmlns:a="http://schemas.openxmlformats.org/drawingml/2006/main" prst="ellipse">
            <a:avLst/>
          </a:prstGeom>
          <a:solidFill xmlns:a="http://schemas.openxmlformats.org/drawingml/2006/main">
            <a:srgbClr val="C55A11"/>
          </a:solidFill>
          <a:ln xmlns:a="http://schemas.openxmlformats.org/drawingml/2006/main" w="12700">
            <a:solidFill>
              <a:srgbClr val="C55A11"/>
            </a:solidFill>
            <a:prstDash val="solid"/>
          </a:ln>
        </p:spPr>
      </p:sp>
      <p:sp>
        <p:nvSpPr>
          <p:cNvPr id="36" name="Text 33">
            <a:extLst xmlns:a="http://schemas.openxmlformats.org/drawingml/2006/main">
              <a:ext uri="{FF2B5EF4-FFF2-40B4-BE49-F238E27FC236}">
                <a16:creationId xmlns:a16="http://schemas.microsoft.com/office/drawing/2014/main" id="{2DA51CA1-2D3C-4305-9E77-EE19CF514819}"/>
              </a:ext>
            </a:extLst>
          </p:cNvPr>
          <p:cNvSpPr>
            <a:spLocks xmlns:a="http://schemas.openxmlformats.org/drawingml/2006/main" noGrp="1"/>
          </p:cNvSpPr>
          <p:nvPr/>
        </p:nvSpPr>
        <p:spPr>
          <a:xfrm xmlns:a="http://schemas.openxmlformats.org/drawingml/2006/main" rot="0" flipH="0" flipV="0">
            <a:off x="914400" y="3666744"/>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Times New Roman"/>
                <a:ea typeface="Times New Roman"/>
                <a:cs typeface="Times New Roman"/>
              </a:rPr>
              <a:t>6</a:t>
            </a:r>
            <a:endParaRPr sz="1400"/>
          </a:p>
        </p:txBody>
      </p:sp>
      <p:sp>
        <p:nvSpPr>
          <p:cNvPr id="37" name="Shape 34">
            <a:extLst xmlns:a="http://schemas.openxmlformats.org/drawingml/2006/main">
              <a:ext uri="{FF2B5EF4-FFF2-40B4-BE49-F238E27FC236}">
                <a16:creationId xmlns:a16="http://schemas.microsoft.com/office/drawing/2014/main" id="{0FFADE91-89AC-4E97-BA44-5D86FD1F3FBB}"/>
              </a:ext>
            </a:extLst>
          </p:cNvPr>
          <p:cNvSpPr>
            <a:spLocks xmlns:a="http://schemas.openxmlformats.org/drawingml/2006/main" noGrp="1"/>
          </p:cNvSpPr>
          <p:nvPr/>
        </p:nvSpPr>
        <p:spPr>
          <a:xfrm xmlns:a="http://schemas.openxmlformats.org/drawingml/2006/main" rot="0" flipH="0" flipV="0">
            <a:off x="1463040" y="3648456"/>
            <a:ext cx="6766560" cy="420624"/>
          </a:xfrm>
          <a:prstGeom xmlns:a="http://schemas.openxmlformats.org/drawingml/2006/main" prst="rect">
            <a:avLst/>
          </a:prstGeom>
          <a:solidFill xmlns:a="http://schemas.openxmlformats.org/drawingml/2006/main">
            <a:srgbClr val="FFF6EF"/>
          </a:solidFill>
          <a:ln xmlns:a="http://schemas.openxmlformats.org/drawingml/2006/main" w="9525">
            <a:solidFill>
              <a:srgbClr val="F2D3BE"/>
            </a:solidFill>
            <a:prstDash val="solid"/>
          </a:ln>
        </p:spPr>
      </p:sp>
      <p:sp>
        <p:nvSpPr>
          <p:cNvPr id="38" name="Text 35">
            <a:extLst xmlns:a="http://schemas.openxmlformats.org/drawingml/2006/main">
              <a:ext uri="{FF2B5EF4-FFF2-40B4-BE49-F238E27FC236}">
                <a16:creationId xmlns:a16="http://schemas.microsoft.com/office/drawing/2014/main" id="{658CE72D-2C61-4085-8708-BD0D56B95233}"/>
              </a:ext>
            </a:extLst>
          </p:cNvPr>
          <p:cNvSpPr>
            <a:spLocks xmlns:a="http://schemas.openxmlformats.org/drawingml/2006/main" noGrp="1"/>
          </p:cNvSpPr>
          <p:nvPr/>
        </p:nvSpPr>
        <p:spPr>
          <a:xfrm xmlns:a="http://schemas.openxmlformats.org/drawingml/2006/main" rot="0" flipH="0" flipV="0">
            <a:off x="1600200" y="3648456"/>
            <a:ext cx="51206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02060"/>
                </a:solidFill>
                <a:latin typeface="Times New Roman"/>
                <a:ea typeface="Times New Roman"/>
                <a:cs typeface="Times New Roman"/>
              </a:rPr>
              <a:t>Conclusion</a:t>
            </a:r>
            <a:endParaRPr sz="1500"/>
          </a:p>
        </p:txBody>
      </p:sp>
      <p:sp>
        <p:nvSpPr>
          <p:cNvPr id="39" name="Text 36">
            <a:extLst xmlns:a="http://schemas.openxmlformats.org/drawingml/2006/main">
              <a:ext uri="{FF2B5EF4-FFF2-40B4-BE49-F238E27FC236}">
                <a16:creationId xmlns:a16="http://schemas.microsoft.com/office/drawing/2014/main" id="{57B17158-7598-47E0-A0BA-C8B2C164DE9C}"/>
              </a:ext>
            </a:extLst>
          </p:cNvPr>
          <p:cNvSpPr>
            <a:spLocks xmlns:a="http://schemas.openxmlformats.org/drawingml/2006/main" noGrp="1"/>
          </p:cNvSpPr>
          <p:nvPr/>
        </p:nvSpPr>
        <p:spPr>
          <a:xfrm xmlns:a="http://schemas.openxmlformats.org/drawingml/2006/main" rot="0" flipH="0" flipV="0">
            <a:off x="6766560" y="3648456"/>
            <a:ext cx="13258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b="1">
                <a:solidFill>
                  <a:srgbClr val="C55A11"/>
                </a:solidFill>
                <a:latin typeface="Times New Roman"/>
                <a:ea typeface="Times New Roman"/>
                <a:cs typeface="Times New Roman"/>
              </a:rPr>
              <a:t>17</a:t>
            </a:r>
            <a:endParaRPr sz="1300"/>
          </a:p>
        </p:txBody>
      </p:sp>
    </p:spTree>
    <p:extLst>
      <p:ext uri="{BB962C8B-B14F-4D97-AF65-F5344CB8AC3E}">
        <p14:creationId xmlns:p14="http://schemas.microsoft.com/office/powerpoint/2010/main" val="17200973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AE4E526-94A5-4256-A828-CBC8DFCF53D5}"/>
              </a:ext>
            </a:extLst>
          </p:cNvPr>
          <p:cNvPicPr>
            <a:picLocks xmlns:a="http://schemas.openxmlformats.org/drawingml/2006/main" noChangeAspect="1"/>
          </p:cNvPicPr>
          <p:nvPr/>
        </p:nvPicPr>
        <p:blipFill>
          <a:blip xmlns:r="http://schemas.openxmlformats.org/officeDocument/2006/relationships" xmlns:a="http://schemas.openxmlformats.org/drawingml/2006/main" r:embed="Rd01d111e5b3c45c6"/>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4F4A4FBB-D940-45F4-8FEF-F223021B3BE0}"/>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638F9932-A48D-4B90-9A84-890FADF86A48}"/>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Introduction</a:t>
            </a:r>
            <a:endParaRPr sz="1800"/>
          </a:p>
        </p:txBody>
      </p:sp>
      <p:sp>
        <p:nvSpPr>
          <p:cNvPr id="5" name="Text 2">
            <a:extLst xmlns:a="http://schemas.openxmlformats.org/drawingml/2006/main">
              <a:ext uri="{FF2B5EF4-FFF2-40B4-BE49-F238E27FC236}">
                <a16:creationId xmlns:a16="http://schemas.microsoft.com/office/drawing/2014/main" id="{44C50F8C-5220-41A9-89E9-468D54720835}"/>
              </a:ext>
            </a:extLst>
          </p:cNvPr>
          <p:cNvSpPr>
            <a:spLocks xmlns:a="http://schemas.openxmlformats.org/drawingml/2006/main" noGrp="1"/>
          </p:cNvSpPr>
          <p:nvPr/>
        </p:nvSpPr>
        <p:spPr>
          <a:xfrm xmlns:a="http://schemas.openxmlformats.org/drawingml/2006/main">
            <a:off x="640080" y="1005840"/>
            <a:ext cx="7863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ApexMart is an academic marketplace where customers buy products and sellers manage their listings.</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Administrators use a separate login to manage products across the marketplace.</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Angular provides the storefront. Java Spring Boot services handle users, products, orders and invoices.</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CockroachDB stores service data. REST connects shopping APIs, while SOAP supports invoice generation.</a:t>
            </a:r>
            <a:endParaRPr sz="1500"/>
          </a:p>
        </p:txBody>
      </p:sp>
      <p:sp>
        <p:nvSpPr>
          <p:cNvPr id="6" name="Shape 3">
            <a:extLst xmlns:a="http://schemas.openxmlformats.org/drawingml/2006/main">
              <a:ext uri="{FF2B5EF4-FFF2-40B4-BE49-F238E27FC236}">
                <a16:creationId xmlns:a16="http://schemas.microsoft.com/office/drawing/2014/main" id="{BFFEB895-8B1F-4A6C-ABE0-8037A819FC5C}"/>
              </a:ext>
            </a:extLst>
          </p:cNvPr>
          <p:cNvSpPr>
            <a:spLocks xmlns:a="http://schemas.openxmlformats.org/drawingml/2006/main" noGrp="1"/>
          </p:cNvSpPr>
          <p:nvPr/>
        </p:nvSpPr>
        <p:spPr>
          <a:xfrm xmlns:a="http://schemas.openxmlformats.org/drawingml/2006/main">
            <a:off x="640080" y="3520440"/>
            <a:ext cx="7863840" cy="1097280"/>
          </a:xfrm>
          <a:prstGeom xmlns:a="http://schemas.openxmlformats.org/drawingml/2006/main" prst="rect">
            <a:avLst/>
          </a:prstGeom>
          <a:solidFill xmlns:a="http://schemas.openxmlformats.org/drawingml/2006/main">
            <a:srgbClr val="FFF6EF"/>
          </a:solidFill>
          <a:ln xmlns:a="http://schemas.openxmlformats.org/drawingml/2006/main" w="12700">
            <a:solidFill>
              <a:srgbClr val="C55A11"/>
            </a:solidFill>
            <a:prstDash val="solid"/>
          </a:ln>
        </p:spPr>
      </p:sp>
      <p:sp>
        <p:nvSpPr>
          <p:cNvPr id="7" name="Text 4">
            <a:extLst xmlns:a="http://schemas.openxmlformats.org/drawingml/2006/main">
              <a:ext uri="{FF2B5EF4-FFF2-40B4-BE49-F238E27FC236}">
                <a16:creationId xmlns:a16="http://schemas.microsoft.com/office/drawing/2014/main" id="{CF12207B-17D0-42F1-85C4-EA2E231E36E1}"/>
              </a:ext>
            </a:extLst>
          </p:cNvPr>
          <p:cNvSpPr>
            <a:spLocks xmlns:a="http://schemas.openxmlformats.org/drawingml/2006/main" noGrp="1"/>
          </p:cNvSpPr>
          <p:nvPr/>
        </p:nvSpPr>
        <p:spPr>
          <a:xfrm xmlns:a="http://schemas.openxmlformats.org/drawingml/2006/main">
            <a:off x="822960" y="3566160"/>
            <a:ext cx="74980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C55A11"/>
                </a:solidFill>
                <a:latin typeface="Times New Roman"/>
                <a:ea typeface="Times New Roman"/>
                <a:cs typeface="Times New Roman"/>
              </a:rPr>
              <a:t>Main Idea  </a:t>
            </a:r>
            <a:endParaRPr sz="1400"/>
          </a:p>
          <a:p xmlns:a="http://schemas.openxmlformats.org/drawingml/2006/main">
            <a:pPr marL="0" indent="0">
              <a:buNone/>
            </a:pPr>
            <a:r>
              <a:rPr sz="1400" b="1">
                <a:solidFill>
                  <a:srgbClr val="C55A11"/>
                </a:solidFill>
                <a:latin typeface="Times New Roman"/>
                <a:ea typeface="Times New Roman"/>
                <a:cs typeface="Times New Roman"/>
              </a:rPr>
              <a:t>A working marketplace that demonstrates API design, secure access, inventory control and communication between microservices.</a:t>
            </a:r>
            <a:endParaRPr sz="1400"/>
          </a:p>
        </p:txBody>
      </p:sp>
    </p:spTree>
    <p:extLst>
      <p:ext uri="{BB962C8B-B14F-4D97-AF65-F5344CB8AC3E}">
        <p14:creationId xmlns:p14="http://schemas.microsoft.com/office/powerpoint/2010/main" val="5464548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4BEBB74-71D6-4F4F-8F54-B889CCC4A5EF}"/>
              </a:ext>
            </a:extLst>
          </p:cNvPr>
          <p:cNvPicPr>
            <a:picLocks xmlns:a="http://schemas.openxmlformats.org/drawingml/2006/main" noChangeAspect="1"/>
          </p:cNvPicPr>
          <p:nvPr/>
        </p:nvPicPr>
        <p:blipFill>
          <a:blip xmlns:r="http://schemas.openxmlformats.org/officeDocument/2006/relationships" xmlns:a="http://schemas.openxmlformats.org/drawingml/2006/main" r:embed="Rbeb9580b6d2c40a1"/>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B9BE8315-F943-4456-AB15-E9D8351FBE31}"/>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0587CD5A-9BB8-4417-B57C-A8BABA89769F}"/>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Problem Statement</a:t>
            </a:r>
            <a:endParaRPr sz="1800"/>
          </a:p>
        </p:txBody>
      </p:sp>
      <p:sp>
        <p:nvSpPr>
          <p:cNvPr id="5" name="Text 2">
            <a:extLst xmlns:a="http://schemas.openxmlformats.org/drawingml/2006/main">
              <a:ext uri="{FF2B5EF4-FFF2-40B4-BE49-F238E27FC236}">
                <a16:creationId xmlns:a16="http://schemas.microsoft.com/office/drawing/2014/main" id="{170EFDB6-3DF9-4AC2-AAC3-B9F6649D1AEF}"/>
              </a:ext>
            </a:extLst>
          </p:cNvPr>
          <p:cNvSpPr>
            <a:spLocks xmlns:a="http://schemas.openxmlformats.org/drawingml/2006/main" noGrp="1"/>
          </p:cNvSpPr>
          <p:nvPr/>
        </p:nvSpPr>
        <p:spPr>
          <a:xfrm xmlns:a="http://schemas.openxmlformats.org/drawingml/2006/main">
            <a:off x="640080" y="960120"/>
            <a:ext cx="786384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A marketplace must keep product listings, stock and order records consistent.</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Repeated checkout requests and service failures can cause duplicate orders or stock errors.</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Customers, sellers and administrators need different permissions.</a:t>
            </a:r>
            <a:endParaRPr sz="1500"/>
          </a:p>
        </p:txBody>
      </p:sp>
      <p:sp>
        <p:nvSpPr>
          <p:cNvPr id="6" name="Text 3">
            <a:extLst xmlns:a="http://schemas.openxmlformats.org/drawingml/2006/main">
              <a:ext uri="{FF2B5EF4-FFF2-40B4-BE49-F238E27FC236}">
                <a16:creationId xmlns:a16="http://schemas.microsoft.com/office/drawing/2014/main" id="{07E70CBA-0C20-4B19-A2EA-1AB94F2987F2}"/>
              </a:ext>
            </a:extLst>
          </p:cNvPr>
          <p:cNvSpPr>
            <a:spLocks xmlns:a="http://schemas.openxmlformats.org/drawingml/2006/main" noGrp="1"/>
          </p:cNvSpPr>
          <p:nvPr/>
        </p:nvSpPr>
        <p:spPr>
          <a:xfrm xmlns:a="http://schemas.openxmlformats.org/drawingml/2006/main">
            <a:off x="640080" y="2606040"/>
            <a:ext cx="7863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C55A11"/>
                </a:solidFill>
                <a:latin typeface="Times New Roman"/>
                <a:ea typeface="Times New Roman"/>
                <a:cs typeface="Times New Roman"/>
              </a:rPr>
              <a:t>Proposed Solution</a:t>
            </a:r>
            <a:endParaRPr sz="1700"/>
          </a:p>
        </p:txBody>
      </p:sp>
      <p:sp>
        <p:nvSpPr>
          <p:cNvPr id="7" name="Text 4">
            <a:extLst xmlns:a="http://schemas.openxmlformats.org/drawingml/2006/main">
              <a:ext uri="{FF2B5EF4-FFF2-40B4-BE49-F238E27FC236}">
                <a16:creationId xmlns:a16="http://schemas.microsoft.com/office/drawing/2014/main" id="{7B9838CB-DD6E-4E4C-8794-E9D0C5EA75BB}"/>
              </a:ext>
            </a:extLst>
          </p:cNvPr>
          <p:cNvSpPr>
            <a:spLocks xmlns:a="http://schemas.openxmlformats.org/drawingml/2006/main" noGrp="1"/>
          </p:cNvSpPr>
          <p:nvPr/>
        </p:nvSpPr>
        <p:spPr>
          <a:xfrm xmlns:a="http://schemas.openxmlformats.org/drawingml/2006/main">
            <a:off x="640080" y="3017520"/>
            <a:ext cx="786384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400">
                <a:solidFill>
                  <a:srgbClr val="333333"/>
                </a:solidFill>
                <a:latin typeface="Times New Roman"/>
                <a:ea typeface="Times New Roman"/>
                <a:cs typeface="Times New Roman"/>
              </a:rPr>
              <a:t>Separate Spring Boot services own users, products, orders and invoices.</a:t>
            </a:r>
            <a:endParaRPr sz="1400"/>
          </a:p>
          <a:p xmlns:a="http://schemas.openxmlformats.org/drawingml/2006/main">
            <a:pPr marL="342900" indent="-342900">
              <a:spcAft>
                <a:spcPts val="800"/>
              </a:spcAft>
              <a:buSzPct val="100000"/>
              <a:buChar char="•"/>
            </a:pPr>
            <a:r>
              <a:rPr sz="1400">
                <a:solidFill>
                  <a:srgbClr val="333333"/>
                </a:solidFill>
                <a:latin typeface="Times New Roman"/>
                <a:ea typeface="Times New Roman"/>
                <a:cs typeface="Times New Roman"/>
              </a:rPr>
              <a:t>Stock reservations and idempotency keys make checkout retries safe.</a:t>
            </a:r>
            <a:endParaRPr sz="1400"/>
          </a:p>
          <a:p xmlns:a="http://schemas.openxmlformats.org/drawingml/2006/main">
            <a:pPr marL="342900" indent="-342900">
              <a:spcAft>
                <a:spcPts val="800"/>
              </a:spcAft>
              <a:buSzPct val="100000"/>
              <a:buChar char="•"/>
            </a:pPr>
            <a:r>
              <a:rPr sz="1400">
                <a:solidFill>
                  <a:srgbClr val="333333"/>
                </a:solidFill>
                <a:latin typeface="Times New Roman"/>
                <a:ea typeface="Times New Roman"/>
                <a:cs typeface="Times New Roman"/>
              </a:rPr>
              <a:t>JWT authentication and ownership checks protect customer and seller data.</a:t>
            </a:r>
            <a:endParaRPr sz="1400"/>
          </a:p>
          <a:p xmlns:a="http://schemas.openxmlformats.org/drawingml/2006/main">
            <a:pPr marL="342900" indent="-342900">
              <a:spcAft>
                <a:spcPts val="800"/>
              </a:spcAft>
              <a:buSzPct val="100000"/>
              <a:buChar char="•"/>
            </a:pPr>
            <a:r>
              <a:rPr sz="1400">
                <a:solidFill>
                  <a:srgbClr val="333333"/>
                </a:solidFill>
                <a:latin typeface="Times New Roman"/>
                <a:ea typeface="Times New Roman"/>
                <a:cs typeface="Times New Roman"/>
              </a:rPr>
              <a:t>REST APIs support shopping, SOAP generates invoices, and AOP records execution details.</a:t>
            </a:r>
            <a:endParaRPr sz="1400"/>
          </a:p>
        </p:txBody>
      </p:sp>
    </p:spTree>
    <p:extLst>
      <p:ext uri="{BB962C8B-B14F-4D97-AF65-F5344CB8AC3E}">
        <p14:creationId xmlns:p14="http://schemas.microsoft.com/office/powerpoint/2010/main" val="44417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ECC6D230-95DF-430E-9DC4-EC63F6381E51}"/>
              </a:ext>
            </a:extLst>
          </p:cNvPr>
          <p:cNvPicPr>
            <a:picLocks xmlns:a="http://schemas.openxmlformats.org/drawingml/2006/main" noChangeAspect="1"/>
          </p:cNvPicPr>
          <p:nvPr/>
        </p:nvPicPr>
        <p:blipFill>
          <a:blip xmlns:r="http://schemas.openxmlformats.org/officeDocument/2006/relationships" xmlns:a="http://schemas.openxmlformats.org/drawingml/2006/main" r:embed="R8fe9ceacacd346b6"/>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44A97A6C-134A-461D-8D37-DE4586C06F1D}"/>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E6229E29-0021-446F-B6E1-D5247D0B97BF}"/>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Objectives</a:t>
            </a:r>
            <a:endParaRPr sz="1800"/>
          </a:p>
        </p:txBody>
      </p:sp>
      <p:sp>
        <p:nvSpPr>
          <p:cNvPr id="5" name="Text 2">
            <a:extLst xmlns:a="http://schemas.openxmlformats.org/drawingml/2006/main">
              <a:ext uri="{FF2B5EF4-FFF2-40B4-BE49-F238E27FC236}">
                <a16:creationId xmlns:a16="http://schemas.microsoft.com/office/drawing/2014/main" id="{7FBE4AAE-CCA4-4AB5-8AB0-D40802860CC3}"/>
              </a:ext>
            </a:extLst>
          </p:cNvPr>
          <p:cNvSpPr>
            <a:spLocks xmlns:a="http://schemas.openxmlformats.org/drawingml/2006/main" noGrp="1"/>
          </p:cNvSpPr>
          <p:nvPr/>
        </p:nvSpPr>
        <p:spPr>
          <a:xfrm xmlns:a="http://schemas.openxmlformats.org/drawingml/2006/main">
            <a:off x="640080" y="1005840"/>
            <a:ext cx="786384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Provide product browsing with search, filters, pagination and sorting.</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Allow sellers to upload local photos and manage their own listings.</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Support customer checkout, order history and controlled cancellation.</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Generate invoices through a SOAP service using confirmed order data.</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Protect operations with JWT and Customer, Seller and Admin roles.</a:t>
            </a:r>
            <a:endParaRPr sz="1500"/>
          </a:p>
          <a:p xmlns:a="http://schemas.openxmlformats.org/drawingml/2006/main">
            <a:pPr marL="342900" indent="-342900">
              <a:spcAft>
                <a:spcPts val="800"/>
              </a:spcAft>
              <a:buSzPct val="100000"/>
              <a:buChar char="•"/>
            </a:pPr>
            <a:r>
              <a:rPr sz="1500">
                <a:solidFill>
                  <a:srgbClr val="333333"/>
                </a:solidFill>
                <a:latin typeface="Times New Roman"/>
                <a:ea typeface="Times New Roman"/>
                <a:cs typeface="Times New Roman"/>
              </a:rPr>
              <a:t>Demonstrate Spring Data JPA, transactions, AOP logging and validation.</a:t>
            </a:r>
            <a:endParaRPr sz="1500"/>
          </a:p>
        </p:txBody>
      </p:sp>
    </p:spTree>
    <p:extLst>
      <p:ext uri="{BB962C8B-B14F-4D97-AF65-F5344CB8AC3E}">
        <p14:creationId xmlns:p14="http://schemas.microsoft.com/office/powerpoint/2010/main" val="12902558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17D1B8C-0DF0-40FA-BB46-789639F8C05F}"/>
              </a:ext>
            </a:extLst>
          </p:cNvPr>
          <p:cNvPicPr>
            <a:picLocks xmlns:a="http://schemas.openxmlformats.org/drawingml/2006/main" noChangeAspect="1"/>
          </p:cNvPicPr>
          <p:nvPr/>
        </p:nvPicPr>
        <p:blipFill>
          <a:blip xmlns:r="http://schemas.openxmlformats.org/officeDocument/2006/relationships" xmlns:a="http://schemas.openxmlformats.org/drawingml/2006/main" r:embed="Rc6d1552ad5544bf8"/>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D2B85D4-4DBE-4208-9371-19592F627D3B}"/>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699A8D73-2E84-4ABB-99E6-F8CD65A7EF40}"/>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1: Authentication &amp; User Roles</a:t>
            </a:r>
            <a:endParaRPr sz="1800"/>
          </a:p>
        </p:txBody>
      </p:sp>
      <p:sp>
        <p:nvSpPr>
          <p:cNvPr id="5" name="Text 2">
            <a:extLst xmlns:a="http://schemas.openxmlformats.org/drawingml/2006/main">
              <a:ext uri="{FF2B5EF4-FFF2-40B4-BE49-F238E27FC236}">
                <a16:creationId xmlns:a16="http://schemas.microsoft.com/office/drawing/2014/main" id="{3A1B7936-A28F-4843-9416-66D09DD65A2B}"/>
              </a:ext>
            </a:extLst>
          </p:cNvPr>
          <p:cNvSpPr>
            <a:spLocks xmlns:a="http://schemas.openxmlformats.org/drawingml/2006/main" noGrp="1"/>
          </p:cNvSpPr>
          <p:nvPr/>
        </p:nvSpPr>
        <p:spPr>
          <a:xfrm xmlns:a="http://schemas.openxmlformats.org/drawingml/2006/main">
            <a:off x="548640" y="1005840"/>
            <a:ext cx="3749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xmlns:a="http://schemas.openxmlformats.org/drawingml/2006/main">
              <a:ext uri="{FF2B5EF4-FFF2-40B4-BE49-F238E27FC236}">
                <a16:creationId xmlns:a16="http://schemas.microsoft.com/office/drawing/2014/main" id="{98DF1F4A-FD7C-4A18-AF66-F656BBC3E75F}"/>
              </a:ext>
            </a:extLst>
          </p:cNvPr>
          <p:cNvSpPr>
            <a:spLocks xmlns:a="http://schemas.openxmlformats.org/drawingml/2006/main" noGrp="1"/>
          </p:cNvSpPr>
          <p:nvPr/>
        </p:nvSpPr>
        <p:spPr>
          <a:xfrm xmlns:a="http://schemas.openxmlformats.org/drawingml/2006/main">
            <a:off x="548640" y="1417320"/>
            <a:ext cx="374904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Customer registration and login</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BCrypt password hashing</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Signed JWT access tokens</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Customer, Seller and Admin access</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Separate admin ID login at /admin</a:t>
            </a:r>
            <a:endParaRPr sz="1400"/>
          </a:p>
        </p:txBody>
      </p:sp>
      <p:sp>
        <p:nvSpPr>
          <p:cNvPr id="7" name="Shape 4">
            <a:extLst xmlns:a="http://schemas.openxmlformats.org/drawingml/2006/main">
              <a:ext uri="{FF2B5EF4-FFF2-40B4-BE49-F238E27FC236}">
                <a16:creationId xmlns:a16="http://schemas.microsoft.com/office/drawing/2014/main" id="{5A1A61EF-D65F-4436-A8E0-9324AD698BA7}"/>
              </a:ext>
            </a:extLst>
          </p:cNvPr>
          <p:cNvSpPr>
            <a:spLocks xmlns:a="http://schemas.openxmlformats.org/drawingml/2006/main" noGrp="1"/>
          </p:cNvSpPr>
          <p:nvPr/>
        </p:nvSpPr>
        <p:spPr>
          <a:xfrm xmlns:a="http://schemas.openxmlformats.org/drawingml/2006/main">
            <a:off x="4663440" y="1005840"/>
            <a:ext cx="4023360" cy="3611880"/>
          </a:xfrm>
          <a:prstGeom xmlns:a="http://schemas.openxmlformats.org/drawingml/2006/main" prst="rect">
            <a:avLst/>
          </a:prstGeom>
          <a:solidFill xmlns:a="http://schemas.openxmlformats.org/drawingml/2006/main">
            <a:srgbClr val="FFF6EF"/>
          </a:solidFill>
          <a:ln xmlns:a="http://schemas.openxmlformats.org/drawingml/2006/main" w="12700">
            <a:solidFill>
              <a:srgbClr val="F2D3BE"/>
            </a:solidFill>
            <a:prstDash val="solid"/>
          </a:ln>
        </p:spPr>
      </p:sp>
      <p:sp>
        <p:nvSpPr>
          <p:cNvPr id="8" name="Shape 5">
            <a:extLst xmlns:a="http://schemas.openxmlformats.org/drawingml/2006/main">
              <a:ext uri="{FF2B5EF4-FFF2-40B4-BE49-F238E27FC236}">
                <a16:creationId xmlns:a16="http://schemas.microsoft.com/office/drawing/2014/main" id="{B311DE63-F95B-4FA9-A853-05DC49B5C987}"/>
              </a:ext>
            </a:extLst>
          </p:cNvPr>
          <p:cNvSpPr>
            <a:spLocks xmlns:a="http://schemas.openxmlformats.org/drawingml/2006/main" noGrp="1"/>
          </p:cNvSpPr>
          <p:nvPr/>
        </p:nvSpPr>
        <p:spPr>
          <a:xfrm xmlns:a="http://schemas.openxmlformats.org/drawingml/2006/main">
            <a:off x="4663440" y="1005840"/>
            <a:ext cx="4023360" cy="73152"/>
          </a:xfrm>
          <a:prstGeom xmlns:a="http://schemas.openxmlformats.org/drawingml/2006/main" prst="rect">
            <a:avLst/>
          </a:prstGeom>
          <a:solidFill xmlns:a="http://schemas.openxmlformats.org/drawingml/2006/main">
            <a:srgbClr val="C55A11"/>
          </a:solidFill>
          <a:ln xmlns:a="http://schemas.openxmlformats.org/drawingml/2006/main" w="12700">
            <a:solidFill>
              <a:srgbClr val="C55A11"/>
            </a:solidFill>
            <a:prstDash val="solid"/>
          </a:ln>
        </p:spPr>
      </p:sp>
      <p:sp>
        <p:nvSpPr>
          <p:cNvPr id="9" name="Text 6">
            <a:extLst xmlns:a="http://schemas.openxmlformats.org/drawingml/2006/main">
              <a:ext uri="{FF2B5EF4-FFF2-40B4-BE49-F238E27FC236}">
                <a16:creationId xmlns:a16="http://schemas.microsoft.com/office/drawing/2014/main" id="{8ED95BB5-062C-4CD9-9D37-269A7668C61E}"/>
              </a:ext>
            </a:extLst>
          </p:cNvPr>
          <p:cNvSpPr>
            <a:spLocks xmlns:a="http://schemas.openxmlformats.org/drawingml/2006/main" noGrp="1"/>
          </p:cNvSpPr>
          <p:nvPr/>
        </p:nvSpPr>
        <p:spPr>
          <a:xfrm xmlns:a="http://schemas.openxmlformats.org/drawingml/2006/main">
            <a:off x="4846320" y="1188720"/>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xmlns:a="http://schemas.openxmlformats.org/drawingml/2006/main">
              <a:ext uri="{FF2B5EF4-FFF2-40B4-BE49-F238E27FC236}">
                <a16:creationId xmlns:a16="http://schemas.microsoft.com/office/drawing/2014/main" id="{D68F3C26-899A-49DA-B7E8-B3F5A52863D5}"/>
              </a:ext>
            </a:extLst>
          </p:cNvPr>
          <p:cNvSpPr>
            <a:spLocks xmlns:a="http://schemas.openxmlformats.org/drawingml/2006/main" noGrp="1"/>
          </p:cNvSpPr>
          <p:nvPr/>
        </p:nvSpPr>
        <p:spPr>
          <a:xfrm xmlns:a="http://schemas.openxmlformats.org/drawingml/2006/main">
            <a:off x="4846320" y="1600200"/>
            <a:ext cx="365760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333333"/>
                </a:solidFill>
                <a:latin typeface="Times New Roman"/>
                <a:ea typeface="Times New Roman"/>
                <a:cs typeface="Times New Roman"/>
              </a:rPr>
              <a:t>User Service verifies credentials and returns a signed JWT. Angular sends it as a Bearer token through the gateway. Each business service validates the token and checks roles or ownership. Public registration cannot grant administrator access.</a:t>
            </a:r>
            <a:endParaRPr sz="1300"/>
          </a:p>
        </p:txBody>
      </p:sp>
    </p:spTree>
    <p:extLst>
      <p:ext uri="{BB962C8B-B14F-4D97-AF65-F5344CB8AC3E}">
        <p14:creationId xmlns:p14="http://schemas.microsoft.com/office/powerpoint/2010/main" val="19951768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0495D7D-AA5A-477E-ACCB-FD4E2F0E19C3}"/>
              </a:ext>
            </a:extLst>
          </p:cNvPr>
          <p:cNvPicPr>
            <a:picLocks xmlns:a="http://schemas.openxmlformats.org/drawingml/2006/main" noChangeAspect="1"/>
          </p:cNvPicPr>
          <p:nvPr/>
        </p:nvPicPr>
        <p:blipFill>
          <a:blip xmlns:r="http://schemas.openxmlformats.org/officeDocument/2006/relationships" xmlns:a="http://schemas.openxmlformats.org/drawingml/2006/main" r:embed="R16b5963343524a63"/>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ED589145-7942-4DAF-993A-85FE84417197}"/>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52CB1A2F-60AF-4FDE-8AA2-280DEA6A0D64}"/>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1: Authentication Screens</a:t>
            </a:r>
            <a:endParaRPr sz="1800"/>
          </a:p>
        </p:txBody>
      </p:sp>
      <p:pic>
        <p:nvPicPr>
          <p:cNvPr id="5" name="">
            <a:extLst xmlns:a="http://schemas.openxmlformats.org/drawingml/2006/main">
              <a:ext uri="{FF2B5EF4-FFF2-40B4-BE49-F238E27FC236}">
                <a16:creationId xmlns:a16="http://schemas.microsoft.com/office/drawing/2014/main" id="{6D60E502-6AA0-4B3E-A1B3-4F73FEB88400}"/>
              </a:ext>
            </a:extLst>
          </p:cNvPr>
          <p:cNvPicPr>
            <a:picLocks xmlns:a="http://schemas.openxmlformats.org/drawingml/2006/main" noChangeAspect="1"/>
          </p:cNvPicPr>
          <p:nvPr/>
        </p:nvPicPr>
        <p:blipFill>
          <a:blip xmlns:r="http://schemas.openxmlformats.org/officeDocument/2006/relationships" xmlns:a="http://schemas.openxmlformats.org/drawingml/2006/main" r:embed="Ra3abc9e3386b4798"/>
          <a:stretch xmlns:a="http://schemas.openxmlformats.org/drawingml/2006/main"/>
        </p:blipFill>
        <p:spPr>
          <a:xfrm xmlns:a="http://schemas.openxmlformats.org/drawingml/2006/main">
            <a:off x="428625" y="948630"/>
            <a:ext cx="5381625" cy="3027164"/>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6D065F1-5980-4C1D-88C7-E86C05BF8B76}"/>
              </a:ext>
            </a:extLst>
          </p:cNvPr>
          <p:cNvPicPr>
            <a:picLocks xmlns:a="http://schemas.openxmlformats.org/drawingml/2006/main" noChangeAspect="1"/>
          </p:cNvPicPr>
          <p:nvPr/>
        </p:nvPicPr>
        <p:blipFill>
          <a:blip xmlns:r="http://schemas.openxmlformats.org/officeDocument/2006/relationships" xmlns:a="http://schemas.openxmlformats.org/drawingml/2006/main" r:embed="R5ea242c1f329487d"/>
          <a:srcRect xmlns:a="http://schemas.openxmlformats.org/drawingml/2006/main" l="31000" t="19000" r="32000" b="6000"/>
          <a:stretch xmlns:a="http://schemas.openxmlformats.org/drawingml/2006/main"/>
        </p:blipFill>
        <p:spPr>
          <a:xfrm xmlns:a="http://schemas.openxmlformats.org/drawingml/2006/main">
            <a:off x="6143625" y="914400"/>
            <a:ext cx="2505075" cy="30861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EF24CC1-B015-4446-A874-B4F046D46028}"/>
              </a:ext>
            </a:extLst>
          </p:cNvPr>
          <p:cNvSpPr>
            <a:spLocks xmlns:a="http://schemas.openxmlformats.org/drawingml/2006/main" noGrp="1"/>
          </p:cNvSpPr>
          <p:nvPr/>
        </p:nvSpPr>
        <p:spPr>
          <a:xfrm xmlns:a="http://schemas.openxmlformats.org/drawingml/2006/main">
            <a:off x="666750" y="419100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C55A11"/>
                </a:solidFill>
                <a:latin typeface="Times New Roman"/>
                <a:ea typeface="Times New Roman"/>
                <a:cs typeface="Times New Roman"/>
              </a:defRPr>
            </a:defPPr>
          </a:lstStyle>
          <a:p xmlns:a="http://schemas.openxmlformats.org/drawingml/2006/main">
            <a:pPr>
              <a:defRPr sz="1575" b="1">
                <a:solidFill>
                  <a:srgbClr val="C55A11"/>
                </a:solidFill>
                <a:latin typeface="Times New Roman"/>
                <a:ea typeface="Times New Roman"/>
                <a:cs typeface="Times New Roman"/>
              </a:defRPr>
            </a:pPr>
            <a:r>
              <a:rPr sz="1575" b="1">
                <a:solidFill>
                  <a:srgbClr val="C55A11"/>
                </a:solidFill>
                <a:latin typeface="Times New Roman"/>
                <a:ea typeface="Times New Roman"/>
                <a:cs typeface="Times New Roman"/>
              </a:rPr>
              <a:t>Customer login</a:t>
            </a:r>
          </a:p>
        </p:txBody>
      </p:sp>
      <p:sp>
        <p:nvSpPr>
          <p:cNvPr id="8" name="">
            <a:extLst xmlns:a="http://schemas.openxmlformats.org/drawingml/2006/main">
              <a:ext uri="{FF2B5EF4-FFF2-40B4-BE49-F238E27FC236}">
                <a16:creationId xmlns:a16="http://schemas.microsoft.com/office/drawing/2014/main" id="{30173C90-330C-41D4-AF57-825F6376EB1B}"/>
              </a:ext>
            </a:extLst>
          </p:cNvPr>
          <p:cNvSpPr>
            <a:spLocks xmlns:a="http://schemas.openxmlformats.org/drawingml/2006/main" noGrp="1"/>
          </p:cNvSpPr>
          <p:nvPr/>
        </p:nvSpPr>
        <p:spPr>
          <a:xfrm xmlns:a="http://schemas.openxmlformats.org/drawingml/2006/main">
            <a:off x="6019800" y="4191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C55A11"/>
                </a:solidFill>
                <a:latin typeface="Times New Roman"/>
                <a:ea typeface="Times New Roman"/>
                <a:cs typeface="Times New Roman"/>
              </a:defRPr>
            </a:defPPr>
          </a:lstStyle>
          <a:p xmlns:a="http://schemas.openxmlformats.org/drawingml/2006/main">
            <a:pPr>
              <a:defRPr sz="1575" b="1">
                <a:solidFill>
                  <a:srgbClr val="C55A11"/>
                </a:solidFill>
                <a:latin typeface="Times New Roman"/>
                <a:ea typeface="Times New Roman"/>
                <a:cs typeface="Times New Roman"/>
              </a:defRPr>
            </a:pPr>
            <a:r>
              <a:rPr sz="1575" b="1">
                <a:solidFill>
                  <a:srgbClr val="C55A11"/>
                </a:solidFill>
                <a:latin typeface="Times New Roman"/>
                <a:ea typeface="Times New Roman"/>
                <a:cs typeface="Times New Roman"/>
              </a:rPr>
              <a:t>Administrator login</a:t>
            </a:r>
          </a:p>
        </p:txBody>
      </p:sp>
      <p:sp>
        <p:nvSpPr>
          <p:cNvPr id="9" name="">
            <a:extLst xmlns:a="http://schemas.openxmlformats.org/drawingml/2006/main">
              <a:ext uri="{FF2B5EF4-FFF2-40B4-BE49-F238E27FC236}">
                <a16:creationId xmlns:a16="http://schemas.microsoft.com/office/drawing/2014/main" id="{C777E107-A3DF-4694-BAFF-84C0439C6B21}"/>
              </a:ext>
            </a:extLst>
          </p:cNvPr>
          <p:cNvSpPr>
            <a:spLocks xmlns:a="http://schemas.openxmlformats.org/drawingml/2006/main" noGrp="1"/>
          </p:cNvSpPr>
          <p:nvPr/>
        </p:nvSpPr>
        <p:spPr>
          <a:xfrm xmlns:a="http://schemas.openxmlformats.org/drawingml/2006/main">
            <a:off x="666750" y="45434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002060"/>
                </a:solidFill>
                <a:latin typeface="Times New Roman"/>
                <a:ea typeface="Times New Roman"/>
                <a:cs typeface="Times New Roman"/>
              </a:defRPr>
            </a:defPPr>
          </a:lstStyle>
          <a:p xmlns:a="http://schemas.openxmlformats.org/drawingml/2006/main">
            <a:pPr>
              <a:defRPr sz="1425" b="0">
                <a:solidFill>
                  <a:srgbClr val="002060"/>
                </a:solidFill>
                <a:latin typeface="Times New Roman"/>
                <a:ea typeface="Times New Roman"/>
                <a:cs typeface="Times New Roman"/>
              </a:defRPr>
            </a:pPr>
            <a:r>
              <a:rPr sz="1425" b="0">
                <a:solidFill>
                  <a:srgbClr val="002060"/>
                </a:solidFill>
                <a:latin typeface="Times New Roman"/>
                <a:ea typeface="Times New Roman"/>
                <a:cs typeface="Times New Roman"/>
              </a:rPr>
              <a:t>Email and password for customers. A separate admin ID grants access only to an authorised administrator.</a:t>
            </a:r>
          </a:p>
        </p:txBody>
      </p:sp>
    </p:spTree>
    <p:extLst>
      <p:ext uri="{BB962C8B-B14F-4D97-AF65-F5344CB8AC3E}">
        <p14:creationId xmlns:p14="http://schemas.microsoft.com/office/powerpoint/2010/main" val="936696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4A959F6-FAE7-47AC-A231-EA5B9909C5C5}"/>
              </a:ext>
            </a:extLst>
          </p:cNvPr>
          <p:cNvPicPr>
            <a:picLocks xmlns:a="http://schemas.openxmlformats.org/drawingml/2006/main" noChangeAspect="1"/>
          </p:cNvPicPr>
          <p:nvPr/>
        </p:nvPicPr>
        <p:blipFill>
          <a:blip xmlns:r="http://schemas.openxmlformats.org/officeDocument/2006/relationships" xmlns:a="http://schemas.openxmlformats.org/drawingml/2006/main" r:embed="R0628d68be2704da7"/>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7A7F1A21-B1B2-4D44-90DF-1B56B39DD409}"/>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595FAE6E-726B-431F-89D3-74D32574B0A7}"/>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2: Products &amp; Inventory</a:t>
            </a:r>
            <a:endParaRPr sz="1800"/>
          </a:p>
        </p:txBody>
      </p:sp>
      <p:sp>
        <p:nvSpPr>
          <p:cNvPr id="5" name="Text 2">
            <a:extLst xmlns:a="http://schemas.openxmlformats.org/drawingml/2006/main">
              <a:ext uri="{FF2B5EF4-FFF2-40B4-BE49-F238E27FC236}">
                <a16:creationId xmlns:a16="http://schemas.microsoft.com/office/drawing/2014/main" id="{22B80BCD-494B-4F89-901F-7CB838F55235}"/>
              </a:ext>
            </a:extLst>
          </p:cNvPr>
          <p:cNvSpPr>
            <a:spLocks xmlns:a="http://schemas.openxmlformats.org/drawingml/2006/main" noGrp="1"/>
          </p:cNvSpPr>
          <p:nvPr/>
        </p:nvSpPr>
        <p:spPr>
          <a:xfrm xmlns:a="http://schemas.openxmlformats.org/drawingml/2006/main">
            <a:off x="548640" y="1005840"/>
            <a:ext cx="3749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xmlns:a="http://schemas.openxmlformats.org/drawingml/2006/main">
              <a:ext uri="{FF2B5EF4-FFF2-40B4-BE49-F238E27FC236}">
                <a16:creationId xmlns:a16="http://schemas.microsoft.com/office/drawing/2014/main" id="{C26FD687-E072-4282-8C2F-3962190FE4F0}"/>
              </a:ext>
            </a:extLst>
          </p:cNvPr>
          <p:cNvSpPr>
            <a:spLocks xmlns:a="http://schemas.openxmlformats.org/drawingml/2006/main" noGrp="1"/>
          </p:cNvSpPr>
          <p:nvPr/>
        </p:nvSpPr>
        <p:spPr>
          <a:xfrm xmlns:a="http://schemas.openxmlformats.org/drawingml/2006/main">
            <a:off x="548640" y="1417320"/>
            <a:ext cx="374904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Browse, search, filter and sort products</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Pagination across the full catalogue</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Seller and admin product management</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Upload JPG/PNG photos to local storage</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Generated product codes and stock control</a:t>
            </a:r>
            <a:endParaRPr sz="1400"/>
          </a:p>
        </p:txBody>
      </p:sp>
      <p:sp>
        <p:nvSpPr>
          <p:cNvPr id="7" name="Shape 4">
            <a:extLst xmlns:a="http://schemas.openxmlformats.org/drawingml/2006/main">
              <a:ext uri="{FF2B5EF4-FFF2-40B4-BE49-F238E27FC236}">
                <a16:creationId xmlns:a16="http://schemas.microsoft.com/office/drawing/2014/main" id="{E7E8C3F2-6F90-4A2B-A713-BE1CCB83CF04}"/>
              </a:ext>
            </a:extLst>
          </p:cNvPr>
          <p:cNvSpPr>
            <a:spLocks xmlns:a="http://schemas.openxmlformats.org/drawingml/2006/main" noGrp="1"/>
          </p:cNvSpPr>
          <p:nvPr/>
        </p:nvSpPr>
        <p:spPr>
          <a:xfrm xmlns:a="http://schemas.openxmlformats.org/drawingml/2006/main">
            <a:off x="4663440" y="1005840"/>
            <a:ext cx="4023360" cy="3611880"/>
          </a:xfrm>
          <a:prstGeom xmlns:a="http://schemas.openxmlformats.org/drawingml/2006/main" prst="rect">
            <a:avLst/>
          </a:prstGeom>
          <a:solidFill xmlns:a="http://schemas.openxmlformats.org/drawingml/2006/main">
            <a:srgbClr val="FFF6EF"/>
          </a:solidFill>
          <a:ln xmlns:a="http://schemas.openxmlformats.org/drawingml/2006/main" w="12700">
            <a:solidFill>
              <a:srgbClr val="F2D3BE"/>
            </a:solidFill>
            <a:prstDash val="solid"/>
          </a:ln>
        </p:spPr>
      </p:sp>
      <p:sp>
        <p:nvSpPr>
          <p:cNvPr id="8" name="Shape 5">
            <a:extLst xmlns:a="http://schemas.openxmlformats.org/drawingml/2006/main">
              <a:ext uri="{FF2B5EF4-FFF2-40B4-BE49-F238E27FC236}">
                <a16:creationId xmlns:a16="http://schemas.microsoft.com/office/drawing/2014/main" id="{BB797107-69A1-428F-BB21-05C31924FF08}"/>
              </a:ext>
            </a:extLst>
          </p:cNvPr>
          <p:cNvSpPr>
            <a:spLocks xmlns:a="http://schemas.openxmlformats.org/drawingml/2006/main" noGrp="1"/>
          </p:cNvSpPr>
          <p:nvPr/>
        </p:nvSpPr>
        <p:spPr>
          <a:xfrm xmlns:a="http://schemas.openxmlformats.org/drawingml/2006/main">
            <a:off x="4663440" y="1005840"/>
            <a:ext cx="4023360" cy="73152"/>
          </a:xfrm>
          <a:prstGeom xmlns:a="http://schemas.openxmlformats.org/drawingml/2006/main" prst="rect">
            <a:avLst/>
          </a:prstGeom>
          <a:solidFill xmlns:a="http://schemas.openxmlformats.org/drawingml/2006/main">
            <a:srgbClr val="C55A11"/>
          </a:solidFill>
          <a:ln xmlns:a="http://schemas.openxmlformats.org/drawingml/2006/main" w="12700">
            <a:solidFill>
              <a:srgbClr val="C55A11"/>
            </a:solidFill>
            <a:prstDash val="solid"/>
          </a:ln>
        </p:spPr>
      </p:sp>
      <p:sp>
        <p:nvSpPr>
          <p:cNvPr id="9" name="Text 6">
            <a:extLst xmlns:a="http://schemas.openxmlformats.org/drawingml/2006/main">
              <a:ext uri="{FF2B5EF4-FFF2-40B4-BE49-F238E27FC236}">
                <a16:creationId xmlns:a16="http://schemas.microsoft.com/office/drawing/2014/main" id="{37F83D10-6E8B-4E94-9D35-F44D8D581FD5}"/>
              </a:ext>
            </a:extLst>
          </p:cNvPr>
          <p:cNvSpPr>
            <a:spLocks xmlns:a="http://schemas.openxmlformats.org/drawingml/2006/main" noGrp="1"/>
          </p:cNvSpPr>
          <p:nvPr/>
        </p:nvSpPr>
        <p:spPr>
          <a:xfrm xmlns:a="http://schemas.openxmlformats.org/drawingml/2006/main">
            <a:off x="4846320" y="1188720"/>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xmlns:a="http://schemas.openxmlformats.org/drawingml/2006/main">
              <a:ext uri="{FF2B5EF4-FFF2-40B4-BE49-F238E27FC236}">
                <a16:creationId xmlns:a16="http://schemas.microsoft.com/office/drawing/2014/main" id="{B21968D6-F2DB-44DC-8050-A85132DCB258}"/>
              </a:ext>
            </a:extLst>
          </p:cNvPr>
          <p:cNvSpPr>
            <a:spLocks xmlns:a="http://schemas.openxmlformats.org/drawingml/2006/main" noGrp="1"/>
          </p:cNvSpPr>
          <p:nvPr/>
        </p:nvSpPr>
        <p:spPr>
          <a:xfrm xmlns:a="http://schemas.openxmlformats.org/drawingml/2006/main">
            <a:off x="4846320" y="1600200"/>
            <a:ext cx="365760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333333"/>
                </a:solidFill>
                <a:latin typeface="Times New Roman"/>
                <a:ea typeface="Times New Roman"/>
                <a:cs typeface="Times New Roman"/>
              </a:rPr>
              <a:t>Product Service stores listing details and inventory. Sellers can change only their own products, while admins can manage all listings. The service generates a product code when omitted. Uploaded images stay on disk, with their paths in the database.</a:t>
            </a:r>
            <a:endParaRPr sz="1300"/>
          </a:p>
        </p:txBody>
      </p:sp>
    </p:spTree>
    <p:extLst>
      <p:ext uri="{BB962C8B-B14F-4D97-AF65-F5344CB8AC3E}">
        <p14:creationId xmlns:p14="http://schemas.microsoft.com/office/powerpoint/2010/main" val="16718730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0BEB5B5-0F87-42E1-AB50-CCD90ACEED59}"/>
              </a:ext>
            </a:extLst>
          </p:cNvPr>
          <p:cNvPicPr>
            <a:picLocks xmlns:a="http://schemas.openxmlformats.org/drawingml/2006/main" noChangeAspect="1"/>
          </p:cNvPicPr>
          <p:nvPr/>
        </p:nvPicPr>
        <p:blipFill>
          <a:blip xmlns:r="http://schemas.openxmlformats.org/officeDocument/2006/relationships" xmlns:a="http://schemas.openxmlformats.org/drawingml/2006/main" r:embed="Rc11a4432473b450e"/>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186B50FF-970F-44D2-A3FA-D5D319DE3579}"/>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B5DB1641-9AFC-4611-9EF3-C9DCFB6CAD41}"/>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2: Product Catalogue Output</a:t>
            </a:r>
            <a:endParaRPr sz="1800"/>
          </a:p>
        </p:txBody>
      </p:sp>
      <p:pic>
        <p:nvPicPr>
          <p:cNvPr id="5" name="">
            <a:extLst xmlns:a="http://schemas.openxmlformats.org/drawingml/2006/main">
              <a:ext uri="{FF2B5EF4-FFF2-40B4-BE49-F238E27FC236}">
                <a16:creationId xmlns:a16="http://schemas.microsoft.com/office/drawing/2014/main" id="{77C5E57F-3DE2-4D3A-9F14-DF3E69C4057C}"/>
              </a:ext>
            </a:extLst>
          </p:cNvPr>
          <p:cNvPicPr>
            <a:picLocks xmlns:a="http://schemas.openxmlformats.org/drawingml/2006/main" noChangeAspect="1"/>
          </p:cNvPicPr>
          <p:nvPr/>
        </p:nvPicPr>
        <p:blipFill>
          <a:blip xmlns:r="http://schemas.openxmlformats.org/officeDocument/2006/relationships" xmlns:a="http://schemas.openxmlformats.org/drawingml/2006/main" r:embed="Rb3fd87f643874edf"/>
          <a:stretch xmlns:a="http://schemas.openxmlformats.org/drawingml/2006/main"/>
        </p:blipFill>
        <p:spPr>
          <a:xfrm xmlns:a="http://schemas.openxmlformats.org/drawingml/2006/main">
            <a:off x="1145107" y="866775"/>
            <a:ext cx="6853786" cy="3857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610599D-BD45-4F26-AB4A-7FEA0501859A}"/>
              </a:ext>
            </a:extLst>
          </p:cNvPr>
          <p:cNvSpPr>
            <a:spLocks xmlns:a="http://schemas.openxmlformats.org/drawingml/2006/main" noGrp="1"/>
          </p:cNvSpPr>
          <p:nvPr/>
        </p:nvSpPr>
        <p:spPr>
          <a:xfrm xmlns:a="http://schemas.openxmlformats.org/drawingml/2006/main">
            <a:off x="619125" y="4781550"/>
            <a:ext cx="790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002060"/>
                </a:solidFill>
                <a:latin typeface="Times New Roman"/>
                <a:ea typeface="Times New Roman"/>
                <a:cs typeface="Times New Roman"/>
              </a:defRPr>
            </a:defPPr>
          </a:lstStyle>
          <a:p xmlns:a="http://schemas.openxmlformats.org/drawingml/2006/main">
            <a:pPr>
              <a:defRPr sz="1425" b="0">
                <a:solidFill>
                  <a:srgbClr val="002060"/>
                </a:solidFill>
                <a:latin typeface="Times New Roman"/>
                <a:ea typeface="Times New Roman"/>
                <a:cs typeface="Times New Roman"/>
              </a:defRPr>
            </a:pPr>
            <a:r>
              <a:rPr sz="1425" b="0">
                <a:solidFill>
                  <a:srgbClr val="002060"/>
                </a:solidFill>
                <a:latin typeface="Times New Roman"/>
                <a:ea typeface="Times New Roman"/>
                <a:cs typeface="Times New Roman"/>
              </a:rPr>
              <a:t>Category collections with product photos, prices and stock availability</a:t>
            </a:r>
          </a:p>
        </p:txBody>
      </p:sp>
    </p:spTree>
    <p:extLst>
      <p:ext uri="{BB962C8B-B14F-4D97-AF65-F5344CB8AC3E}">
        <p14:creationId xmlns:p14="http://schemas.microsoft.com/office/powerpoint/2010/main" val="7334515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C35805E2-B70D-4743-9902-8E91C2BA0920}"/>
              </a:ext>
            </a:extLst>
          </p:cNvPr>
          <p:cNvPicPr>
            <a:picLocks xmlns:a="http://schemas.openxmlformats.org/drawingml/2006/main" noChangeAspect="1"/>
          </p:cNvPicPr>
          <p:nvPr/>
        </p:nvPicPr>
        <p:blipFill>
          <a:blip xmlns:r="http://schemas.openxmlformats.org/officeDocument/2006/relationships" xmlns:a="http://schemas.openxmlformats.org/drawingml/2006/main" r:embed="R2fd4286c26d24623"/>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9D3A83C-1ACA-4209-8D9B-222B6B863702}"/>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9A8C3721-00F5-4DD6-B93B-73A1032FA2E1}"/>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3: Checkout &amp; Order Management</a:t>
            </a:r>
            <a:endParaRPr sz="1800"/>
          </a:p>
        </p:txBody>
      </p:sp>
      <p:sp>
        <p:nvSpPr>
          <p:cNvPr id="5" name="Text 2">
            <a:extLst xmlns:a="http://schemas.openxmlformats.org/drawingml/2006/main">
              <a:ext uri="{FF2B5EF4-FFF2-40B4-BE49-F238E27FC236}">
                <a16:creationId xmlns:a16="http://schemas.microsoft.com/office/drawing/2014/main" id="{984ECA6B-7189-4102-A8D3-758A8F9DD6D0}"/>
              </a:ext>
            </a:extLst>
          </p:cNvPr>
          <p:cNvSpPr>
            <a:spLocks xmlns:a="http://schemas.openxmlformats.org/drawingml/2006/main" noGrp="1"/>
          </p:cNvSpPr>
          <p:nvPr/>
        </p:nvSpPr>
        <p:spPr>
          <a:xfrm xmlns:a="http://schemas.openxmlformats.org/drawingml/2006/main">
            <a:off x="548640" y="1005840"/>
            <a:ext cx="3749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xmlns:a="http://schemas.openxmlformats.org/drawingml/2006/main">
              <a:ext uri="{FF2B5EF4-FFF2-40B4-BE49-F238E27FC236}">
                <a16:creationId xmlns:a16="http://schemas.microsoft.com/office/drawing/2014/main" id="{95576309-10AB-440A-B8D1-587D6E53D6B3}"/>
              </a:ext>
            </a:extLst>
          </p:cNvPr>
          <p:cNvSpPr>
            <a:spLocks xmlns:a="http://schemas.openxmlformats.org/drawingml/2006/main" noGrp="1"/>
          </p:cNvSpPr>
          <p:nvPr/>
        </p:nvSpPr>
        <p:spPr>
          <a:xfrm xmlns:a="http://schemas.openxmlformats.org/drawingml/2006/main">
            <a:off x="548640" y="1417320"/>
            <a:ext cx="374904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Cart and structured delivery address</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Cash on delivery or online selection</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Stock reservation and confirmation</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Retry protection with idempotency keys</a:t>
            </a:r>
            <a:endParaRPr sz="1400"/>
          </a:p>
        </p:txBody>
      </p:sp>
      <p:sp>
        <p:nvSpPr>
          <p:cNvPr id="7" name="Shape 4">
            <a:extLst xmlns:a="http://schemas.openxmlformats.org/drawingml/2006/main">
              <a:ext uri="{FF2B5EF4-FFF2-40B4-BE49-F238E27FC236}">
                <a16:creationId xmlns:a16="http://schemas.microsoft.com/office/drawing/2014/main" id="{7C27F5C5-D05D-44C4-B833-D0085D2A4F66}"/>
              </a:ext>
            </a:extLst>
          </p:cNvPr>
          <p:cNvSpPr>
            <a:spLocks xmlns:a="http://schemas.openxmlformats.org/drawingml/2006/main" noGrp="1"/>
          </p:cNvSpPr>
          <p:nvPr/>
        </p:nvSpPr>
        <p:spPr>
          <a:xfrm xmlns:a="http://schemas.openxmlformats.org/drawingml/2006/main">
            <a:off x="4663440" y="1005840"/>
            <a:ext cx="4023360" cy="3611880"/>
          </a:xfrm>
          <a:prstGeom xmlns:a="http://schemas.openxmlformats.org/drawingml/2006/main" prst="rect">
            <a:avLst/>
          </a:prstGeom>
          <a:solidFill xmlns:a="http://schemas.openxmlformats.org/drawingml/2006/main">
            <a:srgbClr val="FFF6EF"/>
          </a:solidFill>
          <a:ln xmlns:a="http://schemas.openxmlformats.org/drawingml/2006/main" w="12700">
            <a:solidFill>
              <a:srgbClr val="F2D3BE"/>
            </a:solidFill>
            <a:prstDash val="solid"/>
          </a:ln>
        </p:spPr>
      </p:sp>
      <p:sp>
        <p:nvSpPr>
          <p:cNvPr id="8" name="Shape 5">
            <a:extLst xmlns:a="http://schemas.openxmlformats.org/drawingml/2006/main">
              <a:ext uri="{FF2B5EF4-FFF2-40B4-BE49-F238E27FC236}">
                <a16:creationId xmlns:a16="http://schemas.microsoft.com/office/drawing/2014/main" id="{812A3136-BA95-4C88-9779-D98E87A95C67}"/>
              </a:ext>
            </a:extLst>
          </p:cNvPr>
          <p:cNvSpPr>
            <a:spLocks xmlns:a="http://schemas.openxmlformats.org/drawingml/2006/main" noGrp="1"/>
          </p:cNvSpPr>
          <p:nvPr/>
        </p:nvSpPr>
        <p:spPr>
          <a:xfrm xmlns:a="http://schemas.openxmlformats.org/drawingml/2006/main">
            <a:off x="4663440" y="1005840"/>
            <a:ext cx="4023360" cy="73152"/>
          </a:xfrm>
          <a:prstGeom xmlns:a="http://schemas.openxmlformats.org/drawingml/2006/main" prst="rect">
            <a:avLst/>
          </a:prstGeom>
          <a:solidFill xmlns:a="http://schemas.openxmlformats.org/drawingml/2006/main">
            <a:srgbClr val="C55A11"/>
          </a:solidFill>
          <a:ln xmlns:a="http://schemas.openxmlformats.org/drawingml/2006/main" w="12700">
            <a:solidFill>
              <a:srgbClr val="C55A11"/>
            </a:solidFill>
            <a:prstDash val="solid"/>
          </a:ln>
        </p:spPr>
      </p:sp>
      <p:sp>
        <p:nvSpPr>
          <p:cNvPr id="9" name="Text 6">
            <a:extLst xmlns:a="http://schemas.openxmlformats.org/drawingml/2006/main">
              <a:ext uri="{FF2B5EF4-FFF2-40B4-BE49-F238E27FC236}">
                <a16:creationId xmlns:a16="http://schemas.microsoft.com/office/drawing/2014/main" id="{D2B8CB5E-834B-4405-BBEA-33837A93ED32}"/>
              </a:ext>
            </a:extLst>
          </p:cNvPr>
          <p:cNvSpPr>
            <a:spLocks xmlns:a="http://schemas.openxmlformats.org/drawingml/2006/main" noGrp="1"/>
          </p:cNvSpPr>
          <p:nvPr/>
        </p:nvSpPr>
        <p:spPr>
          <a:xfrm xmlns:a="http://schemas.openxmlformats.org/drawingml/2006/main">
            <a:off x="4846320" y="1188720"/>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xmlns:a="http://schemas.openxmlformats.org/drawingml/2006/main">
              <a:ext uri="{FF2B5EF4-FFF2-40B4-BE49-F238E27FC236}">
                <a16:creationId xmlns:a16="http://schemas.microsoft.com/office/drawing/2014/main" id="{0484F8A3-1B2E-4C58-B00C-697FC65F3F7E}"/>
              </a:ext>
            </a:extLst>
          </p:cNvPr>
          <p:cNvSpPr>
            <a:spLocks xmlns:a="http://schemas.openxmlformats.org/drawingml/2006/main" noGrp="1"/>
          </p:cNvSpPr>
          <p:nvPr/>
        </p:nvSpPr>
        <p:spPr>
          <a:xfrm xmlns:a="http://schemas.openxmlformats.org/drawingml/2006/main">
            <a:off x="4846320" y="1600200"/>
            <a:ext cx="365760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333333"/>
                </a:solidFill>
                <a:latin typeface="Times New Roman"/>
                <a:ea typeface="Times New Roman"/>
                <a:cs typeface="Times New Roman"/>
              </a:rPr>
              <a:t>Order Service saves a pending order, then asks Product Service to reserve stock. It stores the server-side prices, confirms the stock deduction and marks the order CONFIRMED. Recovery retries interrupted work. Payment choices do not collect money.</a:t>
            </a:r>
            <a:endParaRPr sz="1300"/>
          </a:p>
        </p:txBody>
      </p:sp>
    </p:spTree>
    <p:extLst>
      <p:ext uri="{BB962C8B-B14F-4D97-AF65-F5344CB8AC3E}">
        <p14:creationId xmlns:p14="http://schemas.microsoft.com/office/powerpoint/2010/main" val="15157931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AB20C79-0F93-4CF0-B25F-5E8AF57FF4AE}"/>
              </a:ext>
            </a:extLst>
          </p:cNvPr>
          <p:cNvPicPr>
            <a:picLocks xmlns:a="http://schemas.openxmlformats.org/drawingml/2006/main" noChangeAspect="1"/>
          </p:cNvPicPr>
          <p:nvPr/>
        </p:nvPicPr>
        <p:blipFill>
          <a:blip xmlns:r="http://schemas.openxmlformats.org/officeDocument/2006/relationships" xmlns:a="http://schemas.openxmlformats.org/drawingml/2006/main" r:embed="Re2ecca17c2084b8c"/>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EC7AB2A-87CA-4DDA-A376-03BCCDBA655E}"/>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C951C67C-8FE9-40F5-8D6F-ECF5878E012D}"/>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3: Recorded Order Output</a:t>
            </a:r>
            <a:endParaRPr sz="1800"/>
          </a:p>
        </p:txBody>
      </p:sp>
      <p:sp>
        <p:nvSpPr>
          <p:cNvPr id="5" name="">
            <a:extLst xmlns:a="http://schemas.openxmlformats.org/drawingml/2006/main">
              <a:ext uri="{FF2B5EF4-FFF2-40B4-BE49-F238E27FC236}">
                <a16:creationId xmlns:a16="http://schemas.microsoft.com/office/drawing/2014/main" id="{0408AAD6-949A-4625-80F0-1F749020467A}"/>
              </a:ext>
            </a:extLst>
          </p:cNvPr>
          <p:cNvSpPr>
            <a:spLocks xmlns:a="http://schemas.openxmlformats.org/drawingml/2006/main" noGrp="1"/>
          </p:cNvSpPr>
          <p:nvPr/>
        </p:nvSpPr>
        <p:spPr>
          <a:xfrm xmlns:a="http://schemas.openxmlformats.org/drawingml/2006/main">
            <a:off x="638175" y="1028700"/>
            <a:ext cx="785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C55A11"/>
                </a:solidFill>
                <a:latin typeface="Times New Roman"/>
                <a:ea typeface="Times New Roman"/>
                <a:cs typeface="Times New Roman"/>
              </a:defRPr>
            </a:defPPr>
          </a:lstStyle>
          <a:p xmlns:a="http://schemas.openxmlformats.org/drawingml/2006/main">
            <a:pPr>
              <a:defRPr sz="1875" b="1">
                <a:solidFill>
                  <a:srgbClr val="C55A11"/>
                </a:solidFill>
                <a:latin typeface="Times New Roman"/>
                <a:ea typeface="Times New Roman"/>
                <a:cs typeface="Times New Roman"/>
              </a:defRPr>
            </a:pPr>
            <a:r>
              <a:rPr sz="1875" b="1">
                <a:solidFill>
                  <a:srgbClr val="C55A11"/>
                </a:solidFill>
                <a:latin typeface="Times New Roman"/>
                <a:ea typeface="Times New Roman"/>
                <a:cs typeface="Times New Roman"/>
              </a:rPr>
              <a:t>Confirmed checkout</a:t>
            </a:r>
          </a:p>
        </p:txBody>
      </p:sp>
      <p:sp>
        <p:nvSpPr>
          <p:cNvPr id="6" name="">
            <a:extLst xmlns:a="http://schemas.openxmlformats.org/drawingml/2006/main">
              <a:ext uri="{FF2B5EF4-FFF2-40B4-BE49-F238E27FC236}">
                <a16:creationId xmlns:a16="http://schemas.microsoft.com/office/drawing/2014/main" id="{72754EAD-93EA-4017-82AB-53E50093CDC4}"/>
              </a:ext>
            </a:extLst>
          </p:cNvPr>
          <p:cNvSpPr>
            <a:spLocks xmlns:a="http://schemas.openxmlformats.org/drawingml/2006/main" noGrp="1"/>
          </p:cNvSpPr>
          <p:nvPr/>
        </p:nvSpPr>
        <p:spPr>
          <a:xfrm xmlns:a="http://schemas.openxmlformats.org/drawingml/2006/main">
            <a:off x="638175" y="1409700"/>
            <a:ext cx="7858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55555"/>
                </a:solidFill>
                <a:latin typeface="Times New Roman"/>
                <a:ea typeface="Times New Roman"/>
                <a:cs typeface="Times New Roman"/>
              </a:defRPr>
            </a:defPPr>
          </a:lstStyle>
          <a:p xmlns:a="http://schemas.openxmlformats.org/drawingml/2006/main">
            <a:pPr>
              <a:defRPr sz="1425" b="0">
                <a:solidFill>
                  <a:srgbClr val="555555"/>
                </a:solidFill>
                <a:latin typeface="Times New Roman"/>
                <a:ea typeface="Times New Roman"/>
                <a:cs typeface="Times New Roman"/>
              </a:defRPr>
            </a:pPr>
            <a:r>
              <a:rPr sz="1425" b="0">
                <a:solidFill>
                  <a:srgbClr val="555555"/>
                </a:solidFill>
                <a:latin typeface="Times New Roman"/>
                <a:ea typeface="Times New Roman"/>
                <a:cs typeface="Times New Roman"/>
              </a:rPr>
              <a:t>Recorded API result from the project verification on 5 October 2026</a:t>
            </a:r>
          </a:p>
        </p:txBody>
      </p:sp>
      <p:graphicFrame>
        <p:nvGraphicFramePr>
          <p:cNvPr id="7" name="">
            <a:extLst xmlns:a="http://schemas.openxmlformats.org/drawingml/2006/main">
              <a:ext uri="{FF2B5EF4-FFF2-40B4-BE49-F238E27FC236}">
                <a16:creationId xmlns:a16="http://schemas.microsoft.com/office/drawing/2014/main" id="{146C15B5-9E0E-4E5F-BBEB-C21DB61058B0}"/>
              </a:ext>
            </a:extLst>
          </p:cNvPr>
          <p:cNvGraphicFramePr/>
          <p:nvPr/>
        </p:nvGraphicFramePr>
        <p:xfrm>
          <a:off xmlns:a="http://schemas.openxmlformats.org/drawingml/2006/main" x="638175" y="1762125"/>
          <a:ext xmlns:a="http://schemas.openxmlformats.org/drawingml/2006/main" cx="7867650" cy="2409825"/>
        </p:xfrm>
        <a:graphic xmlns:a="http://schemas.openxmlformats.org/drawingml/2006/main">
          <a:graphicData uri="http://schemas.openxmlformats.org/drawingml/2006/table">
            <a:tbl>
              <a:tblPr/>
              <a:tblGrid>
                <a:gridCol w="2333625"/>
                <a:gridCol w="5534025"/>
              </a:tblGrid>
              <a:tr h="344261">
                <a:tc>
                  <a:txBody>
                    <a:bodyPr/>
                    <a:lstStyle/>
                    <a:p>
                      <a:r>
                        <a:rPr sz="1425" b="1">
                          <a:solidFill>
                            <a:srgbClr val="FFFFFF"/>
                          </a:solidFill>
                          <a:latin typeface="Times New Roman"/>
                          <a:ea typeface="Times New Roman"/>
                          <a:cs typeface="Times New Roman"/>
                        </a:rPr>
                        <a:t>Field</a:t>
                      </a:r>
                    </a:p>
                  </a:txBody>
                  <a:tcPr marL="91440" marR="91440" marT="45720" marB="45720">
                    <a:solidFill>
                      <a:srgbClr val="C55A11"/>
                    </a:solidFill>
                  </a:tcPr>
                </a:tc>
                <a:tc>
                  <a:txBody>
                    <a:bodyPr/>
                    <a:lstStyle/>
                    <a:p>
                      <a:r>
                        <a:rPr sz="1425" b="1">
                          <a:solidFill>
                            <a:srgbClr val="FFFFFF"/>
                          </a:solidFill>
                          <a:latin typeface="Times New Roman"/>
                          <a:ea typeface="Times New Roman"/>
                          <a:cs typeface="Times New Roman"/>
                        </a:rPr>
                        <a:t>Recorded value</a:t>
                      </a:r>
                    </a:p>
                  </a:txBody>
                  <a:tcPr marL="91440" marR="91440" marT="45720" marB="45720">
                    <a:solidFill>
                      <a:srgbClr val="C55A11"/>
                    </a:solidFill>
                  </a:tcPr>
                </a:tc>
              </a:tr>
              <a:tr h="344261">
                <a:tc>
                  <a:txBody>
                    <a:bodyPr/>
                    <a:lstStyle/>
                    <a:p>
                      <a:r>
                        <a:rPr sz="1425" b="0">
                          <a:solidFill>
                            <a:srgbClr val="002060"/>
                          </a:solidFill>
                          <a:latin typeface="Times New Roman"/>
                          <a:ea typeface="Times New Roman"/>
                          <a:cs typeface="Times New Roman"/>
                        </a:rPr>
                        <a:t>Order status</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CONFIRMED</a:t>
                      </a:r>
                    </a:p>
                  </a:txBody>
                  <a:tcPr marL="91440" marR="91440" marT="45720" marB="45720">
                    <a:solidFill>
                      <a:srgbClr val="FFF6EF"/>
                    </a:solidFill>
                  </a:tcPr>
                </a:tc>
              </a:tr>
              <a:tr h="344261">
                <a:tc>
                  <a:txBody>
                    <a:bodyPr/>
                    <a:lstStyle/>
                    <a:p>
                      <a:r>
                        <a:rPr sz="1425" b="0">
                          <a:solidFill>
                            <a:srgbClr val="002060"/>
                          </a:solidFill>
                          <a:latin typeface="Times New Roman"/>
                          <a:ea typeface="Times New Roman"/>
                          <a:cs typeface="Times New Roman"/>
                        </a:rPr>
                        <a:t>Customer</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Demo Customer</a:t>
                      </a:r>
                    </a:p>
                  </a:txBody>
                  <a:tcPr marL="91440" marR="91440" marT="45720" marB="45720">
                    <a:solidFill>
                      <a:srgbClr val="FFFFFF"/>
                    </a:solidFill>
                  </a:tcPr>
                </a:tc>
              </a:tr>
              <a:tr h="344261">
                <a:tc>
                  <a:txBody>
                    <a:bodyPr/>
                    <a:lstStyle/>
                    <a:p>
                      <a:r>
                        <a:rPr sz="1425" b="0">
                          <a:solidFill>
                            <a:srgbClr val="002060"/>
                          </a:solidFill>
                          <a:latin typeface="Times New Roman"/>
                          <a:ea typeface="Times New Roman"/>
                          <a:cs typeface="Times New Roman"/>
                        </a:rPr>
                        <a:t>Product</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Academic Demo Keyboard - Admin Reviewed</a:t>
                      </a:r>
                    </a:p>
                  </a:txBody>
                  <a:tcPr marL="91440" marR="91440" marT="45720" marB="45720">
                    <a:solidFill>
                      <a:srgbClr val="FFF6EF"/>
                    </a:solidFill>
                  </a:tcPr>
                </a:tc>
              </a:tr>
              <a:tr h="344261">
                <a:tc>
                  <a:txBody>
                    <a:bodyPr/>
                    <a:lstStyle/>
                    <a:p>
                      <a:r>
                        <a:rPr sz="1425" b="0">
                          <a:solidFill>
                            <a:srgbClr val="002060"/>
                          </a:solidFill>
                          <a:latin typeface="Times New Roman"/>
                          <a:ea typeface="Times New Roman"/>
                          <a:cs typeface="Times New Roman"/>
                        </a:rPr>
                        <a:t>Quantity</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2</a:t>
                      </a:r>
                    </a:p>
                  </a:txBody>
                  <a:tcPr marL="91440" marR="91440" marT="45720" marB="45720">
                    <a:solidFill>
                      <a:srgbClr val="FFFFFF"/>
                    </a:solidFill>
                  </a:tcPr>
                </a:tc>
              </a:tr>
              <a:tr h="344261">
                <a:tc>
                  <a:txBody>
                    <a:bodyPr/>
                    <a:lstStyle/>
                    <a:p>
                      <a:r>
                        <a:rPr sz="1425" b="0">
                          <a:solidFill>
                            <a:srgbClr val="002060"/>
                          </a:solidFill>
                          <a:latin typeface="Times New Roman"/>
                          <a:ea typeface="Times New Roman"/>
                          <a:cs typeface="Times New Roman"/>
                        </a:rPr>
                        <a:t>Unit price</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INR 499.50</a:t>
                      </a:r>
                    </a:p>
                  </a:txBody>
                  <a:tcPr marL="91440" marR="91440" marT="45720" marB="45720">
                    <a:solidFill>
                      <a:srgbClr val="FFF6EF"/>
                    </a:solidFill>
                  </a:tcPr>
                </a:tc>
              </a:tr>
              <a:tr h="344261">
                <a:tc>
                  <a:txBody>
                    <a:bodyPr/>
                    <a:lstStyle/>
                    <a:p>
                      <a:r>
                        <a:rPr sz="1425" b="0">
                          <a:solidFill>
                            <a:srgbClr val="002060"/>
                          </a:solidFill>
                          <a:latin typeface="Times New Roman"/>
                          <a:ea typeface="Times New Roman"/>
                          <a:cs typeface="Times New Roman"/>
                        </a:rPr>
                        <a:t>Order total</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INR 999.00</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B9D8FFE-D4A2-46C1-BB7C-2B75152B3CE4}"/>
              </a:ext>
            </a:extLst>
          </p:cNvPr>
          <p:cNvSpPr>
            <a:spLocks xmlns:a="http://schemas.openxmlformats.org/drawingml/2006/main" noGrp="1"/>
          </p:cNvSpPr>
          <p:nvPr/>
        </p:nvSpPr>
        <p:spPr>
          <a:xfrm xmlns:a="http://schemas.openxmlformats.org/drawingml/2006/main">
            <a:off x="638175" y="4429125"/>
            <a:ext cx="78676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002060"/>
                </a:solidFill>
                <a:latin typeface="Times New Roman"/>
                <a:ea typeface="Times New Roman"/>
                <a:cs typeface="Times New Roman"/>
              </a:defRPr>
            </a:defPPr>
          </a:lstStyle>
          <a:p xmlns:a="http://schemas.openxmlformats.org/drawingml/2006/main">
            <a:pPr>
              <a:defRPr sz="1500" b="0">
                <a:solidFill>
                  <a:srgbClr val="002060"/>
                </a:solidFill>
                <a:latin typeface="Times New Roman"/>
                <a:ea typeface="Times New Roman"/>
                <a:cs typeface="Times New Roman"/>
              </a:defRPr>
            </a:pPr>
            <a:r>
              <a:rPr sz="1500" b="0">
                <a:solidFill>
                  <a:srgbClr val="002060"/>
                </a:solidFill>
                <a:latin typeface="Times New Roman"/>
                <a:ea typeface="Times New Roman"/>
                <a:cs typeface="Times New Roman"/>
              </a:rPr>
              <a:t>Verification also confirmed that repeated checkout returned the same order and deducted stock only once.</a:t>
            </a:r>
          </a:p>
        </p:txBody>
      </p:sp>
    </p:spTree>
    <p:extLst>
      <p:ext uri="{BB962C8B-B14F-4D97-AF65-F5344CB8AC3E}">
        <p14:creationId xmlns:p14="http://schemas.microsoft.com/office/powerpoint/2010/main" val="1556769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3358D5F-8EC9-4ACE-BB39-07D40BBE6D73}"/>
              </a:ext>
            </a:extLst>
          </p:cNvPr>
          <p:cNvPicPr>
            <a:picLocks xmlns:a="http://schemas.openxmlformats.org/drawingml/2006/main" noChangeAspect="1"/>
          </p:cNvPicPr>
          <p:nvPr/>
        </p:nvPicPr>
        <p:blipFill>
          <a:blip xmlns:r="http://schemas.openxmlformats.org/officeDocument/2006/relationships" xmlns:a="http://schemas.openxmlformats.org/drawingml/2006/main" r:embed="Rf3be924e166d4d99"/>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1AA9D33-0BF8-442F-92BB-8FE8268710DD}"/>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D4DAB80D-E3A0-4DF7-AA0E-9E97C820D78B}"/>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4: SOAP Invoice Generation</a:t>
            </a:r>
            <a:endParaRPr sz="1800"/>
          </a:p>
        </p:txBody>
      </p:sp>
      <p:sp>
        <p:nvSpPr>
          <p:cNvPr id="5" name="Text 2">
            <a:extLst xmlns:a="http://schemas.openxmlformats.org/drawingml/2006/main">
              <a:ext uri="{FF2B5EF4-FFF2-40B4-BE49-F238E27FC236}">
                <a16:creationId xmlns:a16="http://schemas.microsoft.com/office/drawing/2014/main" id="{FC196FD4-2A72-44CB-B49F-5FAC4638A646}"/>
              </a:ext>
            </a:extLst>
          </p:cNvPr>
          <p:cNvSpPr>
            <a:spLocks xmlns:a="http://schemas.openxmlformats.org/drawingml/2006/main" noGrp="1"/>
          </p:cNvSpPr>
          <p:nvPr/>
        </p:nvSpPr>
        <p:spPr>
          <a:xfrm xmlns:a="http://schemas.openxmlformats.org/drawingml/2006/main">
            <a:off x="548640" y="1005840"/>
            <a:ext cx="3749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xmlns:a="http://schemas.openxmlformats.org/drawingml/2006/main">
              <a:ext uri="{FF2B5EF4-FFF2-40B4-BE49-F238E27FC236}">
                <a16:creationId xmlns:a16="http://schemas.microsoft.com/office/drawing/2014/main" id="{26ACAC3C-BCD4-4BDA-9B25-A1F643F0D839}"/>
              </a:ext>
            </a:extLst>
          </p:cNvPr>
          <p:cNvSpPr>
            <a:spLocks xmlns:a="http://schemas.openxmlformats.org/drawingml/2006/main" noGrp="1"/>
          </p:cNvSpPr>
          <p:nvPr/>
        </p:nvSpPr>
        <p:spPr>
          <a:xfrm xmlns:a="http://schemas.openxmlformats.org/drawingml/2006/main">
            <a:off x="548640" y="1417320"/>
            <a:ext cx="374904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Generate a bill for a confirmed order</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SOAP request and response in XML</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WSDL describes service operations</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XSD validates message structure</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Stable invoice identity on repeated calls</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Display and print invoice details</a:t>
            </a:r>
            <a:endParaRPr sz="1400"/>
          </a:p>
        </p:txBody>
      </p:sp>
      <p:sp>
        <p:nvSpPr>
          <p:cNvPr id="7" name="Shape 4">
            <a:extLst xmlns:a="http://schemas.openxmlformats.org/drawingml/2006/main">
              <a:ext uri="{FF2B5EF4-FFF2-40B4-BE49-F238E27FC236}">
                <a16:creationId xmlns:a16="http://schemas.microsoft.com/office/drawing/2014/main" id="{500FB809-BBEF-4E49-B5E3-3FBE8F2C5484}"/>
              </a:ext>
            </a:extLst>
          </p:cNvPr>
          <p:cNvSpPr>
            <a:spLocks xmlns:a="http://schemas.openxmlformats.org/drawingml/2006/main" noGrp="1"/>
          </p:cNvSpPr>
          <p:nvPr/>
        </p:nvSpPr>
        <p:spPr>
          <a:xfrm xmlns:a="http://schemas.openxmlformats.org/drawingml/2006/main">
            <a:off x="4663440" y="1005840"/>
            <a:ext cx="4023360" cy="3611880"/>
          </a:xfrm>
          <a:prstGeom xmlns:a="http://schemas.openxmlformats.org/drawingml/2006/main" prst="rect">
            <a:avLst/>
          </a:prstGeom>
          <a:solidFill xmlns:a="http://schemas.openxmlformats.org/drawingml/2006/main">
            <a:srgbClr val="FFF6EF"/>
          </a:solidFill>
          <a:ln xmlns:a="http://schemas.openxmlformats.org/drawingml/2006/main" w="12700">
            <a:solidFill>
              <a:srgbClr val="F2D3BE"/>
            </a:solidFill>
            <a:prstDash val="solid"/>
          </a:ln>
        </p:spPr>
      </p:sp>
      <p:sp>
        <p:nvSpPr>
          <p:cNvPr id="8" name="Shape 5">
            <a:extLst xmlns:a="http://schemas.openxmlformats.org/drawingml/2006/main">
              <a:ext uri="{FF2B5EF4-FFF2-40B4-BE49-F238E27FC236}">
                <a16:creationId xmlns:a16="http://schemas.microsoft.com/office/drawing/2014/main" id="{6119838C-290A-491F-8C79-619BE2B87C2D}"/>
              </a:ext>
            </a:extLst>
          </p:cNvPr>
          <p:cNvSpPr>
            <a:spLocks xmlns:a="http://schemas.openxmlformats.org/drawingml/2006/main" noGrp="1"/>
          </p:cNvSpPr>
          <p:nvPr/>
        </p:nvSpPr>
        <p:spPr>
          <a:xfrm xmlns:a="http://schemas.openxmlformats.org/drawingml/2006/main">
            <a:off x="4663440" y="1005840"/>
            <a:ext cx="4023360" cy="73152"/>
          </a:xfrm>
          <a:prstGeom xmlns:a="http://schemas.openxmlformats.org/drawingml/2006/main" prst="rect">
            <a:avLst/>
          </a:prstGeom>
          <a:solidFill xmlns:a="http://schemas.openxmlformats.org/drawingml/2006/main">
            <a:srgbClr val="C55A11"/>
          </a:solidFill>
          <a:ln xmlns:a="http://schemas.openxmlformats.org/drawingml/2006/main" w="12700">
            <a:solidFill>
              <a:srgbClr val="C55A11"/>
            </a:solidFill>
            <a:prstDash val="solid"/>
          </a:ln>
        </p:spPr>
      </p:sp>
      <p:sp>
        <p:nvSpPr>
          <p:cNvPr id="9" name="Text 6">
            <a:extLst xmlns:a="http://schemas.openxmlformats.org/drawingml/2006/main">
              <a:ext uri="{FF2B5EF4-FFF2-40B4-BE49-F238E27FC236}">
                <a16:creationId xmlns:a16="http://schemas.microsoft.com/office/drawing/2014/main" id="{A1846DEB-3A69-462A-85FD-E7DB9AED9110}"/>
              </a:ext>
            </a:extLst>
          </p:cNvPr>
          <p:cNvSpPr>
            <a:spLocks xmlns:a="http://schemas.openxmlformats.org/drawingml/2006/main" noGrp="1"/>
          </p:cNvSpPr>
          <p:nvPr/>
        </p:nvSpPr>
        <p:spPr>
          <a:xfrm xmlns:a="http://schemas.openxmlformats.org/drawingml/2006/main">
            <a:off x="4846320" y="1188720"/>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xmlns:a="http://schemas.openxmlformats.org/drawingml/2006/main">
              <a:ext uri="{FF2B5EF4-FFF2-40B4-BE49-F238E27FC236}">
                <a16:creationId xmlns:a16="http://schemas.microsoft.com/office/drawing/2014/main" id="{53E4B966-D956-4CA0-9DF6-F459632228A7}"/>
              </a:ext>
            </a:extLst>
          </p:cNvPr>
          <p:cNvSpPr>
            <a:spLocks xmlns:a="http://schemas.openxmlformats.org/drawingml/2006/main" noGrp="1"/>
          </p:cNvSpPr>
          <p:nvPr/>
        </p:nvSpPr>
        <p:spPr>
          <a:xfrm xmlns:a="http://schemas.openxmlformats.org/drawingml/2006/main">
            <a:off x="4846320" y="1600200"/>
            <a:ext cx="365760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333333"/>
                </a:solidFill>
                <a:latin typeface="Times New Roman"/>
                <a:ea typeface="Times New Roman"/>
                <a:cs typeface="Times New Roman"/>
              </a:rPr>
              <a:t>When the user requests a bill, Order Service sends a SOAP XML request to Invoice Service. The invoice contains the customer and item details with the total. Invoice Service stores one invoice per order. Repeated requests return the same invoice.</a:t>
            </a:r>
            <a:endParaRPr sz="1300"/>
          </a:p>
        </p:txBody>
      </p:sp>
    </p:spTree>
    <p:extLst>
      <p:ext uri="{BB962C8B-B14F-4D97-AF65-F5344CB8AC3E}">
        <p14:creationId xmlns:p14="http://schemas.microsoft.com/office/powerpoint/2010/main" val="13230090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E292A8-E365-43DB-BD4B-724CDC56EEF4}"/>
              </a:ext>
            </a:extLst>
          </p:cNvPr>
          <p:cNvPicPr>
            <a:picLocks xmlns:a="http://schemas.openxmlformats.org/drawingml/2006/main" noChangeAspect="1"/>
          </p:cNvPicPr>
          <p:nvPr/>
        </p:nvPicPr>
        <p:blipFill>
          <a:blip xmlns:r="http://schemas.openxmlformats.org/officeDocument/2006/relationships" xmlns:a="http://schemas.openxmlformats.org/drawingml/2006/main" r:embed="R7ab674cc871349b5"/>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60E58ECE-BED7-49DA-AF35-D47A9DDB2B7B}"/>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64D0D653-BF70-4BF9-8988-1D882EAC7398}"/>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4: Recorded Invoice Output</a:t>
            </a:r>
            <a:endParaRPr sz="1800"/>
          </a:p>
        </p:txBody>
      </p:sp>
      <p:sp>
        <p:nvSpPr>
          <p:cNvPr id="5" name="">
            <a:extLst xmlns:a="http://schemas.openxmlformats.org/drawingml/2006/main">
              <a:ext uri="{FF2B5EF4-FFF2-40B4-BE49-F238E27FC236}">
                <a16:creationId xmlns:a16="http://schemas.microsoft.com/office/drawing/2014/main" id="{4D169113-8C8B-46D7-BE9B-92E083F3E7EB}"/>
              </a:ext>
            </a:extLst>
          </p:cNvPr>
          <p:cNvSpPr>
            <a:spLocks xmlns:a="http://schemas.openxmlformats.org/drawingml/2006/main" noGrp="1"/>
          </p:cNvSpPr>
          <p:nvPr/>
        </p:nvSpPr>
        <p:spPr>
          <a:xfrm xmlns:a="http://schemas.openxmlformats.org/drawingml/2006/main">
            <a:off x="638175" y="1019175"/>
            <a:ext cx="785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C55A11"/>
                </a:solidFill>
                <a:latin typeface="Times New Roman"/>
                <a:ea typeface="Times New Roman"/>
                <a:cs typeface="Times New Roman"/>
              </a:defRPr>
            </a:defPPr>
          </a:lstStyle>
          <a:p xmlns:a="http://schemas.openxmlformats.org/drawingml/2006/main">
            <a:pPr>
              <a:defRPr sz="1875" b="1">
                <a:solidFill>
                  <a:srgbClr val="C55A11"/>
                </a:solidFill>
                <a:latin typeface="Times New Roman"/>
                <a:ea typeface="Times New Roman"/>
                <a:cs typeface="Times New Roman"/>
              </a:defRPr>
            </a:pPr>
            <a:r>
              <a:rPr sz="1875" b="1">
                <a:solidFill>
                  <a:srgbClr val="C55A11"/>
                </a:solidFill>
                <a:latin typeface="Times New Roman"/>
                <a:ea typeface="Times New Roman"/>
                <a:cs typeface="Times New Roman"/>
              </a:rPr>
              <a:t>Invoice generated through SOAP</a:t>
            </a:r>
          </a:p>
        </p:txBody>
      </p:sp>
      <p:sp>
        <p:nvSpPr>
          <p:cNvPr id="6" name="">
            <a:extLst xmlns:a="http://schemas.openxmlformats.org/drawingml/2006/main">
              <a:ext uri="{FF2B5EF4-FFF2-40B4-BE49-F238E27FC236}">
                <a16:creationId xmlns:a16="http://schemas.microsoft.com/office/drawing/2014/main" id="{F330F940-07C7-43EA-BEC7-D46A19C6B3E4}"/>
              </a:ext>
            </a:extLst>
          </p:cNvPr>
          <p:cNvSpPr>
            <a:spLocks xmlns:a="http://schemas.openxmlformats.org/drawingml/2006/main" noGrp="1"/>
          </p:cNvSpPr>
          <p:nvPr/>
        </p:nvSpPr>
        <p:spPr>
          <a:xfrm xmlns:a="http://schemas.openxmlformats.org/drawingml/2006/main">
            <a:off x="638175" y="1524000"/>
            <a:ext cx="7867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060"/>
                </a:solidFill>
                <a:latin typeface="Times New Roman"/>
                <a:ea typeface="Times New Roman"/>
                <a:cs typeface="Times New Roman"/>
              </a:defRPr>
            </a:defPPr>
          </a:lstStyle>
          <a:p xmlns:a="http://schemas.openxmlformats.org/drawingml/2006/main">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Customer: Demo Customer</a:t>
            </a:r>
          </a:p>
          <a:p xmlns:a="http://schemas.openxmlformats.org/drawingml/2006/main">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Currency: INR     Issued: 5 October 2026</a:t>
            </a:r>
          </a:p>
        </p:txBody>
      </p:sp>
      <p:graphicFrame>
        <p:nvGraphicFramePr>
          <p:cNvPr id="7" name="">
            <a:extLst xmlns:a="http://schemas.openxmlformats.org/drawingml/2006/main">
              <a:ext uri="{FF2B5EF4-FFF2-40B4-BE49-F238E27FC236}">
                <a16:creationId xmlns:a16="http://schemas.microsoft.com/office/drawing/2014/main" id="{6341BD3A-1AD9-4361-8C83-8BC87C4699B0}"/>
              </a:ext>
            </a:extLst>
          </p:cNvPr>
          <p:cNvGraphicFramePr/>
          <p:nvPr/>
        </p:nvGraphicFramePr>
        <p:xfrm>
          <a:off xmlns:a="http://schemas.openxmlformats.org/drawingml/2006/main" x="638175" y="2343150"/>
          <a:ext xmlns:a="http://schemas.openxmlformats.org/drawingml/2006/main" cx="7867650" cy="1200150"/>
        </p:xfrm>
        <a:graphic xmlns:a="http://schemas.openxmlformats.org/drawingml/2006/main">
          <a:graphicData uri="http://schemas.openxmlformats.org/drawingml/2006/table">
            <a:tbl>
              <a:tblPr/>
              <a:tblGrid>
                <a:gridCol w="3781425"/>
                <a:gridCol w="952500"/>
                <a:gridCol w="1571625"/>
                <a:gridCol w="1562100"/>
              </a:tblGrid>
              <a:tr h="400050">
                <a:tc>
                  <a:txBody>
                    <a:bodyPr/>
                    <a:lstStyle/>
                    <a:p>
                      <a:r>
                        <a:rPr sz="1425" b="1">
                          <a:solidFill>
                            <a:srgbClr val="FFFFFF"/>
                          </a:solidFill>
                          <a:latin typeface="Times New Roman"/>
                          <a:ea typeface="Times New Roman"/>
                          <a:cs typeface="Times New Roman"/>
                        </a:rPr>
                        <a:t>Item</a:t>
                      </a:r>
                    </a:p>
                  </a:txBody>
                  <a:tcPr marL="91440" marR="91440" marT="45720" marB="45720">
                    <a:solidFill>
                      <a:srgbClr val="C55A11"/>
                    </a:solidFill>
                  </a:tcPr>
                </a:tc>
                <a:tc>
                  <a:txBody>
                    <a:bodyPr/>
                    <a:lstStyle/>
                    <a:p>
                      <a:r>
                        <a:rPr sz="1425" b="1">
                          <a:solidFill>
                            <a:srgbClr val="FFFFFF"/>
                          </a:solidFill>
                          <a:latin typeface="Times New Roman"/>
                          <a:ea typeface="Times New Roman"/>
                          <a:cs typeface="Times New Roman"/>
                        </a:rPr>
                        <a:t>Quantity</a:t>
                      </a:r>
                    </a:p>
                  </a:txBody>
                  <a:tcPr marL="91440" marR="91440" marT="45720" marB="45720">
                    <a:solidFill>
                      <a:srgbClr val="C55A11"/>
                    </a:solidFill>
                  </a:tcPr>
                </a:tc>
                <a:tc>
                  <a:txBody>
                    <a:bodyPr/>
                    <a:lstStyle/>
                    <a:p>
                      <a:r>
                        <a:rPr sz="1425" b="1">
                          <a:solidFill>
                            <a:srgbClr val="FFFFFF"/>
                          </a:solidFill>
                          <a:latin typeface="Times New Roman"/>
                          <a:ea typeface="Times New Roman"/>
                          <a:cs typeface="Times New Roman"/>
                        </a:rPr>
                        <a:t>Unit price</a:t>
                      </a:r>
                    </a:p>
                  </a:txBody>
                  <a:tcPr marL="91440" marR="91440" marT="45720" marB="45720">
                    <a:solidFill>
                      <a:srgbClr val="C55A11"/>
                    </a:solidFill>
                  </a:tcPr>
                </a:tc>
                <a:tc>
                  <a:txBody>
                    <a:bodyPr/>
                    <a:lstStyle/>
                    <a:p>
                      <a:r>
                        <a:rPr sz="1425" b="1">
                          <a:solidFill>
                            <a:srgbClr val="FFFFFF"/>
                          </a:solidFill>
                          <a:latin typeface="Times New Roman"/>
                          <a:ea typeface="Times New Roman"/>
                          <a:cs typeface="Times New Roman"/>
                        </a:rPr>
                        <a:t>Amount</a:t>
                      </a:r>
                    </a:p>
                  </a:txBody>
                  <a:tcPr marL="91440" marR="91440" marT="45720" marB="45720">
                    <a:solidFill>
                      <a:srgbClr val="C55A11"/>
                    </a:solidFill>
                  </a:tcPr>
                </a:tc>
              </a:tr>
              <a:tr h="400050">
                <a:tc>
                  <a:txBody>
                    <a:bodyPr/>
                    <a:lstStyle/>
                    <a:p>
                      <a:r>
                        <a:rPr sz="1425" b="0">
                          <a:solidFill>
                            <a:srgbClr val="002060"/>
                          </a:solidFill>
                          <a:latin typeface="Times New Roman"/>
                          <a:ea typeface="Times New Roman"/>
                          <a:cs typeface="Times New Roman"/>
                        </a:rPr>
                        <a:t>Academic Demo Keyboard</a:t>
                      </a:r>
                    </a:p>
                    <a:p>
                      <a:r>
                        <a:rPr sz="1425" b="0">
                          <a:solidFill>
                            <a:srgbClr val="002060"/>
                          </a:solidFill>
                          <a:latin typeface="Times New Roman"/>
                          <a:ea typeface="Times New Roman"/>
                          <a:cs typeface="Times New Roman"/>
                        </a:rPr>
                        <a:t>Admin Reviewed</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2</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INR 499.50</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INR 999.00</a:t>
                      </a:r>
                    </a:p>
                  </a:txBody>
                  <a:tcPr marL="91440" marR="91440" marT="45720" marB="45720">
                    <a:solidFill>
                      <a:srgbClr val="FFF6EF"/>
                    </a:solidFill>
                  </a:tcPr>
                </a:tc>
              </a:tr>
              <a:tr h="400050">
                <a:tc>
                  <a:txBody>
                    <a:bodyPr/>
                    <a:lstStyle/>
                    <a:p>
                      <a:r>
                        <a:rPr sz="1425" b="0">
                          <a:solidFill>
                            <a:srgbClr val="002060"/>
                          </a:solidFill>
                          <a:latin typeface="Times New Roman"/>
                          <a:ea typeface="Times New Roman"/>
                          <a:cs typeface="Times New Roman"/>
                        </a:rPr>
                        <a:t>Total</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INR 999.00</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18F33E6-1F73-4CAA-B5C8-F122A3B06CAE}"/>
              </a:ext>
            </a:extLst>
          </p:cNvPr>
          <p:cNvSpPr>
            <a:spLocks xmlns:a="http://schemas.openxmlformats.org/drawingml/2006/main" noGrp="1"/>
          </p:cNvSpPr>
          <p:nvPr/>
        </p:nvSpPr>
        <p:spPr>
          <a:xfrm xmlns:a="http://schemas.openxmlformats.org/drawingml/2006/main">
            <a:off x="638175" y="3886200"/>
            <a:ext cx="7867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060"/>
                </a:solidFill>
                <a:latin typeface="Times New Roman"/>
                <a:ea typeface="Times New Roman"/>
                <a:cs typeface="Times New Roman"/>
              </a:defRPr>
            </a:defPPr>
          </a:lstStyle>
          <a:p xmlns:a="http://schemas.openxmlformats.org/drawingml/2006/main">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The recorded invoice matches the order total. Repeated generation returned the same invoice.</a:t>
            </a:r>
          </a:p>
        </p:txBody>
      </p:sp>
      <p:sp>
        <p:nvSpPr>
          <p:cNvPr id="9" name="">
            <a:extLst xmlns:a="http://schemas.openxmlformats.org/drawingml/2006/main">
              <a:ext uri="{FF2B5EF4-FFF2-40B4-BE49-F238E27FC236}">
                <a16:creationId xmlns:a16="http://schemas.microsoft.com/office/drawing/2014/main" id="{1923B9D8-24F8-4C5E-9B1B-290CDD7D00E0}"/>
              </a:ext>
            </a:extLst>
          </p:cNvPr>
          <p:cNvSpPr>
            <a:spLocks xmlns:a="http://schemas.openxmlformats.org/drawingml/2006/main" noGrp="1"/>
          </p:cNvSpPr>
          <p:nvPr/>
        </p:nvSpPr>
        <p:spPr>
          <a:xfrm xmlns:a="http://schemas.openxmlformats.org/drawingml/2006/main">
            <a:off x="638175" y="4638675"/>
            <a:ext cx="7867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55555"/>
                </a:solidFill>
                <a:latin typeface="Times New Roman"/>
                <a:ea typeface="Times New Roman"/>
                <a:cs typeface="Times New Roman"/>
              </a:defRPr>
            </a:defPPr>
          </a:lstStyle>
          <a:p xmlns:a="http://schemas.openxmlformats.org/drawingml/2006/main">
            <a:pPr>
              <a:defRPr sz="1425" b="0">
                <a:solidFill>
                  <a:srgbClr val="555555"/>
                </a:solidFill>
                <a:latin typeface="Times New Roman"/>
                <a:ea typeface="Times New Roman"/>
                <a:cs typeface="Times New Roman"/>
              </a:defRPr>
            </a:pPr>
            <a:r>
              <a:rPr sz="1425" b="0">
                <a:solidFill>
                  <a:srgbClr val="555555"/>
                </a:solidFill>
                <a:latin typeface="Times New Roman"/>
                <a:ea typeface="Times New Roman"/>
                <a:cs typeface="Times New Roman"/>
              </a:rPr>
              <a:t>SOAP endpoint: http://localhost:8084/ws</a:t>
            </a:r>
          </a:p>
        </p:txBody>
      </p:sp>
    </p:spTree>
    <p:extLst>
      <p:ext uri="{BB962C8B-B14F-4D97-AF65-F5344CB8AC3E}">
        <p14:creationId xmlns:p14="http://schemas.microsoft.com/office/powerpoint/2010/main" val="9954355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730D106-58DE-40D4-A385-5D6B003D5B97}"/>
              </a:ext>
            </a:extLst>
          </p:cNvPr>
          <p:cNvPicPr>
            <a:picLocks xmlns:a="http://schemas.openxmlformats.org/drawingml/2006/main" noChangeAspect="1"/>
          </p:cNvPicPr>
          <p:nvPr/>
        </p:nvPicPr>
        <p:blipFill>
          <a:blip xmlns:r="http://schemas.openxmlformats.org/officeDocument/2006/relationships" xmlns:a="http://schemas.openxmlformats.org/drawingml/2006/main" r:embed="R59092e209f724461"/>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25ACEA19-C1AA-4319-9FC4-8EF7D28C8DB1}"/>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6283949F-EC1F-44AB-9B6F-7A834FA2BC59}"/>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5: Gateway &amp; AOP Logging</a:t>
            </a:r>
            <a:endParaRPr sz="1800"/>
          </a:p>
        </p:txBody>
      </p:sp>
      <p:sp>
        <p:nvSpPr>
          <p:cNvPr id="5" name="Text 2">
            <a:extLst xmlns:a="http://schemas.openxmlformats.org/drawingml/2006/main">
              <a:ext uri="{FF2B5EF4-FFF2-40B4-BE49-F238E27FC236}">
                <a16:creationId xmlns:a16="http://schemas.microsoft.com/office/drawing/2014/main" id="{A5D290DB-3B5E-4A4C-A237-32AADB4FC0AF}"/>
              </a:ext>
            </a:extLst>
          </p:cNvPr>
          <p:cNvSpPr>
            <a:spLocks xmlns:a="http://schemas.openxmlformats.org/drawingml/2006/main" noGrp="1"/>
          </p:cNvSpPr>
          <p:nvPr/>
        </p:nvSpPr>
        <p:spPr>
          <a:xfrm xmlns:a="http://schemas.openxmlformats.org/drawingml/2006/main">
            <a:off x="548640" y="1005840"/>
            <a:ext cx="3749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xmlns:a="http://schemas.openxmlformats.org/drawingml/2006/main">
              <a:ext uri="{FF2B5EF4-FFF2-40B4-BE49-F238E27FC236}">
                <a16:creationId xmlns:a16="http://schemas.microsoft.com/office/drawing/2014/main" id="{D074C836-0546-4D5F-A9B9-1FE44D685CE6}"/>
              </a:ext>
            </a:extLst>
          </p:cNvPr>
          <p:cNvSpPr>
            <a:spLocks xmlns:a="http://schemas.openxmlformats.org/drawingml/2006/main" noGrp="1"/>
          </p:cNvSpPr>
          <p:nvPr/>
        </p:nvSpPr>
        <p:spPr>
          <a:xfrm xmlns:a="http://schemas.openxmlformats.org/drawingml/2006/main">
            <a:off x="548640" y="1417320"/>
            <a:ext cx="374904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One frontend API address on port 8080</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REST calls for inventory coordination</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AOP logs operation, duration and outcome</a:t>
            </a:r>
            <a:endParaRPr sz="1400"/>
          </a:p>
          <a:p xmlns:a="http://schemas.openxmlformats.org/drawingml/2006/main">
            <a:pPr marL="342900" indent="-342900">
              <a:spcAft>
                <a:spcPts val="800"/>
              </a:spcAft>
              <a:buSzPct val="100000"/>
              <a:buChar char="•"/>
            </a:pPr>
            <a:r>
              <a:rPr sz="1400">
                <a:solidFill>
                  <a:srgbClr val="002060"/>
                </a:solidFill>
                <a:latin typeface="Times New Roman"/>
                <a:ea typeface="Times New Roman"/>
                <a:cs typeface="Times New Roman"/>
              </a:rPr>
              <a:t>Trace IDs connect related service logs</a:t>
            </a:r>
            <a:endParaRPr sz="1400"/>
          </a:p>
        </p:txBody>
      </p:sp>
      <p:sp>
        <p:nvSpPr>
          <p:cNvPr id="7" name="Shape 4">
            <a:extLst xmlns:a="http://schemas.openxmlformats.org/drawingml/2006/main">
              <a:ext uri="{FF2B5EF4-FFF2-40B4-BE49-F238E27FC236}">
                <a16:creationId xmlns:a16="http://schemas.microsoft.com/office/drawing/2014/main" id="{F642B510-C3CA-4232-9D59-762A117DCC4B}"/>
              </a:ext>
            </a:extLst>
          </p:cNvPr>
          <p:cNvSpPr>
            <a:spLocks xmlns:a="http://schemas.openxmlformats.org/drawingml/2006/main" noGrp="1"/>
          </p:cNvSpPr>
          <p:nvPr/>
        </p:nvSpPr>
        <p:spPr>
          <a:xfrm xmlns:a="http://schemas.openxmlformats.org/drawingml/2006/main">
            <a:off x="4663440" y="1005840"/>
            <a:ext cx="4023360" cy="3611880"/>
          </a:xfrm>
          <a:prstGeom xmlns:a="http://schemas.openxmlformats.org/drawingml/2006/main" prst="rect">
            <a:avLst/>
          </a:prstGeom>
          <a:solidFill xmlns:a="http://schemas.openxmlformats.org/drawingml/2006/main">
            <a:srgbClr val="FFF6EF"/>
          </a:solidFill>
          <a:ln xmlns:a="http://schemas.openxmlformats.org/drawingml/2006/main" w="12700">
            <a:solidFill>
              <a:srgbClr val="F2D3BE"/>
            </a:solidFill>
            <a:prstDash val="solid"/>
          </a:ln>
        </p:spPr>
      </p:sp>
      <p:sp>
        <p:nvSpPr>
          <p:cNvPr id="8" name="Shape 5">
            <a:extLst xmlns:a="http://schemas.openxmlformats.org/drawingml/2006/main">
              <a:ext uri="{FF2B5EF4-FFF2-40B4-BE49-F238E27FC236}">
                <a16:creationId xmlns:a16="http://schemas.microsoft.com/office/drawing/2014/main" id="{93C7EF05-2384-453D-B7BC-450F413CE870}"/>
              </a:ext>
            </a:extLst>
          </p:cNvPr>
          <p:cNvSpPr>
            <a:spLocks xmlns:a="http://schemas.openxmlformats.org/drawingml/2006/main" noGrp="1"/>
          </p:cNvSpPr>
          <p:nvPr/>
        </p:nvSpPr>
        <p:spPr>
          <a:xfrm xmlns:a="http://schemas.openxmlformats.org/drawingml/2006/main">
            <a:off x="4663440" y="1005840"/>
            <a:ext cx="4023360" cy="73152"/>
          </a:xfrm>
          <a:prstGeom xmlns:a="http://schemas.openxmlformats.org/drawingml/2006/main" prst="rect">
            <a:avLst/>
          </a:prstGeom>
          <a:solidFill xmlns:a="http://schemas.openxmlformats.org/drawingml/2006/main">
            <a:srgbClr val="C55A11"/>
          </a:solidFill>
          <a:ln xmlns:a="http://schemas.openxmlformats.org/drawingml/2006/main" w="12700">
            <a:solidFill>
              <a:srgbClr val="C55A11"/>
            </a:solidFill>
            <a:prstDash val="solid"/>
          </a:ln>
        </p:spPr>
      </p:sp>
      <p:sp>
        <p:nvSpPr>
          <p:cNvPr id="9" name="Text 6">
            <a:extLst xmlns:a="http://schemas.openxmlformats.org/drawingml/2006/main">
              <a:ext uri="{FF2B5EF4-FFF2-40B4-BE49-F238E27FC236}">
                <a16:creationId xmlns:a16="http://schemas.microsoft.com/office/drawing/2014/main" id="{FF468C0D-1E77-4156-8590-7D70ADD7716E}"/>
              </a:ext>
            </a:extLst>
          </p:cNvPr>
          <p:cNvSpPr>
            <a:spLocks xmlns:a="http://schemas.openxmlformats.org/drawingml/2006/main" noGrp="1"/>
          </p:cNvSpPr>
          <p:nvPr/>
        </p:nvSpPr>
        <p:spPr>
          <a:xfrm xmlns:a="http://schemas.openxmlformats.org/drawingml/2006/main">
            <a:off x="4846320" y="1188720"/>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xmlns:a="http://schemas.openxmlformats.org/drawingml/2006/main">
              <a:ext uri="{FF2B5EF4-FFF2-40B4-BE49-F238E27FC236}">
                <a16:creationId xmlns:a16="http://schemas.microsoft.com/office/drawing/2014/main" id="{0AF12DBF-89ED-4AD6-8C03-FD65F403C158}"/>
              </a:ext>
            </a:extLst>
          </p:cNvPr>
          <p:cNvSpPr>
            <a:spLocks xmlns:a="http://schemas.openxmlformats.org/drawingml/2006/main" noGrp="1"/>
          </p:cNvSpPr>
          <p:nvPr/>
        </p:nvSpPr>
        <p:spPr>
          <a:xfrm xmlns:a="http://schemas.openxmlformats.org/drawingml/2006/main">
            <a:off x="4846320" y="1600200"/>
            <a:ext cx="365760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333333"/>
                </a:solidFill>
                <a:latin typeface="Times New Roman"/>
                <a:ea typeface="Times New Roman"/>
                <a:cs typeface="Times New Roman"/>
              </a:rPr>
              <a:t>The gateway routes requests by URL path. Order Service calls Product Service using REST and Invoice Service using SOAP. A shared @Aspect uses @Around advice to time public service methods and record success or failure, without repeating logging code.</a:t>
            </a:r>
            <a:endParaRPr sz="1300"/>
          </a:p>
        </p:txBody>
      </p:sp>
    </p:spTree>
    <p:extLst>
      <p:ext uri="{BB962C8B-B14F-4D97-AF65-F5344CB8AC3E}">
        <p14:creationId xmlns:p14="http://schemas.microsoft.com/office/powerpoint/2010/main" val="20376599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B426EBD-5DC0-41EA-96E6-DAD60876047D}"/>
              </a:ext>
            </a:extLst>
          </p:cNvPr>
          <p:cNvPicPr>
            <a:picLocks xmlns:a="http://schemas.openxmlformats.org/drawingml/2006/main" noChangeAspect="1"/>
          </p:cNvPicPr>
          <p:nvPr/>
        </p:nvPicPr>
        <p:blipFill>
          <a:blip xmlns:r="http://schemas.openxmlformats.org/officeDocument/2006/relationships" xmlns:a="http://schemas.openxmlformats.org/drawingml/2006/main" r:embed="R88d79a8738fe4a87"/>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4BD49182-B538-453E-B115-0EA1FA931817}"/>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78C46C95-CFE7-45E5-A09C-90AC7DCEA5B9}"/>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Module 5: Service Communication</a:t>
            </a:r>
            <a:endParaRPr sz="1800"/>
          </a:p>
        </p:txBody>
      </p:sp>
      <p:graphicFrame>
        <p:nvGraphicFramePr>
          <p:cNvPr id="5" name="">
            <a:extLst xmlns:a="http://schemas.openxmlformats.org/drawingml/2006/main">
              <a:ext uri="{FF2B5EF4-FFF2-40B4-BE49-F238E27FC236}">
                <a16:creationId xmlns:a16="http://schemas.microsoft.com/office/drawing/2014/main" id="{3E270C07-49C9-49B7-8C5A-427B6B1641D4}"/>
              </a:ext>
            </a:extLst>
          </p:cNvPr>
          <p:cNvGraphicFramePr/>
          <p:nvPr/>
        </p:nvGraphicFramePr>
        <p:xfrm>
          <a:off xmlns:a="http://schemas.openxmlformats.org/drawingml/2006/main" x="638175" y="952500"/>
          <a:ext xmlns:a="http://schemas.openxmlformats.org/drawingml/2006/main" cx="7867650" cy="2419350"/>
        </p:xfrm>
        <a:graphic xmlns:a="http://schemas.openxmlformats.org/drawingml/2006/main">
          <a:graphicData uri="http://schemas.openxmlformats.org/drawingml/2006/table">
            <a:tbl>
              <a:tblPr/>
              <a:tblGrid>
                <a:gridCol w="2324100"/>
                <a:gridCol w="857250"/>
                <a:gridCol w="4686300"/>
              </a:tblGrid>
              <a:tr h="345621">
                <a:tc>
                  <a:txBody>
                    <a:bodyPr/>
                    <a:lstStyle/>
                    <a:p>
                      <a:r>
                        <a:rPr sz="1425" b="1">
                          <a:solidFill>
                            <a:srgbClr val="FFFFFF"/>
                          </a:solidFill>
                          <a:latin typeface="Times New Roman"/>
                          <a:ea typeface="Times New Roman"/>
                          <a:cs typeface="Times New Roman"/>
                        </a:rPr>
                        <a:t>Component</a:t>
                      </a:r>
                    </a:p>
                  </a:txBody>
                  <a:tcPr marL="91440" marR="91440" marT="45720" marB="45720">
                    <a:solidFill>
                      <a:srgbClr val="C55A11"/>
                    </a:solidFill>
                  </a:tcPr>
                </a:tc>
                <a:tc>
                  <a:txBody>
                    <a:bodyPr/>
                    <a:lstStyle/>
                    <a:p>
                      <a:r>
                        <a:rPr sz="1425" b="1">
                          <a:solidFill>
                            <a:srgbClr val="FFFFFF"/>
                          </a:solidFill>
                          <a:latin typeface="Times New Roman"/>
                          <a:ea typeface="Times New Roman"/>
                          <a:cs typeface="Times New Roman"/>
                        </a:rPr>
                        <a:t>Port</a:t>
                      </a:r>
                    </a:p>
                  </a:txBody>
                  <a:tcPr marL="91440" marR="91440" marT="45720" marB="45720">
                    <a:solidFill>
                      <a:srgbClr val="C55A11"/>
                    </a:solidFill>
                  </a:tcPr>
                </a:tc>
                <a:tc>
                  <a:txBody>
                    <a:bodyPr/>
                    <a:lstStyle/>
                    <a:p>
                      <a:r>
                        <a:rPr sz="1425" b="1">
                          <a:solidFill>
                            <a:srgbClr val="FFFFFF"/>
                          </a:solidFill>
                          <a:latin typeface="Times New Roman"/>
                          <a:ea typeface="Times New Roman"/>
                          <a:cs typeface="Times New Roman"/>
                        </a:rPr>
                        <a:t>Responsibility</a:t>
                      </a:r>
                    </a:p>
                  </a:txBody>
                  <a:tcPr marL="91440" marR="91440" marT="45720" marB="45720">
                    <a:solidFill>
                      <a:srgbClr val="C55A11"/>
                    </a:solidFill>
                  </a:tcPr>
                </a:tc>
              </a:tr>
              <a:tr h="345621">
                <a:tc>
                  <a:txBody>
                    <a:bodyPr/>
                    <a:lstStyle/>
                    <a:p>
                      <a:r>
                        <a:rPr sz="1425" b="0">
                          <a:solidFill>
                            <a:srgbClr val="002060"/>
                          </a:solidFill>
                          <a:latin typeface="Times New Roman"/>
                          <a:ea typeface="Times New Roman"/>
                          <a:cs typeface="Times New Roman"/>
                        </a:rPr>
                        <a:t>Angular frontend</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4200</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Shopping and management pages</a:t>
                      </a:r>
                    </a:p>
                  </a:txBody>
                  <a:tcPr marL="91440" marR="91440" marT="45720" marB="45720">
                    <a:solidFill>
                      <a:srgbClr val="FFF6EF"/>
                    </a:solidFill>
                  </a:tcPr>
                </a:tc>
              </a:tr>
              <a:tr h="345621">
                <a:tc>
                  <a:txBody>
                    <a:bodyPr/>
                    <a:lstStyle/>
                    <a:p>
                      <a:r>
                        <a:rPr sz="1425" b="0">
                          <a:solidFill>
                            <a:srgbClr val="002060"/>
                          </a:solidFill>
                          <a:latin typeface="Times New Roman"/>
                          <a:ea typeface="Times New Roman"/>
                          <a:cs typeface="Times New Roman"/>
                        </a:rPr>
                        <a:t>API Gateway</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8080</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Routes frontend API requests</a:t>
                      </a:r>
                    </a:p>
                  </a:txBody>
                  <a:tcPr marL="91440" marR="91440" marT="45720" marB="45720">
                    <a:solidFill>
                      <a:srgbClr val="FFFFFF"/>
                    </a:solidFill>
                  </a:tcPr>
                </a:tc>
              </a:tr>
              <a:tr h="345621">
                <a:tc>
                  <a:txBody>
                    <a:bodyPr/>
                    <a:lstStyle/>
                    <a:p>
                      <a:r>
                        <a:rPr sz="1425" b="0">
                          <a:solidFill>
                            <a:srgbClr val="002060"/>
                          </a:solidFill>
                          <a:latin typeface="Times New Roman"/>
                          <a:ea typeface="Times New Roman"/>
                          <a:cs typeface="Times New Roman"/>
                        </a:rPr>
                        <a:t>User Service</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8081</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Accounts, login and roles</a:t>
                      </a:r>
                    </a:p>
                  </a:txBody>
                  <a:tcPr marL="91440" marR="91440" marT="45720" marB="45720">
                    <a:solidFill>
                      <a:srgbClr val="FFF6EF"/>
                    </a:solidFill>
                  </a:tcPr>
                </a:tc>
              </a:tr>
              <a:tr h="345621">
                <a:tc>
                  <a:txBody>
                    <a:bodyPr/>
                    <a:lstStyle/>
                    <a:p>
                      <a:r>
                        <a:rPr sz="1425" b="0">
                          <a:solidFill>
                            <a:srgbClr val="002060"/>
                          </a:solidFill>
                          <a:latin typeface="Times New Roman"/>
                          <a:ea typeface="Times New Roman"/>
                          <a:cs typeface="Times New Roman"/>
                        </a:rPr>
                        <a:t>Product Service</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8082</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Listings and stock reservations</a:t>
                      </a:r>
                    </a:p>
                  </a:txBody>
                  <a:tcPr marL="91440" marR="91440" marT="45720" marB="45720">
                    <a:solidFill>
                      <a:srgbClr val="FFFFFF"/>
                    </a:solidFill>
                  </a:tcPr>
                </a:tc>
              </a:tr>
              <a:tr h="345621">
                <a:tc>
                  <a:txBody>
                    <a:bodyPr/>
                    <a:lstStyle/>
                    <a:p>
                      <a:r>
                        <a:rPr sz="1425" b="0">
                          <a:solidFill>
                            <a:srgbClr val="002060"/>
                          </a:solidFill>
                          <a:latin typeface="Times New Roman"/>
                          <a:ea typeface="Times New Roman"/>
                          <a:cs typeface="Times New Roman"/>
                        </a:rPr>
                        <a:t>Order Service</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8083</a:t>
                      </a:r>
                    </a:p>
                  </a:txBody>
                  <a:tcPr marL="91440" marR="91440" marT="45720" marB="45720">
                    <a:solidFill>
                      <a:srgbClr val="FFF6EF"/>
                    </a:solidFill>
                  </a:tcPr>
                </a:tc>
                <a:tc>
                  <a:txBody>
                    <a:bodyPr/>
                    <a:lstStyle/>
                    <a:p>
                      <a:r>
                        <a:rPr sz="1425" b="0">
                          <a:solidFill>
                            <a:srgbClr val="002060"/>
                          </a:solidFill>
                          <a:latin typeface="Times New Roman"/>
                          <a:ea typeface="Times New Roman"/>
                          <a:cs typeface="Times New Roman"/>
                        </a:rPr>
                        <a:t>Checkout and order history</a:t>
                      </a:r>
                    </a:p>
                  </a:txBody>
                  <a:tcPr marL="91440" marR="91440" marT="45720" marB="45720">
                    <a:solidFill>
                      <a:srgbClr val="FFF6EF"/>
                    </a:solidFill>
                  </a:tcPr>
                </a:tc>
              </a:tr>
              <a:tr h="345621">
                <a:tc>
                  <a:txBody>
                    <a:bodyPr/>
                    <a:lstStyle/>
                    <a:p>
                      <a:r>
                        <a:rPr sz="1425" b="0">
                          <a:solidFill>
                            <a:srgbClr val="002060"/>
                          </a:solidFill>
                          <a:latin typeface="Times New Roman"/>
                          <a:ea typeface="Times New Roman"/>
                          <a:cs typeface="Times New Roman"/>
                        </a:rPr>
                        <a:t>Invoice Service</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8084</a:t>
                      </a:r>
                    </a:p>
                  </a:txBody>
                  <a:tcPr marL="91440" marR="91440" marT="45720" marB="45720">
                    <a:solidFill>
                      <a:srgbClr val="FFFFFF"/>
                    </a:solidFill>
                  </a:tcPr>
                </a:tc>
                <a:tc>
                  <a:txBody>
                    <a:bodyPr/>
                    <a:lstStyle/>
                    <a:p>
                      <a:r>
                        <a:rPr sz="1425" b="0">
                          <a:solidFill>
                            <a:srgbClr val="002060"/>
                          </a:solidFill>
                          <a:latin typeface="Times New Roman"/>
                          <a:ea typeface="Times New Roman"/>
                          <a:cs typeface="Times New Roman"/>
                        </a:rPr>
                        <a:t>SOAP invoice generation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1A78978-A272-4277-AC8C-4D09D324F25A}"/>
              </a:ext>
            </a:extLst>
          </p:cNvPr>
          <p:cNvSpPr>
            <a:spLocks xmlns:a="http://schemas.openxmlformats.org/drawingml/2006/main" noGrp="1"/>
          </p:cNvSpPr>
          <p:nvPr/>
        </p:nvSpPr>
        <p:spPr>
          <a:xfrm xmlns:a="http://schemas.openxmlformats.org/drawingml/2006/main">
            <a:off x="638175" y="3590925"/>
            <a:ext cx="7867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2060"/>
                </a:solidFill>
                <a:latin typeface="Times New Roman"/>
                <a:ea typeface="Times New Roman"/>
                <a:cs typeface="Times New Roman"/>
              </a:defRPr>
            </a:defPPr>
          </a:lstStyle>
          <a:p xmlns:a="http://schemas.openxmlformats.org/drawingml/2006/main">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Order Service calls Product Service over REST and Invoice Service over SOAP. Each business service owns a database in CockroachDB.</a:t>
            </a:r>
          </a:p>
        </p:txBody>
      </p:sp>
      <p:sp>
        <p:nvSpPr>
          <p:cNvPr id="7" name="">
            <a:extLst xmlns:a="http://schemas.openxmlformats.org/drawingml/2006/main">
              <a:ext uri="{FF2B5EF4-FFF2-40B4-BE49-F238E27FC236}">
                <a16:creationId xmlns:a16="http://schemas.microsoft.com/office/drawing/2014/main" id="{13B72A38-221B-4D5F-AE82-A97DB6D756E7}"/>
              </a:ext>
            </a:extLst>
          </p:cNvPr>
          <p:cNvSpPr>
            <a:spLocks xmlns:a="http://schemas.openxmlformats.org/drawingml/2006/main" noGrp="1"/>
          </p:cNvSpPr>
          <p:nvPr/>
        </p:nvSpPr>
        <p:spPr>
          <a:xfrm xmlns:a="http://schemas.openxmlformats.org/drawingml/2006/main">
            <a:off x="638175" y="4410075"/>
            <a:ext cx="7867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C55A11"/>
                </a:solidFill>
                <a:latin typeface="Times New Roman"/>
                <a:ea typeface="Times New Roman"/>
                <a:cs typeface="Times New Roman"/>
              </a:defRPr>
            </a:defPPr>
          </a:lstStyle>
          <a:p xmlns:a="http://schemas.openxmlformats.org/drawingml/2006/main">
            <a:pPr>
              <a:defRPr sz="1575" b="1">
                <a:solidFill>
                  <a:srgbClr val="C55A11"/>
                </a:solidFill>
                <a:latin typeface="Times New Roman"/>
                <a:ea typeface="Times New Roman"/>
                <a:cs typeface="Times New Roman"/>
              </a:defRPr>
            </a:pPr>
            <a:r>
              <a:rPr sz="1575" b="1">
                <a:solidFill>
                  <a:srgbClr val="C55A11"/>
                </a:solidFill>
                <a:latin typeface="Times New Roman"/>
                <a:ea typeface="Times New Roman"/>
                <a:cs typeface="Times New Roman"/>
              </a:rPr>
              <a:t>AOP log fields: operation, outcome, durationMs, traceId</a:t>
            </a:r>
          </a:p>
        </p:txBody>
      </p:sp>
      <p:sp>
        <p:nvSpPr>
          <p:cNvPr id="8" name="">
            <a:extLst xmlns:a="http://schemas.openxmlformats.org/drawingml/2006/main">
              <a:ext uri="{FF2B5EF4-FFF2-40B4-BE49-F238E27FC236}">
                <a16:creationId xmlns:a16="http://schemas.microsoft.com/office/drawing/2014/main" id="{4C39B112-F5D2-477A-BCF5-3818B6041453}"/>
              </a:ext>
            </a:extLst>
          </p:cNvPr>
          <p:cNvSpPr>
            <a:spLocks xmlns:a="http://schemas.openxmlformats.org/drawingml/2006/main" noGrp="1"/>
          </p:cNvSpPr>
          <p:nvPr/>
        </p:nvSpPr>
        <p:spPr>
          <a:xfrm xmlns:a="http://schemas.openxmlformats.org/drawingml/2006/main">
            <a:off x="638175" y="4772025"/>
            <a:ext cx="7867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55555"/>
                </a:solidFill>
                <a:latin typeface="Times New Roman"/>
                <a:ea typeface="Times New Roman"/>
                <a:cs typeface="Times New Roman"/>
              </a:defRPr>
            </a:defPPr>
          </a:lstStyle>
          <a:p xmlns:a="http://schemas.openxmlformats.org/drawingml/2006/main">
            <a:pPr>
              <a:defRPr sz="1350" b="0">
                <a:solidFill>
                  <a:srgbClr val="555555"/>
                </a:solidFill>
                <a:latin typeface="Times New Roman"/>
                <a:ea typeface="Times New Roman"/>
                <a:cs typeface="Times New Roman"/>
              </a:defRPr>
            </a:pPr>
            <a:r>
              <a:rPr sz="1350" b="0">
                <a:solidFill>
                  <a:srgbClr val="555555"/>
                </a:solidFill>
                <a:latin typeface="Times New Roman"/>
                <a:ea typeface="Times New Roman"/>
                <a:cs typeface="Times New Roman"/>
              </a:rPr>
              <a:t>Internal service calls carry a separate backend credential.</a:t>
            </a:r>
          </a:p>
        </p:txBody>
      </p:sp>
    </p:spTree>
    <p:extLst>
      <p:ext uri="{BB962C8B-B14F-4D97-AF65-F5344CB8AC3E}">
        <p14:creationId xmlns:p14="http://schemas.microsoft.com/office/powerpoint/2010/main" val="2405395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5110695-5270-416D-9874-0D1C78151CE3}"/>
              </a:ext>
            </a:extLst>
          </p:cNvPr>
          <p:cNvPicPr>
            <a:picLocks xmlns:a="http://schemas.openxmlformats.org/drawingml/2006/main" noChangeAspect="1"/>
          </p:cNvPicPr>
          <p:nvPr/>
        </p:nvPicPr>
        <p:blipFill>
          <a:blip xmlns:r="http://schemas.openxmlformats.org/officeDocument/2006/relationships" xmlns:a="http://schemas.openxmlformats.org/drawingml/2006/main" r:embed="Rcdcedeeb01504668"/>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1DE293AF-EBE6-4C4A-9C1E-53EE37957522}"/>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9B82AD32-918F-4138-A9E9-EB7C2EF2BD77}"/>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Future Enhancements</a:t>
            </a:r>
            <a:endParaRPr sz="1800"/>
          </a:p>
        </p:txBody>
      </p:sp>
      <p:sp>
        <p:nvSpPr>
          <p:cNvPr id="5" name="Text 2">
            <a:extLst xmlns:a="http://schemas.openxmlformats.org/drawingml/2006/main">
              <a:ext uri="{FF2B5EF4-FFF2-40B4-BE49-F238E27FC236}">
                <a16:creationId xmlns:a16="http://schemas.microsoft.com/office/drawing/2014/main" id="{03FE3732-259B-463E-97B2-8AB8581485FD}"/>
              </a:ext>
            </a:extLst>
          </p:cNvPr>
          <p:cNvSpPr>
            <a:spLocks xmlns:a="http://schemas.openxmlformats.org/drawingml/2006/main" noGrp="1"/>
          </p:cNvSpPr>
          <p:nvPr/>
        </p:nvSpPr>
        <p:spPr>
          <a:xfrm xmlns:a="http://schemas.openxmlformats.org/drawingml/2006/main">
            <a:off x="640080" y="1005840"/>
            <a:ext cx="786384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Integrate a payment provider with secure payment confirmation.</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Add delivery tracking, returns and refund workflows.</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Send order and invoice notifications by email or SMS.</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Use a message broker for asynchronous service events.</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Add centralised monitoring, circuit breakers and service discovery.</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Move uploaded images to managed object storage for deployment.</a:t>
            </a:r>
            <a:endParaRPr sz="1600"/>
          </a:p>
        </p:txBody>
      </p:sp>
    </p:spTree>
    <p:extLst>
      <p:ext uri="{BB962C8B-B14F-4D97-AF65-F5344CB8AC3E}">
        <p14:creationId xmlns:p14="http://schemas.microsoft.com/office/powerpoint/2010/main" val="5833714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0D62692-069A-4C0C-8C5A-D558CA097B43}"/>
              </a:ext>
            </a:extLst>
          </p:cNvPr>
          <p:cNvPicPr>
            <a:picLocks xmlns:a="http://schemas.openxmlformats.org/drawingml/2006/main" noChangeAspect="1"/>
          </p:cNvPicPr>
          <p:nvPr/>
        </p:nvPicPr>
        <p:blipFill>
          <a:blip xmlns:r="http://schemas.openxmlformats.org/officeDocument/2006/relationships" xmlns:a="http://schemas.openxmlformats.org/drawingml/2006/main" r:embed="R91dfcb0593b44f93"/>
          <a:stretch xmlns:a="http://schemas.openxmlformats.org/drawingml/2006/main">
            <a:fillRect l="0" t="0" r="0" b="0"/>
          </a:stretch>
        </p:blipFill>
        <p:spPr>
          <a:xfrm xmlns:a="http://schemas.openxmlformats.org/drawingml/2006/main">
            <a:off x="274320" y="182880"/>
            <a:ext cx="1097280" cy="402336"/>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7696FFDA-1821-4253-89B9-D78AD40B1F21}"/>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oundRect">
            <a:avLst>
              <a:gd name="adj" fmla="val 23077"/>
            </a:avLst>
          </a:prstGeom>
          <a:solidFill xmlns:a="http://schemas.openxmlformats.org/drawingml/2006/main">
            <a:srgbClr val="FF6600"/>
          </a:solidFill>
          <a:ln xmlns:a="http://schemas.openxmlformats.org/drawingml/2006/main" w="12700">
            <a:solidFill>
              <a:srgbClr val="FF6600"/>
            </a:solidFill>
            <a:prstDash val="solid"/>
          </a:ln>
          <a:effectLst xmlns:a="http://schemas.openxmlformats.org/drawingml/2006/main">
            <a:outerShdw blurRad="76200" dist="38100" dir="5400000" algn="bl" rotWithShape="0">
              <a:srgbClr val="000000">
                <a:alpha val="35000"/>
              </a:srgbClr>
            </a:outerShdw>
          </a:effectLst>
        </p:spPr>
      </p:sp>
      <p:sp>
        <p:nvSpPr>
          <p:cNvPr id="4" name="Text 1">
            <a:extLst xmlns:a="http://schemas.openxmlformats.org/drawingml/2006/main">
              <a:ext uri="{FF2B5EF4-FFF2-40B4-BE49-F238E27FC236}">
                <a16:creationId xmlns:a16="http://schemas.microsoft.com/office/drawing/2014/main" id="{F35FE038-8D41-45EE-937E-EB19029FAF48}"/>
              </a:ext>
            </a:extLst>
          </p:cNvPr>
          <p:cNvSpPr>
            <a:spLocks xmlns:a="http://schemas.openxmlformats.org/drawingml/2006/main" noGrp="1"/>
          </p:cNvSpPr>
          <p:nvPr/>
        </p:nvSpPr>
        <p:spPr>
          <a:xfrm xmlns:a="http://schemas.openxmlformats.org/drawingml/2006/main">
            <a:off x="1645920" y="164592"/>
            <a:ext cx="68580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Times New Roman"/>
                <a:ea typeface="Times New Roman"/>
                <a:cs typeface="Times New Roman"/>
              </a:rPr>
              <a:t>Conclusion</a:t>
            </a:r>
            <a:endParaRPr sz="1800"/>
          </a:p>
        </p:txBody>
      </p:sp>
      <p:sp>
        <p:nvSpPr>
          <p:cNvPr id="5" name="Text 2">
            <a:extLst xmlns:a="http://schemas.openxmlformats.org/drawingml/2006/main">
              <a:ext uri="{FF2B5EF4-FFF2-40B4-BE49-F238E27FC236}">
                <a16:creationId xmlns:a16="http://schemas.microsoft.com/office/drawing/2014/main" id="{EC77908A-0739-409A-962D-4A102B97D8F0}"/>
              </a:ext>
            </a:extLst>
          </p:cNvPr>
          <p:cNvSpPr>
            <a:spLocks xmlns:a="http://schemas.openxmlformats.org/drawingml/2006/main" noGrp="1"/>
          </p:cNvSpPr>
          <p:nvPr/>
        </p:nvSpPr>
        <p:spPr>
          <a:xfrm xmlns:a="http://schemas.openxmlformats.org/drawingml/2006/main">
            <a:off x="640080" y="1005840"/>
            <a:ext cx="786384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Built a marketplace with customer, seller and administrator workflows.</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Implemented REST product and order APIs with validation and access control.</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Used stock reservations and retry handling to keep checkout consistent.</a:t>
            </a:r>
            <a:endParaRPr sz="1600"/>
          </a:p>
          <a:p xmlns:a="http://schemas.openxmlformats.org/drawingml/2006/main">
            <a:pPr marL="342900" indent="-342900">
              <a:spcAft>
                <a:spcPts val="800"/>
              </a:spcAft>
              <a:buSzPct val="100000"/>
              <a:buChar char="•"/>
            </a:pPr>
            <a:r>
              <a:rPr sz="1600">
                <a:solidFill>
                  <a:srgbClr val="333333"/>
                </a:solidFill>
                <a:latin typeface="Times New Roman"/>
                <a:ea typeface="Times New Roman"/>
                <a:cs typeface="Times New Roman"/>
              </a:rPr>
              <a:t>Demonstrated SOAP invoicing, AOP logging and separate service databases.</a:t>
            </a:r>
            <a:endParaRPr sz="1600"/>
          </a:p>
        </p:txBody>
      </p:sp>
    </p:spTree>
    <p:extLst>
      <p:ext uri="{BB962C8B-B14F-4D97-AF65-F5344CB8AC3E}">
        <p14:creationId xmlns:p14="http://schemas.microsoft.com/office/powerpoint/2010/main" val="14530507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09DCD07-4027-438B-A8F8-18489486D502}"/>
              </a:ext>
            </a:extLst>
          </p:cNvPr>
          <p:cNvPicPr>
            <a:picLocks xmlns:a="http://schemas.openxmlformats.org/drawingml/2006/main" noChangeAspect="1"/>
          </p:cNvPicPr>
          <p:nvPr/>
        </p:nvPicPr>
        <p:blipFill>
          <a:blip xmlns:r="http://schemas.openxmlformats.org/officeDocument/2006/relationships" xmlns:a="http://schemas.openxmlformats.org/drawingml/2006/main" r:embed="R5a9280601bd8432d"/>
          <a:stretch xmlns:a="http://schemas.openxmlformats.org/drawingml/2006/main">
            <a:fillRect l="0" t="0" r="0" b="0"/>
          </a:stretch>
        </p:blipFill>
        <p:spPr>
          <a:xfrm xmlns:a="http://schemas.openxmlformats.org/drawingml/2006/main">
            <a:off x="2286000" y="914400"/>
            <a:ext cx="4572000" cy="621792"/>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8FA694E-1982-4C8E-9B97-E1ED72173C9B}"/>
              </a:ext>
            </a:extLst>
          </p:cNvPr>
          <p:cNvSpPr>
            <a:spLocks xmlns:a="http://schemas.openxmlformats.org/drawingml/2006/main" noGrp="1"/>
          </p:cNvSpPr>
          <p:nvPr/>
        </p:nvSpPr>
        <p:spPr>
          <a:xfrm xmlns:a="http://schemas.openxmlformats.org/drawingml/2006/main">
            <a:off x="457200" y="2103120"/>
            <a:ext cx="8229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C55A11"/>
                </a:solidFill>
                <a:latin typeface="Times New Roman"/>
                <a:ea typeface="Times New Roman"/>
                <a:cs typeface="Times New Roman"/>
              </a:rPr>
              <a:t>THANK YOU...</a:t>
            </a:r>
            <a:endParaRPr sz="4000"/>
          </a:p>
        </p:txBody>
      </p:sp>
      <p:sp>
        <p:nvSpPr>
          <p:cNvPr id="4" name="Text 1">
            <a:extLst xmlns:a="http://schemas.openxmlformats.org/drawingml/2006/main">
              <a:ext uri="{FF2B5EF4-FFF2-40B4-BE49-F238E27FC236}">
                <a16:creationId xmlns:a16="http://schemas.microsoft.com/office/drawing/2014/main" id="{C48BE291-6032-4AFF-AACA-1FABE48D9C6C}"/>
              </a:ext>
            </a:extLst>
          </p:cNvPr>
          <p:cNvSpPr>
            <a:spLocks xmlns:a="http://schemas.openxmlformats.org/drawingml/2006/main" noGrp="1"/>
          </p:cNvSpPr>
          <p:nvPr/>
        </p:nvSpPr>
        <p:spPr>
          <a:xfrm xmlns:a="http://schemas.openxmlformats.org/drawingml/2006/main">
            <a:off x="457200" y="3108960"/>
            <a:ext cx="8229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002060"/>
                </a:solidFill>
                <a:latin typeface="Times New Roman"/>
                <a:ea typeface="Times New Roman"/>
                <a:cs typeface="Times New Roman"/>
              </a:rPr>
              <a:t>E-Commerce Product &amp; Order Management System</a:t>
            </a:r>
            <a:endParaRPr sz="1800"/>
          </a:p>
        </p:txBody>
      </p:sp>
    </p:spTree>
    <p:extLst>
      <p:ext uri="{BB962C8B-B14F-4D97-AF65-F5344CB8AC3E}">
        <p14:creationId xmlns:p14="http://schemas.microsoft.com/office/powerpoint/2010/main" val="150576521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2026-10-09T09:30:26.5930000Z</dcterms:created>
  <dcterms:modified xsi:type="dcterms:W3CDTF">2026-10-09T09:30:26.5940000Z</dcterms:modified>
</coreProperties>
</file>