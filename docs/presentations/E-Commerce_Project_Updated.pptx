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3: E-Commerce Product &amp; Order Management System, also called ApexMart. The team names, roll numbers and batch number follow the supplied reference.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five presentation modules group related features. The runtime consists of four business microservices and one API Gateway. Slide 18 closes the 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docs/architecture.md and docs/api.md. If asked why this exists alongside Amazon or Flipkart: the objective is to implement and explain the engineering of a smaller marketplace. It is an academic implementation, with possible adaptation for local sellers or a campus community.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docs/architecture.md, common/src/main/java/com/ecom/common/OperationLogging.java. These are the engineering problems addressed by this project, not claims that existing commercial marketplaces lack these features.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docs/api.md and docs/requirements.md. Uploaded image files remain on disk and the database stores their paths. Payment selection is for an academic demonstration, without payment collection.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docs/api.md, user-service and common modules. User Service listens on port 8081. Gateway routes authentication requests but business services enforce JWT authentication. Seller enablement issues an updated token.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saved project captures frontend/__screenshots__/redesign-login.png and admin-login.jpg. Login is email/password rather than phone OTP. /admin is a normal route protected by backend authentication and authorisation.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docs/api.md and product-service. Product Service listens on port 8082. The sample catalogue has 75 products across five categories. Uploaded images are at most 5 MB. Available stock equals stock on hand minus active reservations.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frontend/__screenshots__/redesign-storefront.png, captured during the October 9 frontend checks. Product photo source and licence credits are in frontend/public/photo-credits.html and scripts/data/photo-sources.json. The catalogue contains representative product photos.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docs/architecture.md and docs/api.md. Order Service listens on port 8083. Each service uses its own local database transactions. There is no global transaction across services. Cancellation restores stock once and is unavailable after invoice generation begins. Address line 2 is optional.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docs/verification.json, verifiedAt 2026-10-05T13:30:15.8918644Z. Confirmed order ID: 905ee491-cd92-4973-b4e6-866266a407b1. The table presents the saved real API result, not a new live request. No payment provider was used.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docs/api.md, order-service/src/main/java/com/ecom/order/InvoiceClient.java and invoice-service. Invoice Service listens on port 8084 at /ws. Its WSDL is /ws/invoices.wsdl. An internal service key protects both. Invoices are generated on request, not automatically during checkout.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docs/verification.json, verifiedAt 2026-10-05T13:30:15.8918644Z. Invoice number: INV-4562a4a7-5ba1-4620-93b4-d8428ba3fe83. Order ID: 905ee491-cd92-4973-b4e6-866266a407b1. The table is an editable summary of the recorded invoice response. It is not a screenshot of the invoice page. Invoice line quantities and unit prices equal a total of INR 999.00.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api-gateway/src/main/resources/application.yml, common/src/main/java/com/ecom/common/OperationLogging.java and CommonConfiguration.java. The AOP pointcut is execution(public * com.ecom..*Service.*(..)). call.proceed() executes the business method. Timing includes database and HTTP waits. Self-invocation within the same object bypasses a separate proxy interception. Service URLs come from configuration.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docs/architecture.md and the application.yml files for the five backend applications. Database names: users_db, products_db, orders_db, invoices_db. All are logical databases within the same CockroachDB cluster. Different ports identify different server processes. Gateway removes client-supplied X-Service-Key. Services use configured URLs, without automatic service discovery.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proposed enhancements, not features claimed as implemented. Current payment modes only record a selection. Uploads currently use local disk. Current communication uses configured REST and SOAP URLs.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docs/architecture.md, docs/testing.md and docs/verification.json. The academic value is demonstrating the implementation of API and microservice concepts. Production payments, shipping and large-scale deployment remain future 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Questions and discussion.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0D3AC951-AD17-4A64-BE76-F9CDC223620D}"/>
              </a:ext>
            </a:extLst>
          </p:cNvPr>
          <p:cNvPicPr>
            <a:picLocks noChangeAspect="1"/>
          </p:cNvPicPr>
          <p:nvPr/>
        </p:nvPicPr>
        <p:blipFill>
          <a:blip r:embed="rId3"/>
          <a:stretch>
            <a:fillRect/>
          </a:stretch>
        </p:blipFill>
        <p:spPr>
          <a:xfrm>
            <a:off x="2286000" y="228600"/>
            <a:ext cx="4572000" cy="621792"/>
          </a:xfrm>
          <a:prstGeom prst="rect">
            <a:avLst/>
          </a:prstGeom>
        </p:spPr>
      </p:pic>
      <p:sp>
        <p:nvSpPr>
          <p:cNvPr id="3" name="Text 0">
            <a:extLst>
              <a:ext uri="{FF2B5EF4-FFF2-40B4-BE49-F238E27FC236}">
                <a16:creationId xmlns:a16="http://schemas.microsoft.com/office/drawing/2014/main" id="{A26CC6D6-73EC-4A85-8A10-9D3F4794BC75}"/>
              </a:ext>
            </a:extLst>
          </p:cNvPr>
          <p:cNvSpPr>
            <a:spLocks noGrp="1"/>
          </p:cNvSpPr>
          <p:nvPr/>
        </p:nvSpPr>
        <p:spPr>
          <a:xfrm>
            <a:off x="504613" y="1783417"/>
            <a:ext cx="8229600" cy="411480"/>
          </a:xfrm>
          <a:prstGeom prst="rect">
            <a:avLst/>
          </a:prstGeom>
          <a:noFill/>
        </p:spPr>
        <p:txBody>
          <a:bodyPr wrap="square" lIns="0" tIns="0" rIns="0" bIns="0" anchor="ctr"/>
          <a:lstStyle/>
          <a:p>
            <a:pPr marL="0" indent="0" algn="ctr">
              <a:buNone/>
            </a:pPr>
            <a:r>
              <a:rPr sz="2200" b="1">
                <a:solidFill>
                  <a:srgbClr val="002060"/>
                </a:solidFill>
                <a:latin typeface="Times New Roman"/>
                <a:ea typeface="Times New Roman"/>
                <a:cs typeface="Times New Roman"/>
              </a:rPr>
              <a:t>API &amp; Microservices</a:t>
            </a:r>
            <a:endParaRPr sz="2200"/>
          </a:p>
        </p:txBody>
      </p:sp>
      <p:sp>
        <p:nvSpPr>
          <p:cNvPr id="4" name="Text 1">
            <a:extLst>
              <a:ext uri="{FF2B5EF4-FFF2-40B4-BE49-F238E27FC236}">
                <a16:creationId xmlns:a16="http://schemas.microsoft.com/office/drawing/2014/main" id="{018D53B6-8A00-426A-A8C8-3B159659F467}"/>
              </a:ext>
            </a:extLst>
          </p:cNvPr>
          <p:cNvSpPr>
            <a:spLocks noGrp="1"/>
          </p:cNvSpPr>
          <p:nvPr/>
        </p:nvSpPr>
        <p:spPr>
          <a:xfrm>
            <a:off x="396240" y="2254588"/>
            <a:ext cx="8229600" cy="914400"/>
          </a:xfrm>
          <a:prstGeom prst="rect">
            <a:avLst/>
          </a:prstGeom>
          <a:noFill/>
        </p:spPr>
        <p:txBody>
          <a:bodyPr wrap="square" lIns="0" tIns="0" rIns="0" bIns="0" anchor="ctr"/>
          <a:lstStyle/>
          <a:p>
            <a:pPr marL="0" indent="0" algn="ctr">
              <a:buNone/>
            </a:pPr>
            <a:r>
              <a:rPr sz="2400" b="1">
                <a:solidFill>
                  <a:srgbClr val="C55A11"/>
                </a:solidFill>
                <a:latin typeface="Times New Roman"/>
                <a:ea typeface="Times New Roman"/>
                <a:cs typeface="Times New Roman"/>
              </a:rPr>
              <a:t>Title of the Project:</a:t>
            </a:r>
            <a:endParaRPr sz="2400"/>
          </a:p>
          <a:p>
            <a:pPr marL="0" indent="0" algn="ctr">
              <a:buNone/>
            </a:pPr>
            <a:r>
              <a:rPr sz="2400" b="1">
                <a:solidFill>
                  <a:srgbClr val="002060"/>
                </a:solidFill>
                <a:latin typeface="Times New Roman"/>
                <a:ea typeface="Times New Roman"/>
                <a:cs typeface="Times New Roman"/>
              </a:rPr>
              <a:t>E-Commerce Product &amp; Order Management System</a:t>
            </a:r>
            <a:endParaRPr sz="2400"/>
          </a:p>
        </p:txBody>
      </p:sp>
      <p:sp>
        <p:nvSpPr>
          <p:cNvPr id="5" name="Text 2">
            <a:extLst>
              <a:ext uri="{FF2B5EF4-FFF2-40B4-BE49-F238E27FC236}">
                <a16:creationId xmlns:a16="http://schemas.microsoft.com/office/drawing/2014/main" id="{899FEF73-F705-4E7C-8957-9FBE2D94D0FE}"/>
              </a:ext>
            </a:extLst>
          </p:cNvPr>
          <p:cNvSpPr>
            <a:spLocks noGrp="1"/>
          </p:cNvSpPr>
          <p:nvPr/>
        </p:nvSpPr>
        <p:spPr>
          <a:xfrm>
            <a:off x="457200" y="3189816"/>
            <a:ext cx="8229600" cy="365760"/>
          </a:xfrm>
          <a:prstGeom prst="rect">
            <a:avLst/>
          </a:prstGeom>
          <a:noFill/>
        </p:spPr>
        <p:txBody>
          <a:bodyPr wrap="square" lIns="0" tIns="0" rIns="0" bIns="0" anchor="ctr"/>
          <a:lstStyle/>
          <a:p>
            <a:pPr marL="0" indent="0" algn="ctr">
              <a:buNone/>
            </a:pPr>
            <a:r>
              <a:rPr sz="1600" b="1" dirty="0">
                <a:solidFill>
                  <a:srgbClr val="C55A11"/>
                </a:solidFill>
                <a:latin typeface="Times New Roman"/>
                <a:ea typeface="Times New Roman"/>
                <a:cs typeface="Times New Roman"/>
              </a:rPr>
              <a:t>BATCH NUMBER:</a:t>
            </a:r>
            <a:r>
              <a:rPr lang="en-IN" sz="1600" b="1" dirty="0">
                <a:solidFill>
                  <a:srgbClr val="C55A11"/>
                </a:solidFill>
                <a:latin typeface="Times New Roman"/>
                <a:ea typeface="Times New Roman"/>
                <a:cs typeface="Times New Roman"/>
              </a:rPr>
              <a:t>01</a:t>
            </a:r>
            <a:endParaRPr sz="1600" dirty="0"/>
          </a:p>
        </p:txBody>
      </p:sp>
      <p:sp>
        <p:nvSpPr>
          <p:cNvPr id="6" name="Text 3">
            <a:extLst>
              <a:ext uri="{FF2B5EF4-FFF2-40B4-BE49-F238E27FC236}">
                <a16:creationId xmlns:a16="http://schemas.microsoft.com/office/drawing/2014/main" id="{9D9083C2-A2B2-4840-A762-7997205A5217}"/>
              </a:ext>
            </a:extLst>
          </p:cNvPr>
          <p:cNvSpPr>
            <a:spLocks noGrp="1"/>
          </p:cNvSpPr>
          <p:nvPr/>
        </p:nvSpPr>
        <p:spPr>
          <a:xfrm>
            <a:off x="504613" y="3598840"/>
            <a:ext cx="8229600" cy="274320"/>
          </a:xfrm>
          <a:prstGeom prst="rect">
            <a:avLst/>
          </a:prstGeom>
          <a:noFill/>
        </p:spPr>
        <p:txBody>
          <a:bodyPr wrap="square" lIns="0" tIns="0" rIns="0" bIns="0" anchor="ctr"/>
          <a:lstStyle/>
          <a:p>
            <a:pPr marL="0" indent="0" algn="ctr">
              <a:buNone/>
            </a:pPr>
            <a:r>
              <a:rPr sz="1300" b="1">
                <a:solidFill>
                  <a:srgbClr val="002060"/>
                </a:solidFill>
                <a:latin typeface="Times New Roman"/>
                <a:ea typeface="Times New Roman"/>
                <a:cs typeface="Times New Roman"/>
              </a:rPr>
              <a:t>Presented by</a:t>
            </a:r>
            <a:endParaRPr sz="1300"/>
          </a:p>
        </p:txBody>
      </p:sp>
      <p:sp>
        <p:nvSpPr>
          <p:cNvPr id="7" name="Text 4">
            <a:extLst>
              <a:ext uri="{FF2B5EF4-FFF2-40B4-BE49-F238E27FC236}">
                <a16:creationId xmlns:a16="http://schemas.microsoft.com/office/drawing/2014/main" id="{B7966CB9-BB18-4421-B47A-1FCC016D5DF2}"/>
              </a:ext>
            </a:extLst>
          </p:cNvPr>
          <p:cNvSpPr>
            <a:spLocks noGrp="1"/>
          </p:cNvSpPr>
          <p:nvPr/>
        </p:nvSpPr>
        <p:spPr>
          <a:xfrm>
            <a:off x="2762250" y="3857911"/>
            <a:ext cx="4762500" cy="952500"/>
          </a:xfrm>
          <a:prstGeom prst="rect">
            <a:avLst/>
          </a:prstGeom>
          <a:noFill/>
        </p:spPr>
        <p:txBody>
          <a:bodyPr wrap="square" lIns="0" tIns="0" rIns="0" bIns="0" anchor="t"/>
          <a:lstStyle/>
          <a:p>
            <a:pPr marL="0" indent="0">
              <a:buNone/>
            </a:pPr>
            <a:r>
              <a:rPr lang="en-IN" sz="1400" dirty="0"/>
              <a:t>V Siva Kumar      24B11AI454</a:t>
            </a:r>
          </a:p>
          <a:p>
            <a:pPr marL="0" indent="0">
              <a:buNone/>
            </a:pPr>
            <a:r>
              <a:rPr lang="en-IN" sz="1400" dirty="0"/>
              <a:t>V Sri Sai Kishore 24B11AI452</a:t>
            </a:r>
          </a:p>
          <a:p>
            <a:pPr marL="0" indent="0">
              <a:buNone/>
            </a:pPr>
            <a:r>
              <a:rPr lang="en-IN" sz="1400" dirty="0"/>
              <a:t>P Karthikeya Kumar 24B11AI340</a:t>
            </a:r>
          </a:p>
          <a:p>
            <a:pPr marL="0" indent="0">
              <a:buNone/>
            </a:pPr>
            <a:r>
              <a:rPr lang="en-IN" sz="1400" dirty="0"/>
              <a:t>G Ram Prasad     24B11AI108</a:t>
            </a:r>
            <a:endParaRPr sz="1400" dirty="0"/>
          </a:p>
        </p:txBody>
      </p:sp>
      <p:sp>
        <p:nvSpPr>
          <p:cNvPr id="8" name="Text 5">
            <a:extLst>
              <a:ext uri="{FF2B5EF4-FFF2-40B4-BE49-F238E27FC236}">
                <a16:creationId xmlns:a16="http://schemas.microsoft.com/office/drawing/2014/main" id="{54384608-DDCB-4135-8C2B-28F907F45C81}"/>
              </a:ext>
            </a:extLst>
          </p:cNvPr>
          <p:cNvSpPr>
            <a:spLocks noGrp="1"/>
          </p:cNvSpPr>
          <p:nvPr/>
        </p:nvSpPr>
        <p:spPr>
          <a:xfrm>
            <a:off x="396240" y="1187831"/>
            <a:ext cx="8229600" cy="371052"/>
          </a:xfrm>
          <a:prstGeom prst="rect">
            <a:avLst/>
          </a:prstGeom>
          <a:noFill/>
        </p:spPr>
        <p:txBody>
          <a:bodyPr wrap="square" lIns="0" tIns="0" rIns="0" bIns="0" anchor="ctr"/>
          <a:lstStyle/>
          <a:p>
            <a:pPr marL="0" indent="0" algn="ctr">
              <a:buNone/>
            </a:pPr>
            <a:r>
              <a:rPr sz="1600" b="1">
                <a:solidFill>
                  <a:srgbClr val="002060"/>
                </a:solidFill>
                <a:latin typeface="Times New Roman"/>
                <a:ea typeface="Times New Roman"/>
                <a:cs typeface="Times New Roman"/>
              </a:rPr>
              <a:t>DEPARTMENT OF </a:t>
            </a:r>
          </a:p>
          <a:p>
            <a:pPr marL="0" indent="0" algn="ctr">
              <a:buNone/>
            </a:pPr>
            <a:r>
              <a:rPr sz="1600" b="1">
                <a:solidFill>
                  <a:srgbClr val="002060"/>
                </a:solidFill>
                <a:latin typeface="Times New Roman"/>
                <a:ea typeface="Times New Roman"/>
                <a:cs typeface="Times New Roman"/>
              </a:rPr>
              <a:t>ARTIFICIAL INTELLIGENCE AND MACHINE LEARNING</a:t>
            </a:r>
            <a:endParaRPr sz="1600"/>
          </a:p>
        </p:txBody>
      </p:sp>
    </p:spTree>
    <p:extLst>
      <p:ext uri="{BB962C8B-B14F-4D97-AF65-F5344CB8AC3E}">
        <p14:creationId xmlns:p14="http://schemas.microsoft.com/office/powerpoint/2010/main" val="1696170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FA4E2F38-5BEE-4AB8-96C5-FBE9C1D90A21}"/>
              </a:ext>
            </a:extLst>
          </p:cNvPr>
          <p:cNvPicPr>
            <a:picLocks noChangeAspect="1"/>
          </p:cNvPicPr>
          <p:nvPr/>
        </p:nvPicPr>
        <p:blipFill>
          <a:blip r:embed="rId3"/>
          <a:stretch>
            <a:fillRect/>
          </a:stretch>
        </p:blipFill>
        <p:spPr>
          <a:xfrm>
            <a:off x="274320" y="182880"/>
            <a:ext cx="1097280" cy="402336"/>
          </a:xfrm>
          <a:prstGeom prst="rect">
            <a:avLst/>
          </a:prstGeom>
        </p:spPr>
      </p:pic>
      <p:sp>
        <p:nvSpPr>
          <p:cNvPr id="3" name="Shape 0">
            <a:extLst>
              <a:ext uri="{FF2B5EF4-FFF2-40B4-BE49-F238E27FC236}">
                <a16:creationId xmlns:a16="http://schemas.microsoft.com/office/drawing/2014/main" id="{019A4910-169D-40CF-9153-5DD127810E69}"/>
              </a:ext>
            </a:extLst>
          </p:cNvPr>
          <p:cNvSpPr>
            <a:spLocks noGrp="1"/>
          </p:cNvSpPr>
          <p:nvPr/>
        </p:nvSpPr>
        <p:spPr>
          <a:xfrm>
            <a:off x="1645920" y="164592"/>
            <a:ext cx="6858000" cy="475488"/>
          </a:xfrm>
          <a:prstGeom prst="roundRect">
            <a:avLst>
              <a:gd name="adj" fmla="val 23077"/>
            </a:avLst>
          </a:prstGeom>
          <a:solidFill>
            <a:srgbClr val="FF6600"/>
          </a:solidFill>
          <a:ln w="12700">
            <a:solidFill>
              <a:srgbClr val="FF6600"/>
            </a:solidFill>
            <a:prstDash val="solid"/>
          </a:ln>
          <a:effectLst>
            <a:outerShdw blurRad="76200" dist="38100" dir="5400000" algn="bl" rotWithShape="0">
              <a:srgbClr val="000000">
                <a:alpha val="35000"/>
              </a:srgbClr>
            </a:outerShdw>
          </a:effectLst>
        </p:spPr>
      </p:sp>
      <p:sp>
        <p:nvSpPr>
          <p:cNvPr id="4" name="Text 1">
            <a:extLst>
              <a:ext uri="{FF2B5EF4-FFF2-40B4-BE49-F238E27FC236}">
                <a16:creationId xmlns:a16="http://schemas.microsoft.com/office/drawing/2014/main" id="{324220B6-8539-4244-964D-BE1E3ECEE0E5}"/>
              </a:ext>
            </a:extLst>
          </p:cNvPr>
          <p:cNvSpPr>
            <a:spLocks noGrp="1"/>
          </p:cNvSpPr>
          <p:nvPr/>
        </p:nvSpPr>
        <p:spPr>
          <a:xfrm>
            <a:off x="1645920" y="164592"/>
            <a:ext cx="6858000" cy="475488"/>
          </a:xfrm>
          <a:prstGeom prst="rect">
            <a:avLst/>
          </a:prstGeom>
          <a:noFill/>
        </p:spPr>
        <p:txBody>
          <a:bodyPr wrap="square" lIns="0" tIns="0" rIns="0" bIns="0" anchor="ctr"/>
          <a:lstStyle/>
          <a:p>
            <a:pPr marL="0" indent="0" algn="ctr">
              <a:buNone/>
            </a:pPr>
            <a:r>
              <a:rPr sz="1800" b="1">
                <a:solidFill>
                  <a:srgbClr val="FFFFFF"/>
                </a:solidFill>
                <a:latin typeface="Times New Roman"/>
                <a:ea typeface="Times New Roman"/>
                <a:cs typeface="Times New Roman"/>
              </a:rPr>
              <a:t>Table of Contents</a:t>
            </a:r>
            <a:endParaRPr sz="1800"/>
          </a:p>
        </p:txBody>
      </p:sp>
      <p:sp>
        <p:nvSpPr>
          <p:cNvPr id="5" name="Shape 2">
            <a:extLst>
              <a:ext uri="{FF2B5EF4-FFF2-40B4-BE49-F238E27FC236}">
                <a16:creationId xmlns:a16="http://schemas.microsoft.com/office/drawing/2014/main" id="{28DC3E06-B3F5-47D9-BD63-F9D6D55FC5CE}"/>
              </a:ext>
            </a:extLst>
          </p:cNvPr>
          <p:cNvSpPr>
            <a:spLocks noGrp="1"/>
          </p:cNvSpPr>
          <p:nvPr/>
        </p:nvSpPr>
        <p:spPr>
          <a:xfrm>
            <a:off x="914400" y="978408"/>
            <a:ext cx="384048" cy="384048"/>
          </a:xfrm>
          <a:prstGeom prst="ellipse">
            <a:avLst/>
          </a:prstGeom>
          <a:solidFill>
            <a:srgbClr val="C55A11"/>
          </a:solidFill>
          <a:ln w="12700">
            <a:solidFill>
              <a:srgbClr val="C55A11"/>
            </a:solidFill>
            <a:prstDash val="solid"/>
          </a:ln>
        </p:spPr>
      </p:sp>
      <p:sp>
        <p:nvSpPr>
          <p:cNvPr id="6" name="Text 3">
            <a:extLst>
              <a:ext uri="{FF2B5EF4-FFF2-40B4-BE49-F238E27FC236}">
                <a16:creationId xmlns:a16="http://schemas.microsoft.com/office/drawing/2014/main" id="{96E78076-9857-4881-88C5-BE678E0785A7}"/>
              </a:ext>
            </a:extLst>
          </p:cNvPr>
          <p:cNvSpPr>
            <a:spLocks noGrp="1"/>
          </p:cNvSpPr>
          <p:nvPr/>
        </p:nvSpPr>
        <p:spPr>
          <a:xfrm>
            <a:off x="914400" y="978408"/>
            <a:ext cx="384048" cy="384048"/>
          </a:xfrm>
          <a:prstGeom prst="rect">
            <a:avLst/>
          </a:prstGeom>
          <a:noFill/>
        </p:spPr>
        <p:txBody>
          <a:bodyPr wrap="square" lIns="0" tIns="0" rIns="0" bIns="0" anchor="ctr"/>
          <a:lstStyle/>
          <a:p>
            <a:pPr marL="0" indent="0" algn="ctr">
              <a:buNone/>
            </a:pPr>
            <a:r>
              <a:rPr sz="1400" b="1">
                <a:solidFill>
                  <a:srgbClr val="FFFFFF"/>
                </a:solidFill>
                <a:latin typeface="Times New Roman"/>
                <a:ea typeface="Times New Roman"/>
                <a:cs typeface="Times New Roman"/>
              </a:rPr>
              <a:t>1</a:t>
            </a:r>
            <a:endParaRPr sz="1400"/>
          </a:p>
        </p:txBody>
      </p:sp>
      <p:sp>
        <p:nvSpPr>
          <p:cNvPr id="7" name="Shape 4">
            <a:extLst>
              <a:ext uri="{FF2B5EF4-FFF2-40B4-BE49-F238E27FC236}">
                <a16:creationId xmlns:a16="http://schemas.microsoft.com/office/drawing/2014/main" id="{C448FC6B-16F6-4580-9A11-DB23B994D286}"/>
              </a:ext>
            </a:extLst>
          </p:cNvPr>
          <p:cNvSpPr>
            <a:spLocks noGrp="1"/>
          </p:cNvSpPr>
          <p:nvPr/>
        </p:nvSpPr>
        <p:spPr>
          <a:xfrm>
            <a:off x="1463040" y="960120"/>
            <a:ext cx="6766560" cy="420624"/>
          </a:xfrm>
          <a:prstGeom prst="rect">
            <a:avLst/>
          </a:prstGeom>
          <a:solidFill>
            <a:srgbClr val="FFF6EF"/>
          </a:solidFill>
          <a:ln w="9525">
            <a:solidFill>
              <a:srgbClr val="F2D3BE"/>
            </a:solidFill>
            <a:prstDash val="solid"/>
          </a:ln>
        </p:spPr>
      </p:sp>
      <p:sp>
        <p:nvSpPr>
          <p:cNvPr id="8" name="Text 5">
            <a:extLst>
              <a:ext uri="{FF2B5EF4-FFF2-40B4-BE49-F238E27FC236}">
                <a16:creationId xmlns:a16="http://schemas.microsoft.com/office/drawing/2014/main" id="{EEAD0BA8-B539-4DF4-8DEC-668F35670DDF}"/>
              </a:ext>
            </a:extLst>
          </p:cNvPr>
          <p:cNvSpPr>
            <a:spLocks noGrp="1"/>
          </p:cNvSpPr>
          <p:nvPr/>
        </p:nvSpPr>
        <p:spPr>
          <a:xfrm>
            <a:off x="1600200" y="960120"/>
            <a:ext cx="5120640" cy="420624"/>
          </a:xfrm>
          <a:prstGeom prst="rect">
            <a:avLst/>
          </a:prstGeom>
          <a:noFill/>
        </p:spPr>
        <p:txBody>
          <a:bodyPr wrap="square" lIns="0" tIns="0" rIns="0" bIns="0" anchor="ctr"/>
          <a:lstStyle/>
          <a:p>
            <a:pPr marL="0" indent="0">
              <a:buNone/>
            </a:pPr>
            <a:r>
              <a:rPr sz="1500" b="1">
                <a:solidFill>
                  <a:srgbClr val="002060"/>
                </a:solidFill>
                <a:latin typeface="Times New Roman"/>
                <a:ea typeface="Times New Roman"/>
                <a:cs typeface="Times New Roman"/>
              </a:rPr>
              <a:t>Introduction</a:t>
            </a:r>
            <a:endParaRPr sz="1500"/>
          </a:p>
        </p:txBody>
      </p:sp>
      <p:sp>
        <p:nvSpPr>
          <p:cNvPr id="9" name="Text 6">
            <a:extLst>
              <a:ext uri="{FF2B5EF4-FFF2-40B4-BE49-F238E27FC236}">
                <a16:creationId xmlns:a16="http://schemas.microsoft.com/office/drawing/2014/main" id="{1FFEA87A-3E88-4106-A302-020B3FD7EB35}"/>
              </a:ext>
            </a:extLst>
          </p:cNvPr>
          <p:cNvSpPr>
            <a:spLocks noGrp="1"/>
          </p:cNvSpPr>
          <p:nvPr/>
        </p:nvSpPr>
        <p:spPr>
          <a:xfrm>
            <a:off x="6766560" y="960120"/>
            <a:ext cx="1325880" cy="420624"/>
          </a:xfrm>
          <a:prstGeom prst="rect">
            <a:avLst/>
          </a:prstGeom>
          <a:noFill/>
        </p:spPr>
        <p:txBody>
          <a:bodyPr wrap="square" lIns="0" tIns="0" rIns="0" bIns="0" anchor="ctr"/>
          <a:lstStyle/>
          <a:p>
            <a:pPr marL="0" indent="0" algn="r">
              <a:buNone/>
            </a:pPr>
            <a:r>
              <a:rPr sz="1300" b="1">
                <a:solidFill>
                  <a:srgbClr val="C55A11"/>
                </a:solidFill>
                <a:latin typeface="Times New Roman"/>
                <a:ea typeface="Times New Roman"/>
                <a:cs typeface="Times New Roman"/>
              </a:rPr>
              <a:t>3</a:t>
            </a:r>
            <a:endParaRPr sz="1300"/>
          </a:p>
        </p:txBody>
      </p:sp>
      <p:sp>
        <p:nvSpPr>
          <p:cNvPr id="10" name="Shape 7">
            <a:extLst>
              <a:ext uri="{FF2B5EF4-FFF2-40B4-BE49-F238E27FC236}">
                <a16:creationId xmlns:a16="http://schemas.microsoft.com/office/drawing/2014/main" id="{2078682B-F674-4008-BABD-C0EB5376F090}"/>
              </a:ext>
            </a:extLst>
          </p:cNvPr>
          <p:cNvSpPr>
            <a:spLocks noGrp="1"/>
          </p:cNvSpPr>
          <p:nvPr/>
        </p:nvSpPr>
        <p:spPr>
          <a:xfrm>
            <a:off x="914400" y="1508760"/>
            <a:ext cx="384048" cy="384048"/>
          </a:xfrm>
          <a:prstGeom prst="ellipse">
            <a:avLst/>
          </a:prstGeom>
          <a:solidFill>
            <a:srgbClr val="C55A11"/>
          </a:solidFill>
          <a:ln w="12700">
            <a:solidFill>
              <a:srgbClr val="C55A11"/>
            </a:solidFill>
            <a:prstDash val="solid"/>
          </a:ln>
        </p:spPr>
      </p:sp>
      <p:sp>
        <p:nvSpPr>
          <p:cNvPr id="11" name="Text 8">
            <a:extLst>
              <a:ext uri="{FF2B5EF4-FFF2-40B4-BE49-F238E27FC236}">
                <a16:creationId xmlns:a16="http://schemas.microsoft.com/office/drawing/2014/main" id="{E1A65AE8-EEA2-493A-AE25-F7777998A69E}"/>
              </a:ext>
            </a:extLst>
          </p:cNvPr>
          <p:cNvSpPr>
            <a:spLocks noGrp="1"/>
          </p:cNvSpPr>
          <p:nvPr/>
        </p:nvSpPr>
        <p:spPr>
          <a:xfrm>
            <a:off x="914400" y="1508760"/>
            <a:ext cx="384048" cy="384048"/>
          </a:xfrm>
          <a:prstGeom prst="rect">
            <a:avLst/>
          </a:prstGeom>
          <a:noFill/>
        </p:spPr>
        <p:txBody>
          <a:bodyPr wrap="square" lIns="0" tIns="0" rIns="0" bIns="0" anchor="ctr"/>
          <a:lstStyle/>
          <a:p>
            <a:pPr marL="0" indent="0" algn="ctr">
              <a:buNone/>
            </a:pPr>
            <a:r>
              <a:rPr sz="1400" b="1">
                <a:solidFill>
                  <a:srgbClr val="FFFFFF"/>
                </a:solidFill>
                <a:latin typeface="Times New Roman"/>
                <a:ea typeface="Times New Roman"/>
                <a:cs typeface="Times New Roman"/>
              </a:rPr>
              <a:t>2</a:t>
            </a:r>
            <a:endParaRPr sz="1400"/>
          </a:p>
        </p:txBody>
      </p:sp>
      <p:sp>
        <p:nvSpPr>
          <p:cNvPr id="12" name="Shape 9">
            <a:extLst>
              <a:ext uri="{FF2B5EF4-FFF2-40B4-BE49-F238E27FC236}">
                <a16:creationId xmlns:a16="http://schemas.microsoft.com/office/drawing/2014/main" id="{E65B9381-B10A-4331-B69F-87CA1A72A4EF}"/>
              </a:ext>
            </a:extLst>
          </p:cNvPr>
          <p:cNvSpPr>
            <a:spLocks noGrp="1"/>
          </p:cNvSpPr>
          <p:nvPr/>
        </p:nvSpPr>
        <p:spPr>
          <a:xfrm>
            <a:off x="1463040" y="1490472"/>
            <a:ext cx="6766560" cy="420624"/>
          </a:xfrm>
          <a:prstGeom prst="rect">
            <a:avLst/>
          </a:prstGeom>
          <a:solidFill>
            <a:srgbClr val="FFFFFF"/>
          </a:solidFill>
          <a:ln w="9525">
            <a:solidFill>
              <a:srgbClr val="F2D3BE"/>
            </a:solidFill>
            <a:prstDash val="solid"/>
          </a:ln>
        </p:spPr>
      </p:sp>
      <p:sp>
        <p:nvSpPr>
          <p:cNvPr id="13" name="Text 10">
            <a:extLst>
              <a:ext uri="{FF2B5EF4-FFF2-40B4-BE49-F238E27FC236}">
                <a16:creationId xmlns:a16="http://schemas.microsoft.com/office/drawing/2014/main" id="{3195E48C-F0E2-43FC-A23B-52CDE2D61304}"/>
              </a:ext>
            </a:extLst>
          </p:cNvPr>
          <p:cNvSpPr>
            <a:spLocks noGrp="1"/>
          </p:cNvSpPr>
          <p:nvPr/>
        </p:nvSpPr>
        <p:spPr>
          <a:xfrm>
            <a:off x="1600200" y="1490472"/>
            <a:ext cx="5120640" cy="420624"/>
          </a:xfrm>
          <a:prstGeom prst="rect">
            <a:avLst/>
          </a:prstGeom>
          <a:noFill/>
        </p:spPr>
        <p:txBody>
          <a:bodyPr wrap="square" lIns="0" tIns="0" rIns="0" bIns="0" anchor="ctr"/>
          <a:lstStyle/>
          <a:p>
            <a:pPr marL="0" indent="0">
              <a:buNone/>
            </a:pPr>
            <a:r>
              <a:rPr sz="1500" b="1">
                <a:solidFill>
                  <a:srgbClr val="002060"/>
                </a:solidFill>
                <a:latin typeface="Times New Roman"/>
                <a:ea typeface="Times New Roman"/>
                <a:cs typeface="Times New Roman"/>
              </a:rPr>
              <a:t>Problem Statement &amp; Proposed Solution</a:t>
            </a:r>
            <a:endParaRPr sz="1500"/>
          </a:p>
        </p:txBody>
      </p:sp>
      <p:sp>
        <p:nvSpPr>
          <p:cNvPr id="14" name="Text 11">
            <a:extLst>
              <a:ext uri="{FF2B5EF4-FFF2-40B4-BE49-F238E27FC236}">
                <a16:creationId xmlns:a16="http://schemas.microsoft.com/office/drawing/2014/main" id="{1FFB7A36-6B47-424B-80D9-63E36BC33F2C}"/>
              </a:ext>
            </a:extLst>
          </p:cNvPr>
          <p:cNvSpPr>
            <a:spLocks noGrp="1"/>
          </p:cNvSpPr>
          <p:nvPr/>
        </p:nvSpPr>
        <p:spPr>
          <a:xfrm>
            <a:off x="6766560" y="1490472"/>
            <a:ext cx="1325880" cy="420624"/>
          </a:xfrm>
          <a:prstGeom prst="rect">
            <a:avLst/>
          </a:prstGeom>
          <a:noFill/>
        </p:spPr>
        <p:txBody>
          <a:bodyPr wrap="square" lIns="0" tIns="0" rIns="0" bIns="0" anchor="ctr"/>
          <a:lstStyle/>
          <a:p>
            <a:pPr marL="0" indent="0" algn="r">
              <a:buNone/>
            </a:pPr>
            <a:r>
              <a:rPr sz="1300" b="1">
                <a:solidFill>
                  <a:srgbClr val="C55A11"/>
                </a:solidFill>
                <a:latin typeface="Times New Roman"/>
                <a:ea typeface="Times New Roman"/>
                <a:cs typeface="Times New Roman"/>
              </a:rPr>
              <a:t>4</a:t>
            </a:r>
            <a:endParaRPr sz="1300"/>
          </a:p>
        </p:txBody>
      </p:sp>
      <p:sp>
        <p:nvSpPr>
          <p:cNvPr id="15" name="Shape 12">
            <a:extLst>
              <a:ext uri="{FF2B5EF4-FFF2-40B4-BE49-F238E27FC236}">
                <a16:creationId xmlns:a16="http://schemas.microsoft.com/office/drawing/2014/main" id="{0CCD4F0D-8501-4E70-A1D5-3E2C24116C34}"/>
              </a:ext>
            </a:extLst>
          </p:cNvPr>
          <p:cNvSpPr>
            <a:spLocks noGrp="1"/>
          </p:cNvSpPr>
          <p:nvPr/>
        </p:nvSpPr>
        <p:spPr>
          <a:xfrm>
            <a:off x="914400" y="2039112"/>
            <a:ext cx="384048" cy="384048"/>
          </a:xfrm>
          <a:prstGeom prst="ellipse">
            <a:avLst/>
          </a:prstGeom>
          <a:solidFill>
            <a:srgbClr val="C55A11"/>
          </a:solidFill>
          <a:ln w="12700">
            <a:solidFill>
              <a:srgbClr val="C55A11"/>
            </a:solidFill>
            <a:prstDash val="solid"/>
          </a:ln>
        </p:spPr>
      </p:sp>
      <p:sp>
        <p:nvSpPr>
          <p:cNvPr id="16" name="Text 13">
            <a:extLst>
              <a:ext uri="{FF2B5EF4-FFF2-40B4-BE49-F238E27FC236}">
                <a16:creationId xmlns:a16="http://schemas.microsoft.com/office/drawing/2014/main" id="{BB42F4DB-4492-43D0-9F8C-A1A97BEBBBD4}"/>
              </a:ext>
            </a:extLst>
          </p:cNvPr>
          <p:cNvSpPr>
            <a:spLocks noGrp="1"/>
          </p:cNvSpPr>
          <p:nvPr/>
        </p:nvSpPr>
        <p:spPr>
          <a:xfrm>
            <a:off x="914400" y="2039112"/>
            <a:ext cx="384048" cy="384048"/>
          </a:xfrm>
          <a:prstGeom prst="rect">
            <a:avLst/>
          </a:prstGeom>
          <a:noFill/>
        </p:spPr>
        <p:txBody>
          <a:bodyPr wrap="square" lIns="0" tIns="0" rIns="0" bIns="0" anchor="ctr"/>
          <a:lstStyle/>
          <a:p>
            <a:pPr marL="0" indent="0" algn="ctr">
              <a:buNone/>
            </a:pPr>
            <a:r>
              <a:rPr sz="1400" b="1">
                <a:solidFill>
                  <a:srgbClr val="FFFFFF"/>
                </a:solidFill>
                <a:latin typeface="Times New Roman"/>
                <a:ea typeface="Times New Roman"/>
                <a:cs typeface="Times New Roman"/>
              </a:rPr>
              <a:t>3</a:t>
            </a:r>
            <a:endParaRPr sz="1400"/>
          </a:p>
        </p:txBody>
      </p:sp>
      <p:sp>
        <p:nvSpPr>
          <p:cNvPr id="17" name="Shape 14">
            <a:extLst>
              <a:ext uri="{FF2B5EF4-FFF2-40B4-BE49-F238E27FC236}">
                <a16:creationId xmlns:a16="http://schemas.microsoft.com/office/drawing/2014/main" id="{F376684E-E069-4C4A-B8AD-25788127BAA1}"/>
              </a:ext>
            </a:extLst>
          </p:cNvPr>
          <p:cNvSpPr>
            <a:spLocks noGrp="1"/>
          </p:cNvSpPr>
          <p:nvPr/>
        </p:nvSpPr>
        <p:spPr>
          <a:xfrm>
            <a:off x="1463040" y="2020824"/>
            <a:ext cx="6766560" cy="420624"/>
          </a:xfrm>
          <a:prstGeom prst="rect">
            <a:avLst/>
          </a:prstGeom>
          <a:solidFill>
            <a:srgbClr val="FFF6EF"/>
          </a:solidFill>
          <a:ln w="9525">
            <a:solidFill>
              <a:srgbClr val="F2D3BE"/>
            </a:solidFill>
            <a:prstDash val="solid"/>
          </a:ln>
        </p:spPr>
      </p:sp>
      <p:sp>
        <p:nvSpPr>
          <p:cNvPr id="18" name="Text 15">
            <a:extLst>
              <a:ext uri="{FF2B5EF4-FFF2-40B4-BE49-F238E27FC236}">
                <a16:creationId xmlns:a16="http://schemas.microsoft.com/office/drawing/2014/main" id="{49369EAC-4F53-4EDC-B7C3-7B25F2C5531F}"/>
              </a:ext>
            </a:extLst>
          </p:cNvPr>
          <p:cNvSpPr>
            <a:spLocks noGrp="1"/>
          </p:cNvSpPr>
          <p:nvPr/>
        </p:nvSpPr>
        <p:spPr>
          <a:xfrm>
            <a:off x="1600200" y="2020824"/>
            <a:ext cx="5120640" cy="420624"/>
          </a:xfrm>
          <a:prstGeom prst="rect">
            <a:avLst/>
          </a:prstGeom>
          <a:noFill/>
        </p:spPr>
        <p:txBody>
          <a:bodyPr wrap="square" lIns="0" tIns="0" rIns="0" bIns="0" anchor="ctr"/>
          <a:lstStyle/>
          <a:p>
            <a:pPr marL="0" indent="0">
              <a:buNone/>
            </a:pPr>
            <a:r>
              <a:rPr sz="1500" b="1">
                <a:solidFill>
                  <a:srgbClr val="002060"/>
                </a:solidFill>
                <a:latin typeface="Times New Roman"/>
                <a:ea typeface="Times New Roman"/>
                <a:cs typeface="Times New Roman"/>
              </a:rPr>
              <a:t>Objectives</a:t>
            </a:r>
            <a:endParaRPr sz="1500"/>
          </a:p>
        </p:txBody>
      </p:sp>
      <p:sp>
        <p:nvSpPr>
          <p:cNvPr id="19" name="Text 16">
            <a:extLst>
              <a:ext uri="{FF2B5EF4-FFF2-40B4-BE49-F238E27FC236}">
                <a16:creationId xmlns:a16="http://schemas.microsoft.com/office/drawing/2014/main" id="{D3835CA9-8FE1-43EA-8F26-BD51DE4EF9A6}"/>
              </a:ext>
            </a:extLst>
          </p:cNvPr>
          <p:cNvSpPr>
            <a:spLocks noGrp="1"/>
          </p:cNvSpPr>
          <p:nvPr/>
        </p:nvSpPr>
        <p:spPr>
          <a:xfrm>
            <a:off x="6766560" y="2020824"/>
            <a:ext cx="1325880" cy="420624"/>
          </a:xfrm>
          <a:prstGeom prst="rect">
            <a:avLst/>
          </a:prstGeom>
          <a:noFill/>
        </p:spPr>
        <p:txBody>
          <a:bodyPr wrap="square" lIns="0" tIns="0" rIns="0" bIns="0" anchor="ctr"/>
          <a:lstStyle/>
          <a:p>
            <a:pPr marL="0" indent="0" algn="r">
              <a:buNone/>
            </a:pPr>
            <a:r>
              <a:rPr sz="1300" b="1">
                <a:solidFill>
                  <a:srgbClr val="C55A11"/>
                </a:solidFill>
                <a:latin typeface="Times New Roman"/>
                <a:ea typeface="Times New Roman"/>
                <a:cs typeface="Times New Roman"/>
              </a:rPr>
              <a:t>5</a:t>
            </a:r>
            <a:endParaRPr sz="1300"/>
          </a:p>
        </p:txBody>
      </p:sp>
      <p:sp>
        <p:nvSpPr>
          <p:cNvPr id="25" name="Shape 22">
            <a:extLst>
              <a:ext uri="{FF2B5EF4-FFF2-40B4-BE49-F238E27FC236}">
                <a16:creationId xmlns:a16="http://schemas.microsoft.com/office/drawing/2014/main" id="{9C0094FC-A581-402E-B7E4-7342FAB7FDD2}"/>
              </a:ext>
            </a:extLst>
          </p:cNvPr>
          <p:cNvSpPr>
            <a:spLocks noGrp="1"/>
          </p:cNvSpPr>
          <p:nvPr/>
        </p:nvSpPr>
        <p:spPr>
          <a:xfrm>
            <a:off x="914400" y="2606040"/>
            <a:ext cx="384048" cy="384048"/>
          </a:xfrm>
          <a:prstGeom prst="ellipse">
            <a:avLst/>
          </a:prstGeom>
          <a:solidFill>
            <a:srgbClr val="C55A11"/>
          </a:solidFill>
          <a:ln w="12700">
            <a:solidFill>
              <a:srgbClr val="C55A11"/>
            </a:solidFill>
            <a:prstDash val="solid"/>
          </a:ln>
        </p:spPr>
      </p:sp>
      <p:sp>
        <p:nvSpPr>
          <p:cNvPr id="26" name="Text 23">
            <a:extLst>
              <a:ext uri="{FF2B5EF4-FFF2-40B4-BE49-F238E27FC236}">
                <a16:creationId xmlns:a16="http://schemas.microsoft.com/office/drawing/2014/main" id="{C2D4F0C6-B0A2-46E8-83E3-2918391D7757}"/>
              </a:ext>
            </a:extLst>
          </p:cNvPr>
          <p:cNvSpPr>
            <a:spLocks noGrp="1"/>
          </p:cNvSpPr>
          <p:nvPr/>
        </p:nvSpPr>
        <p:spPr>
          <a:xfrm>
            <a:off x="914400" y="2606040"/>
            <a:ext cx="384048" cy="384048"/>
          </a:xfrm>
          <a:prstGeom prst="rect">
            <a:avLst/>
          </a:prstGeom>
          <a:noFill/>
        </p:spPr>
        <p:txBody>
          <a:bodyPr wrap="square" lIns="0" tIns="0" rIns="0" bIns="0" anchor="ctr"/>
          <a:lstStyle/>
          <a:p>
            <a:pPr marL="0" indent="0" algn="ctr">
              <a:buNone/>
            </a:pPr>
            <a:r>
              <a:rPr sz="1400" b="1">
                <a:solidFill>
                  <a:srgbClr val="FFFFFF"/>
                </a:solidFill>
                <a:latin typeface="Times New Roman"/>
                <a:ea typeface="Times New Roman"/>
                <a:cs typeface="Times New Roman"/>
              </a:rPr>
              <a:t>4</a:t>
            </a:r>
            <a:endParaRPr sz="1400"/>
          </a:p>
        </p:txBody>
      </p:sp>
      <p:sp>
        <p:nvSpPr>
          <p:cNvPr id="27" name="Shape 24">
            <a:extLst>
              <a:ext uri="{FF2B5EF4-FFF2-40B4-BE49-F238E27FC236}">
                <a16:creationId xmlns:a16="http://schemas.microsoft.com/office/drawing/2014/main" id="{F9172A51-077D-46DB-9324-2B01939C0742}"/>
              </a:ext>
            </a:extLst>
          </p:cNvPr>
          <p:cNvSpPr>
            <a:spLocks noGrp="1"/>
          </p:cNvSpPr>
          <p:nvPr/>
        </p:nvSpPr>
        <p:spPr>
          <a:xfrm>
            <a:off x="1463040" y="2587752"/>
            <a:ext cx="6766560" cy="420624"/>
          </a:xfrm>
          <a:prstGeom prst="rect">
            <a:avLst/>
          </a:prstGeom>
          <a:solidFill>
            <a:srgbClr val="FFF6EF"/>
          </a:solidFill>
          <a:ln w="9525">
            <a:solidFill>
              <a:srgbClr val="F2D3BE"/>
            </a:solidFill>
            <a:prstDash val="solid"/>
          </a:ln>
        </p:spPr>
      </p:sp>
      <p:sp>
        <p:nvSpPr>
          <p:cNvPr id="28" name="Text 25">
            <a:extLst>
              <a:ext uri="{FF2B5EF4-FFF2-40B4-BE49-F238E27FC236}">
                <a16:creationId xmlns:a16="http://schemas.microsoft.com/office/drawing/2014/main" id="{3ED742EC-5363-4113-AB1D-9AC38C4E919A}"/>
              </a:ext>
            </a:extLst>
          </p:cNvPr>
          <p:cNvSpPr>
            <a:spLocks noGrp="1"/>
          </p:cNvSpPr>
          <p:nvPr/>
        </p:nvSpPr>
        <p:spPr>
          <a:xfrm>
            <a:off x="1600200" y="2587752"/>
            <a:ext cx="5120640" cy="420624"/>
          </a:xfrm>
          <a:prstGeom prst="rect">
            <a:avLst/>
          </a:prstGeom>
          <a:noFill/>
        </p:spPr>
        <p:txBody>
          <a:bodyPr wrap="square" lIns="0" tIns="0" rIns="0" bIns="0" anchor="ctr"/>
          <a:lstStyle/>
          <a:p>
            <a:pPr marL="0" indent="0">
              <a:buNone/>
            </a:pPr>
            <a:r>
              <a:rPr sz="1500" b="1">
                <a:solidFill>
                  <a:srgbClr val="002060"/>
                </a:solidFill>
                <a:latin typeface="Times New Roman"/>
                <a:ea typeface="Times New Roman"/>
                <a:cs typeface="Times New Roman"/>
              </a:rPr>
              <a:t>Modules in the Project (5 modules, with outputs)</a:t>
            </a:r>
            <a:endParaRPr sz="1500"/>
          </a:p>
        </p:txBody>
      </p:sp>
      <p:sp>
        <p:nvSpPr>
          <p:cNvPr id="29" name="Text 26">
            <a:extLst>
              <a:ext uri="{FF2B5EF4-FFF2-40B4-BE49-F238E27FC236}">
                <a16:creationId xmlns:a16="http://schemas.microsoft.com/office/drawing/2014/main" id="{21F7A25E-C1C4-4D0C-B19A-92393EB825EA}"/>
              </a:ext>
            </a:extLst>
          </p:cNvPr>
          <p:cNvSpPr>
            <a:spLocks noGrp="1"/>
          </p:cNvSpPr>
          <p:nvPr/>
        </p:nvSpPr>
        <p:spPr>
          <a:xfrm>
            <a:off x="6766560" y="2587752"/>
            <a:ext cx="1325880" cy="420624"/>
          </a:xfrm>
          <a:prstGeom prst="rect">
            <a:avLst/>
          </a:prstGeom>
          <a:noFill/>
        </p:spPr>
        <p:txBody>
          <a:bodyPr wrap="square" lIns="0" tIns="0" rIns="0" bIns="0" anchor="ctr"/>
          <a:lstStyle/>
          <a:p>
            <a:pPr marL="0" indent="0" algn="r">
              <a:buNone/>
            </a:pPr>
            <a:r>
              <a:rPr sz="1300" b="1">
                <a:solidFill>
                  <a:srgbClr val="C55A11"/>
                </a:solidFill>
                <a:latin typeface="Times New Roman"/>
                <a:ea typeface="Times New Roman"/>
                <a:cs typeface="Times New Roman"/>
              </a:rPr>
              <a:t>6 - 15</a:t>
            </a:r>
            <a:endParaRPr sz="1300"/>
          </a:p>
        </p:txBody>
      </p:sp>
      <p:sp>
        <p:nvSpPr>
          <p:cNvPr id="30" name="Shape 27">
            <a:extLst>
              <a:ext uri="{FF2B5EF4-FFF2-40B4-BE49-F238E27FC236}">
                <a16:creationId xmlns:a16="http://schemas.microsoft.com/office/drawing/2014/main" id="{1A79CF0C-A8B5-468E-A7BD-1B5B541FCFD6}"/>
              </a:ext>
            </a:extLst>
          </p:cNvPr>
          <p:cNvSpPr>
            <a:spLocks noGrp="1"/>
          </p:cNvSpPr>
          <p:nvPr/>
        </p:nvSpPr>
        <p:spPr>
          <a:xfrm>
            <a:off x="914400" y="3136392"/>
            <a:ext cx="384048" cy="384048"/>
          </a:xfrm>
          <a:prstGeom prst="ellipse">
            <a:avLst/>
          </a:prstGeom>
          <a:solidFill>
            <a:srgbClr val="C55A11"/>
          </a:solidFill>
          <a:ln w="12700">
            <a:solidFill>
              <a:srgbClr val="C55A11"/>
            </a:solidFill>
            <a:prstDash val="solid"/>
          </a:ln>
        </p:spPr>
      </p:sp>
      <p:sp>
        <p:nvSpPr>
          <p:cNvPr id="31" name="Text 28">
            <a:extLst>
              <a:ext uri="{FF2B5EF4-FFF2-40B4-BE49-F238E27FC236}">
                <a16:creationId xmlns:a16="http://schemas.microsoft.com/office/drawing/2014/main" id="{6DE68A30-3206-489A-804C-BA7E07905766}"/>
              </a:ext>
            </a:extLst>
          </p:cNvPr>
          <p:cNvSpPr>
            <a:spLocks noGrp="1"/>
          </p:cNvSpPr>
          <p:nvPr/>
        </p:nvSpPr>
        <p:spPr>
          <a:xfrm>
            <a:off x="914400" y="3136392"/>
            <a:ext cx="384048" cy="384048"/>
          </a:xfrm>
          <a:prstGeom prst="rect">
            <a:avLst/>
          </a:prstGeom>
          <a:noFill/>
        </p:spPr>
        <p:txBody>
          <a:bodyPr wrap="square" lIns="0" tIns="0" rIns="0" bIns="0" anchor="ctr"/>
          <a:lstStyle/>
          <a:p>
            <a:pPr marL="0" indent="0" algn="ctr">
              <a:buNone/>
            </a:pPr>
            <a:r>
              <a:rPr sz="1400" b="1">
                <a:solidFill>
                  <a:srgbClr val="FFFFFF"/>
                </a:solidFill>
                <a:latin typeface="Times New Roman"/>
                <a:ea typeface="Times New Roman"/>
                <a:cs typeface="Times New Roman"/>
              </a:rPr>
              <a:t>5</a:t>
            </a:r>
            <a:endParaRPr sz="1400"/>
          </a:p>
        </p:txBody>
      </p:sp>
      <p:sp>
        <p:nvSpPr>
          <p:cNvPr id="32" name="Shape 29">
            <a:extLst>
              <a:ext uri="{FF2B5EF4-FFF2-40B4-BE49-F238E27FC236}">
                <a16:creationId xmlns:a16="http://schemas.microsoft.com/office/drawing/2014/main" id="{84CA4B4F-9B1A-46D4-B85C-E981D6EF846D}"/>
              </a:ext>
            </a:extLst>
          </p:cNvPr>
          <p:cNvSpPr>
            <a:spLocks noGrp="1"/>
          </p:cNvSpPr>
          <p:nvPr/>
        </p:nvSpPr>
        <p:spPr>
          <a:xfrm>
            <a:off x="1463040" y="3118104"/>
            <a:ext cx="6766560" cy="420624"/>
          </a:xfrm>
          <a:prstGeom prst="rect">
            <a:avLst/>
          </a:prstGeom>
          <a:solidFill>
            <a:srgbClr val="FFFFFF"/>
          </a:solidFill>
          <a:ln w="9525">
            <a:solidFill>
              <a:srgbClr val="F2D3BE"/>
            </a:solidFill>
            <a:prstDash val="solid"/>
          </a:ln>
        </p:spPr>
      </p:sp>
      <p:sp>
        <p:nvSpPr>
          <p:cNvPr id="33" name="Text 30">
            <a:extLst>
              <a:ext uri="{FF2B5EF4-FFF2-40B4-BE49-F238E27FC236}">
                <a16:creationId xmlns:a16="http://schemas.microsoft.com/office/drawing/2014/main" id="{F9F36651-D530-4E8A-A503-3BB54E74AB26}"/>
              </a:ext>
            </a:extLst>
          </p:cNvPr>
          <p:cNvSpPr>
            <a:spLocks noGrp="1"/>
          </p:cNvSpPr>
          <p:nvPr/>
        </p:nvSpPr>
        <p:spPr>
          <a:xfrm>
            <a:off x="1600200" y="3118104"/>
            <a:ext cx="5120640" cy="420624"/>
          </a:xfrm>
          <a:prstGeom prst="rect">
            <a:avLst/>
          </a:prstGeom>
          <a:noFill/>
        </p:spPr>
        <p:txBody>
          <a:bodyPr wrap="square" lIns="0" tIns="0" rIns="0" bIns="0" anchor="ctr"/>
          <a:lstStyle/>
          <a:p>
            <a:pPr marL="0" indent="0">
              <a:buNone/>
            </a:pPr>
            <a:r>
              <a:rPr sz="1500" b="1">
                <a:solidFill>
                  <a:srgbClr val="002060"/>
                </a:solidFill>
                <a:latin typeface="Times New Roman"/>
                <a:ea typeface="Times New Roman"/>
                <a:cs typeface="Times New Roman"/>
              </a:rPr>
              <a:t>Future Enhancements</a:t>
            </a:r>
            <a:endParaRPr sz="1500"/>
          </a:p>
        </p:txBody>
      </p:sp>
      <p:sp>
        <p:nvSpPr>
          <p:cNvPr id="34" name="Text 31">
            <a:extLst>
              <a:ext uri="{FF2B5EF4-FFF2-40B4-BE49-F238E27FC236}">
                <a16:creationId xmlns:a16="http://schemas.microsoft.com/office/drawing/2014/main" id="{7C84AB04-D13B-4457-9AAB-13E7FA3E679B}"/>
              </a:ext>
            </a:extLst>
          </p:cNvPr>
          <p:cNvSpPr>
            <a:spLocks noGrp="1"/>
          </p:cNvSpPr>
          <p:nvPr/>
        </p:nvSpPr>
        <p:spPr>
          <a:xfrm>
            <a:off x="6766560" y="3118104"/>
            <a:ext cx="1325880" cy="420624"/>
          </a:xfrm>
          <a:prstGeom prst="rect">
            <a:avLst/>
          </a:prstGeom>
          <a:noFill/>
        </p:spPr>
        <p:txBody>
          <a:bodyPr wrap="square" lIns="0" tIns="0" rIns="0" bIns="0" anchor="ctr"/>
          <a:lstStyle/>
          <a:p>
            <a:pPr marL="0" indent="0" algn="r">
              <a:buNone/>
            </a:pPr>
            <a:r>
              <a:rPr sz="1300" b="1">
                <a:solidFill>
                  <a:srgbClr val="C55A11"/>
                </a:solidFill>
                <a:latin typeface="Times New Roman"/>
                <a:ea typeface="Times New Roman"/>
                <a:cs typeface="Times New Roman"/>
              </a:rPr>
              <a:t>16</a:t>
            </a:r>
            <a:endParaRPr sz="1300"/>
          </a:p>
        </p:txBody>
      </p:sp>
      <p:sp>
        <p:nvSpPr>
          <p:cNvPr id="35" name="Shape 32">
            <a:extLst>
              <a:ext uri="{FF2B5EF4-FFF2-40B4-BE49-F238E27FC236}">
                <a16:creationId xmlns:a16="http://schemas.microsoft.com/office/drawing/2014/main" id="{1B8C0DFB-B6A2-4C49-9F4F-0D1514D0335B}"/>
              </a:ext>
            </a:extLst>
          </p:cNvPr>
          <p:cNvSpPr>
            <a:spLocks noGrp="1"/>
          </p:cNvSpPr>
          <p:nvPr/>
        </p:nvSpPr>
        <p:spPr>
          <a:xfrm>
            <a:off x="914400" y="3666744"/>
            <a:ext cx="384048" cy="384048"/>
          </a:xfrm>
          <a:prstGeom prst="ellipse">
            <a:avLst/>
          </a:prstGeom>
          <a:solidFill>
            <a:srgbClr val="C55A11"/>
          </a:solidFill>
          <a:ln w="12700">
            <a:solidFill>
              <a:srgbClr val="C55A11"/>
            </a:solidFill>
            <a:prstDash val="solid"/>
          </a:ln>
        </p:spPr>
      </p:sp>
      <p:sp>
        <p:nvSpPr>
          <p:cNvPr id="36" name="Text 33">
            <a:extLst>
              <a:ext uri="{FF2B5EF4-FFF2-40B4-BE49-F238E27FC236}">
                <a16:creationId xmlns:a16="http://schemas.microsoft.com/office/drawing/2014/main" id="{2DA51CA1-2D3C-4305-9E77-EE19CF514819}"/>
              </a:ext>
            </a:extLst>
          </p:cNvPr>
          <p:cNvSpPr>
            <a:spLocks noGrp="1"/>
          </p:cNvSpPr>
          <p:nvPr/>
        </p:nvSpPr>
        <p:spPr>
          <a:xfrm>
            <a:off x="914400" y="3666744"/>
            <a:ext cx="384048" cy="384048"/>
          </a:xfrm>
          <a:prstGeom prst="rect">
            <a:avLst/>
          </a:prstGeom>
          <a:noFill/>
        </p:spPr>
        <p:txBody>
          <a:bodyPr wrap="square" lIns="0" tIns="0" rIns="0" bIns="0" anchor="ctr"/>
          <a:lstStyle/>
          <a:p>
            <a:pPr marL="0" indent="0" algn="ctr">
              <a:buNone/>
            </a:pPr>
            <a:r>
              <a:rPr sz="1400" b="1">
                <a:solidFill>
                  <a:srgbClr val="FFFFFF"/>
                </a:solidFill>
                <a:latin typeface="Times New Roman"/>
                <a:ea typeface="Times New Roman"/>
                <a:cs typeface="Times New Roman"/>
              </a:rPr>
              <a:t>6</a:t>
            </a:r>
            <a:endParaRPr sz="1400"/>
          </a:p>
        </p:txBody>
      </p:sp>
      <p:sp>
        <p:nvSpPr>
          <p:cNvPr id="37" name="Shape 34">
            <a:extLst>
              <a:ext uri="{FF2B5EF4-FFF2-40B4-BE49-F238E27FC236}">
                <a16:creationId xmlns:a16="http://schemas.microsoft.com/office/drawing/2014/main" id="{0FFADE91-89AC-4E97-BA44-5D86FD1F3FBB}"/>
              </a:ext>
            </a:extLst>
          </p:cNvPr>
          <p:cNvSpPr>
            <a:spLocks noGrp="1"/>
          </p:cNvSpPr>
          <p:nvPr/>
        </p:nvSpPr>
        <p:spPr>
          <a:xfrm>
            <a:off x="1463040" y="3648456"/>
            <a:ext cx="6766560" cy="420624"/>
          </a:xfrm>
          <a:prstGeom prst="rect">
            <a:avLst/>
          </a:prstGeom>
          <a:solidFill>
            <a:srgbClr val="FFF6EF"/>
          </a:solidFill>
          <a:ln w="9525">
            <a:solidFill>
              <a:srgbClr val="F2D3BE"/>
            </a:solidFill>
            <a:prstDash val="solid"/>
          </a:ln>
        </p:spPr>
      </p:sp>
      <p:sp>
        <p:nvSpPr>
          <p:cNvPr id="38" name="Text 35">
            <a:extLst>
              <a:ext uri="{FF2B5EF4-FFF2-40B4-BE49-F238E27FC236}">
                <a16:creationId xmlns:a16="http://schemas.microsoft.com/office/drawing/2014/main" id="{658CE72D-2C61-4085-8708-BD0D56B95233}"/>
              </a:ext>
            </a:extLst>
          </p:cNvPr>
          <p:cNvSpPr>
            <a:spLocks noGrp="1"/>
          </p:cNvSpPr>
          <p:nvPr/>
        </p:nvSpPr>
        <p:spPr>
          <a:xfrm>
            <a:off x="1600200" y="3648456"/>
            <a:ext cx="5120640" cy="420624"/>
          </a:xfrm>
          <a:prstGeom prst="rect">
            <a:avLst/>
          </a:prstGeom>
          <a:noFill/>
        </p:spPr>
        <p:txBody>
          <a:bodyPr wrap="square" lIns="0" tIns="0" rIns="0" bIns="0" anchor="ctr"/>
          <a:lstStyle/>
          <a:p>
            <a:pPr marL="0" indent="0">
              <a:buNone/>
            </a:pPr>
            <a:r>
              <a:rPr sz="1500" b="1">
                <a:solidFill>
                  <a:srgbClr val="002060"/>
                </a:solidFill>
                <a:latin typeface="Times New Roman"/>
                <a:ea typeface="Times New Roman"/>
                <a:cs typeface="Times New Roman"/>
              </a:rPr>
              <a:t>Conclusion</a:t>
            </a:r>
            <a:endParaRPr sz="1500"/>
          </a:p>
        </p:txBody>
      </p:sp>
      <p:sp>
        <p:nvSpPr>
          <p:cNvPr id="39" name="Text 36">
            <a:extLst>
              <a:ext uri="{FF2B5EF4-FFF2-40B4-BE49-F238E27FC236}">
                <a16:creationId xmlns:a16="http://schemas.microsoft.com/office/drawing/2014/main" id="{57B17158-7598-47E0-A0BA-C8B2C164DE9C}"/>
              </a:ext>
            </a:extLst>
          </p:cNvPr>
          <p:cNvSpPr>
            <a:spLocks noGrp="1"/>
          </p:cNvSpPr>
          <p:nvPr/>
        </p:nvSpPr>
        <p:spPr>
          <a:xfrm>
            <a:off x="6766560" y="3648456"/>
            <a:ext cx="1325880" cy="420624"/>
          </a:xfrm>
          <a:prstGeom prst="rect">
            <a:avLst/>
          </a:prstGeom>
          <a:noFill/>
        </p:spPr>
        <p:txBody>
          <a:bodyPr wrap="square" lIns="0" tIns="0" rIns="0" bIns="0" anchor="ctr"/>
          <a:lstStyle/>
          <a:p>
            <a:pPr marL="0" indent="0" algn="r">
              <a:buNone/>
            </a:pPr>
            <a:r>
              <a:rPr sz="1300" b="1">
                <a:solidFill>
                  <a:srgbClr val="C55A11"/>
                </a:solidFill>
                <a:latin typeface="Times New Roman"/>
                <a:ea typeface="Times New Roman"/>
                <a:cs typeface="Times New Roman"/>
              </a:rPr>
              <a:t>17</a:t>
            </a:r>
            <a:endParaRPr sz="1300"/>
          </a:p>
        </p:txBody>
      </p:sp>
    </p:spTree>
    <p:extLst>
      <p:ext uri="{BB962C8B-B14F-4D97-AF65-F5344CB8AC3E}">
        <p14:creationId xmlns:p14="http://schemas.microsoft.com/office/powerpoint/2010/main" val="1720097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8AE4E526-94A5-4256-A828-CBC8DFCF53D5}"/>
              </a:ext>
            </a:extLst>
          </p:cNvPr>
          <p:cNvPicPr>
            <a:picLocks noChangeAspect="1"/>
          </p:cNvPicPr>
          <p:nvPr/>
        </p:nvPicPr>
        <p:blipFill>
          <a:blip r:embed="rId3"/>
          <a:stretch>
            <a:fillRect/>
          </a:stretch>
        </p:blipFill>
        <p:spPr>
          <a:xfrm>
            <a:off x="274320" y="182880"/>
            <a:ext cx="1097280" cy="402336"/>
          </a:xfrm>
          <a:prstGeom prst="rect">
            <a:avLst/>
          </a:prstGeom>
        </p:spPr>
      </p:pic>
      <p:sp>
        <p:nvSpPr>
          <p:cNvPr id="3" name="Shape 0">
            <a:extLst>
              <a:ext uri="{FF2B5EF4-FFF2-40B4-BE49-F238E27FC236}">
                <a16:creationId xmlns:a16="http://schemas.microsoft.com/office/drawing/2014/main" id="{4F4A4FBB-D940-45F4-8FEF-F223021B3BE0}"/>
              </a:ext>
            </a:extLst>
          </p:cNvPr>
          <p:cNvSpPr>
            <a:spLocks noGrp="1"/>
          </p:cNvSpPr>
          <p:nvPr/>
        </p:nvSpPr>
        <p:spPr>
          <a:xfrm>
            <a:off x="1645920" y="164592"/>
            <a:ext cx="6858000" cy="475488"/>
          </a:xfrm>
          <a:prstGeom prst="roundRect">
            <a:avLst>
              <a:gd name="adj" fmla="val 23077"/>
            </a:avLst>
          </a:prstGeom>
          <a:solidFill>
            <a:srgbClr val="FF6600"/>
          </a:solidFill>
          <a:ln w="12700">
            <a:solidFill>
              <a:srgbClr val="FF6600"/>
            </a:solidFill>
            <a:prstDash val="solid"/>
          </a:ln>
          <a:effectLst>
            <a:outerShdw blurRad="76200" dist="38100" dir="5400000" algn="bl" rotWithShape="0">
              <a:srgbClr val="000000">
                <a:alpha val="35000"/>
              </a:srgbClr>
            </a:outerShdw>
          </a:effectLst>
        </p:spPr>
      </p:sp>
      <p:sp>
        <p:nvSpPr>
          <p:cNvPr id="4" name="Text 1">
            <a:extLst>
              <a:ext uri="{FF2B5EF4-FFF2-40B4-BE49-F238E27FC236}">
                <a16:creationId xmlns:a16="http://schemas.microsoft.com/office/drawing/2014/main" id="{638F9932-A48D-4B90-9A84-890FADF86A48}"/>
              </a:ext>
            </a:extLst>
          </p:cNvPr>
          <p:cNvSpPr>
            <a:spLocks noGrp="1"/>
          </p:cNvSpPr>
          <p:nvPr/>
        </p:nvSpPr>
        <p:spPr>
          <a:xfrm>
            <a:off x="1645920" y="164592"/>
            <a:ext cx="6858000" cy="475488"/>
          </a:xfrm>
          <a:prstGeom prst="rect">
            <a:avLst/>
          </a:prstGeom>
          <a:noFill/>
        </p:spPr>
        <p:txBody>
          <a:bodyPr wrap="square" lIns="0" tIns="0" rIns="0" bIns="0" anchor="ctr"/>
          <a:lstStyle/>
          <a:p>
            <a:pPr marL="0" indent="0" algn="ctr">
              <a:buNone/>
            </a:pPr>
            <a:r>
              <a:rPr sz="1800" b="1">
                <a:solidFill>
                  <a:srgbClr val="FFFFFF"/>
                </a:solidFill>
                <a:latin typeface="Times New Roman"/>
                <a:ea typeface="Times New Roman"/>
                <a:cs typeface="Times New Roman"/>
              </a:rPr>
              <a:t>Introduction</a:t>
            </a:r>
            <a:endParaRPr sz="1800"/>
          </a:p>
        </p:txBody>
      </p:sp>
      <p:sp>
        <p:nvSpPr>
          <p:cNvPr id="5" name="Text 2">
            <a:extLst>
              <a:ext uri="{FF2B5EF4-FFF2-40B4-BE49-F238E27FC236}">
                <a16:creationId xmlns:a16="http://schemas.microsoft.com/office/drawing/2014/main" id="{44C50F8C-5220-41A9-89E9-468D54720835}"/>
              </a:ext>
            </a:extLst>
          </p:cNvPr>
          <p:cNvSpPr>
            <a:spLocks noGrp="1"/>
          </p:cNvSpPr>
          <p:nvPr/>
        </p:nvSpPr>
        <p:spPr>
          <a:xfrm>
            <a:off x="640080" y="1005840"/>
            <a:ext cx="7863840" cy="2377440"/>
          </a:xfrm>
          <a:prstGeom prst="rect">
            <a:avLst/>
          </a:prstGeom>
          <a:noFill/>
        </p:spPr>
        <p:txBody>
          <a:bodyPr wrap="square" lIns="0" tIns="0" rIns="0" bIns="0" anchor="t"/>
          <a:lstStyle/>
          <a:p>
            <a:pPr marL="342900" indent="-342900">
              <a:spcAft>
                <a:spcPts val="800"/>
              </a:spcAft>
              <a:buSzPct val="100000"/>
              <a:buChar char="•"/>
            </a:pPr>
            <a:r>
              <a:rPr sz="1500">
                <a:solidFill>
                  <a:srgbClr val="333333"/>
                </a:solidFill>
                <a:latin typeface="Times New Roman"/>
                <a:ea typeface="Times New Roman"/>
                <a:cs typeface="Times New Roman"/>
              </a:rPr>
              <a:t>ApexMart is an academic marketplace where customers buy products and sellers manage their listings.</a:t>
            </a:r>
            <a:endParaRPr sz="1500"/>
          </a:p>
          <a:p>
            <a:pPr marL="342900" indent="-342900">
              <a:spcAft>
                <a:spcPts val="800"/>
              </a:spcAft>
              <a:buSzPct val="100000"/>
              <a:buChar char="•"/>
            </a:pPr>
            <a:r>
              <a:rPr sz="1500">
                <a:solidFill>
                  <a:srgbClr val="333333"/>
                </a:solidFill>
                <a:latin typeface="Times New Roman"/>
                <a:ea typeface="Times New Roman"/>
                <a:cs typeface="Times New Roman"/>
              </a:rPr>
              <a:t>Administrators monitor orders and customers, and manage only their own products.</a:t>
            </a:r>
            <a:endParaRPr sz="1500"/>
          </a:p>
          <a:p>
            <a:pPr marL="342900" indent="-342900">
              <a:spcAft>
                <a:spcPts val="800"/>
              </a:spcAft>
              <a:buSzPct val="100000"/>
              <a:buChar char="•"/>
            </a:pPr>
            <a:r>
              <a:rPr sz="1500">
                <a:solidFill>
                  <a:srgbClr val="333333"/>
                </a:solidFill>
                <a:latin typeface="Times New Roman"/>
                <a:ea typeface="Times New Roman"/>
                <a:cs typeface="Times New Roman"/>
              </a:rPr>
              <a:t>Angular provides the storefront. Java Spring Boot services handle users, products, orders and invoices.</a:t>
            </a:r>
            <a:endParaRPr sz="1500"/>
          </a:p>
          <a:p>
            <a:pPr marL="342900" indent="-342900">
              <a:spcAft>
                <a:spcPts val="800"/>
              </a:spcAft>
              <a:buSzPct val="100000"/>
              <a:buChar char="•"/>
            </a:pPr>
            <a:r>
              <a:rPr sz="1500">
                <a:solidFill>
                  <a:srgbClr val="333333"/>
                </a:solidFill>
                <a:latin typeface="Times New Roman"/>
                <a:ea typeface="Times New Roman"/>
                <a:cs typeface="Times New Roman"/>
              </a:rPr>
              <a:t>CockroachDB stores service data. REST connects shopping APIs, while SOAP supports invoice generation.</a:t>
            </a:r>
            <a:endParaRPr sz="1500"/>
          </a:p>
        </p:txBody>
      </p:sp>
      <p:sp>
        <p:nvSpPr>
          <p:cNvPr id="6" name="Shape 3">
            <a:extLst>
              <a:ext uri="{FF2B5EF4-FFF2-40B4-BE49-F238E27FC236}">
                <a16:creationId xmlns:a16="http://schemas.microsoft.com/office/drawing/2014/main" id="{BFFEB895-8B1F-4A6C-ABE0-8037A819FC5C}"/>
              </a:ext>
            </a:extLst>
          </p:cNvPr>
          <p:cNvSpPr>
            <a:spLocks noGrp="1"/>
          </p:cNvSpPr>
          <p:nvPr/>
        </p:nvSpPr>
        <p:spPr>
          <a:xfrm>
            <a:off x="640080" y="3520440"/>
            <a:ext cx="7863840" cy="1097280"/>
          </a:xfrm>
          <a:prstGeom prst="rect">
            <a:avLst/>
          </a:prstGeom>
          <a:solidFill>
            <a:srgbClr val="FFF6EF"/>
          </a:solidFill>
          <a:ln w="12700">
            <a:solidFill>
              <a:srgbClr val="C55A11"/>
            </a:solidFill>
            <a:prstDash val="solid"/>
          </a:ln>
        </p:spPr>
      </p:sp>
      <p:sp>
        <p:nvSpPr>
          <p:cNvPr id="7" name="Text 4">
            <a:extLst>
              <a:ext uri="{FF2B5EF4-FFF2-40B4-BE49-F238E27FC236}">
                <a16:creationId xmlns:a16="http://schemas.microsoft.com/office/drawing/2014/main" id="{CF12207B-17D0-42F1-85C4-EA2E231E36E1}"/>
              </a:ext>
            </a:extLst>
          </p:cNvPr>
          <p:cNvSpPr>
            <a:spLocks noGrp="1"/>
          </p:cNvSpPr>
          <p:nvPr/>
        </p:nvSpPr>
        <p:spPr>
          <a:xfrm>
            <a:off x="822960" y="3566160"/>
            <a:ext cx="7498080" cy="1005840"/>
          </a:xfrm>
          <a:prstGeom prst="rect">
            <a:avLst/>
          </a:prstGeom>
          <a:noFill/>
        </p:spPr>
        <p:txBody>
          <a:bodyPr wrap="square" lIns="0" tIns="0" rIns="0" bIns="0" anchor="ctr"/>
          <a:lstStyle/>
          <a:p>
            <a:pPr marL="0" indent="0">
              <a:buNone/>
            </a:pPr>
            <a:r>
              <a:rPr sz="1400" b="1">
                <a:solidFill>
                  <a:srgbClr val="C55A11"/>
                </a:solidFill>
                <a:latin typeface="Times New Roman"/>
                <a:ea typeface="Times New Roman"/>
                <a:cs typeface="Times New Roman"/>
              </a:rPr>
              <a:t>Main Idea  </a:t>
            </a:r>
            <a:endParaRPr sz="1400"/>
          </a:p>
          <a:p>
            <a:pPr marL="0" indent="0">
              <a:buNone/>
            </a:pPr>
            <a:r>
              <a:rPr sz="1400" b="1">
                <a:solidFill>
                  <a:srgbClr val="C55A11"/>
                </a:solidFill>
                <a:latin typeface="Times New Roman"/>
                <a:ea typeface="Times New Roman"/>
                <a:cs typeface="Times New Roman"/>
              </a:rPr>
              <a:t>A working marketplace that demonstrates API design, secure access, inventory control and communication between microservices.</a:t>
            </a:r>
            <a:endParaRPr sz="1400"/>
          </a:p>
        </p:txBody>
      </p:sp>
    </p:spTree>
    <p:extLst>
      <p:ext uri="{BB962C8B-B14F-4D97-AF65-F5344CB8AC3E}">
        <p14:creationId xmlns:p14="http://schemas.microsoft.com/office/powerpoint/2010/main" val="5464548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74BEBB74-71D6-4F4F-8F54-B889CCC4A5EF}"/>
              </a:ext>
            </a:extLst>
          </p:cNvPr>
          <p:cNvPicPr>
            <a:picLocks noChangeAspect="1"/>
          </p:cNvPicPr>
          <p:nvPr/>
        </p:nvPicPr>
        <p:blipFill>
          <a:blip r:embed="rId3"/>
          <a:stretch>
            <a:fillRect/>
          </a:stretch>
        </p:blipFill>
        <p:spPr>
          <a:xfrm>
            <a:off x="274320" y="182880"/>
            <a:ext cx="1097280" cy="402336"/>
          </a:xfrm>
          <a:prstGeom prst="rect">
            <a:avLst/>
          </a:prstGeom>
        </p:spPr>
      </p:pic>
      <p:sp>
        <p:nvSpPr>
          <p:cNvPr id="3" name="Shape 0">
            <a:extLst>
              <a:ext uri="{FF2B5EF4-FFF2-40B4-BE49-F238E27FC236}">
                <a16:creationId xmlns:a16="http://schemas.microsoft.com/office/drawing/2014/main" id="{B9BE8315-F943-4456-AB15-E9D8351FBE31}"/>
              </a:ext>
            </a:extLst>
          </p:cNvPr>
          <p:cNvSpPr>
            <a:spLocks noGrp="1"/>
          </p:cNvSpPr>
          <p:nvPr/>
        </p:nvSpPr>
        <p:spPr>
          <a:xfrm>
            <a:off x="1645920" y="164592"/>
            <a:ext cx="6858000" cy="475488"/>
          </a:xfrm>
          <a:prstGeom prst="roundRect">
            <a:avLst>
              <a:gd name="adj" fmla="val 23077"/>
            </a:avLst>
          </a:prstGeom>
          <a:solidFill>
            <a:srgbClr val="FF6600"/>
          </a:solidFill>
          <a:ln w="12700">
            <a:solidFill>
              <a:srgbClr val="FF6600"/>
            </a:solidFill>
            <a:prstDash val="solid"/>
          </a:ln>
          <a:effectLst>
            <a:outerShdw blurRad="76200" dist="38100" dir="5400000" algn="bl" rotWithShape="0">
              <a:srgbClr val="000000">
                <a:alpha val="35000"/>
              </a:srgbClr>
            </a:outerShdw>
          </a:effectLst>
        </p:spPr>
      </p:sp>
      <p:sp>
        <p:nvSpPr>
          <p:cNvPr id="4" name="Text 1">
            <a:extLst>
              <a:ext uri="{FF2B5EF4-FFF2-40B4-BE49-F238E27FC236}">
                <a16:creationId xmlns:a16="http://schemas.microsoft.com/office/drawing/2014/main" id="{0587CD5A-9BB8-4417-B57C-A8BABA89769F}"/>
              </a:ext>
            </a:extLst>
          </p:cNvPr>
          <p:cNvSpPr>
            <a:spLocks noGrp="1"/>
          </p:cNvSpPr>
          <p:nvPr/>
        </p:nvSpPr>
        <p:spPr>
          <a:xfrm>
            <a:off x="1645920" y="164592"/>
            <a:ext cx="6858000" cy="475488"/>
          </a:xfrm>
          <a:prstGeom prst="rect">
            <a:avLst/>
          </a:prstGeom>
          <a:noFill/>
        </p:spPr>
        <p:txBody>
          <a:bodyPr wrap="square" lIns="0" tIns="0" rIns="0" bIns="0" anchor="ctr"/>
          <a:lstStyle/>
          <a:p>
            <a:pPr marL="0" indent="0" algn="ctr">
              <a:buNone/>
            </a:pPr>
            <a:r>
              <a:rPr sz="1800" b="1">
                <a:solidFill>
                  <a:srgbClr val="FFFFFF"/>
                </a:solidFill>
                <a:latin typeface="Times New Roman"/>
                <a:ea typeface="Times New Roman"/>
                <a:cs typeface="Times New Roman"/>
              </a:rPr>
              <a:t>Problem Statement</a:t>
            </a:r>
            <a:endParaRPr sz="1800"/>
          </a:p>
        </p:txBody>
      </p:sp>
      <p:sp>
        <p:nvSpPr>
          <p:cNvPr id="5" name="Text 2">
            <a:extLst>
              <a:ext uri="{FF2B5EF4-FFF2-40B4-BE49-F238E27FC236}">
                <a16:creationId xmlns:a16="http://schemas.microsoft.com/office/drawing/2014/main" id="{170EFDB6-3DF9-4AC2-AAC3-B9F6649D1AEF}"/>
              </a:ext>
            </a:extLst>
          </p:cNvPr>
          <p:cNvSpPr>
            <a:spLocks noGrp="1"/>
          </p:cNvSpPr>
          <p:nvPr/>
        </p:nvSpPr>
        <p:spPr>
          <a:xfrm>
            <a:off x="640080" y="960120"/>
            <a:ext cx="7863840" cy="1554480"/>
          </a:xfrm>
          <a:prstGeom prst="rect">
            <a:avLst/>
          </a:prstGeom>
          <a:noFill/>
        </p:spPr>
        <p:txBody>
          <a:bodyPr wrap="square" lIns="0" tIns="0" rIns="0" bIns="0" anchor="t"/>
          <a:lstStyle/>
          <a:p>
            <a:pPr marL="342900" indent="-342900">
              <a:spcAft>
                <a:spcPts val="800"/>
              </a:spcAft>
              <a:buSzPct val="100000"/>
              <a:buChar char="•"/>
            </a:pPr>
            <a:r>
              <a:rPr sz="1500">
                <a:solidFill>
                  <a:srgbClr val="333333"/>
                </a:solidFill>
                <a:latin typeface="Times New Roman"/>
                <a:ea typeface="Times New Roman"/>
                <a:cs typeface="Times New Roman"/>
              </a:rPr>
              <a:t>A marketplace must keep product listings, stock and order records consistent.</a:t>
            </a:r>
            <a:endParaRPr sz="1500"/>
          </a:p>
          <a:p>
            <a:pPr marL="342900" indent="-342900">
              <a:spcAft>
                <a:spcPts val="800"/>
              </a:spcAft>
              <a:buSzPct val="100000"/>
              <a:buChar char="•"/>
            </a:pPr>
            <a:r>
              <a:rPr sz="1500">
                <a:solidFill>
                  <a:srgbClr val="333333"/>
                </a:solidFill>
                <a:latin typeface="Times New Roman"/>
                <a:ea typeface="Times New Roman"/>
                <a:cs typeface="Times New Roman"/>
              </a:rPr>
              <a:t>Repeated checkout requests and service failures can cause duplicate orders or stock errors.</a:t>
            </a:r>
            <a:endParaRPr sz="1500"/>
          </a:p>
          <a:p>
            <a:pPr marL="342900" indent="-342900">
              <a:spcAft>
                <a:spcPts val="800"/>
              </a:spcAft>
              <a:buSzPct val="100000"/>
              <a:buChar char="•"/>
            </a:pPr>
            <a:r>
              <a:rPr sz="1500">
                <a:solidFill>
                  <a:srgbClr val="333333"/>
                </a:solidFill>
                <a:latin typeface="Times New Roman"/>
                <a:ea typeface="Times New Roman"/>
                <a:cs typeface="Times New Roman"/>
              </a:rPr>
              <a:t>Customers, sellers and administrators need different permissions.</a:t>
            </a:r>
            <a:endParaRPr sz="1500"/>
          </a:p>
        </p:txBody>
      </p:sp>
      <p:sp>
        <p:nvSpPr>
          <p:cNvPr id="6" name="Text 3">
            <a:extLst>
              <a:ext uri="{FF2B5EF4-FFF2-40B4-BE49-F238E27FC236}">
                <a16:creationId xmlns:a16="http://schemas.microsoft.com/office/drawing/2014/main" id="{07E70CBA-0C20-4B19-A2EA-1AB94F2987F2}"/>
              </a:ext>
            </a:extLst>
          </p:cNvPr>
          <p:cNvSpPr>
            <a:spLocks noGrp="1"/>
          </p:cNvSpPr>
          <p:nvPr/>
        </p:nvSpPr>
        <p:spPr>
          <a:xfrm>
            <a:off x="640080" y="2606040"/>
            <a:ext cx="7863840" cy="365760"/>
          </a:xfrm>
          <a:prstGeom prst="rect">
            <a:avLst/>
          </a:prstGeom>
          <a:noFill/>
        </p:spPr>
        <p:txBody>
          <a:bodyPr wrap="square" lIns="0" tIns="0" rIns="0" bIns="0" anchor="ctr"/>
          <a:lstStyle/>
          <a:p>
            <a:pPr marL="0" indent="0">
              <a:buNone/>
            </a:pPr>
            <a:r>
              <a:rPr sz="1700" b="1">
                <a:solidFill>
                  <a:srgbClr val="C55A11"/>
                </a:solidFill>
                <a:latin typeface="Times New Roman"/>
                <a:ea typeface="Times New Roman"/>
                <a:cs typeface="Times New Roman"/>
              </a:rPr>
              <a:t>Proposed Solution</a:t>
            </a:r>
            <a:endParaRPr sz="1700"/>
          </a:p>
        </p:txBody>
      </p:sp>
      <p:sp>
        <p:nvSpPr>
          <p:cNvPr id="7" name="Text 4">
            <a:extLst>
              <a:ext uri="{FF2B5EF4-FFF2-40B4-BE49-F238E27FC236}">
                <a16:creationId xmlns:a16="http://schemas.microsoft.com/office/drawing/2014/main" id="{7B9838CB-DD6E-4E4C-8794-E9D0C5EA75BB}"/>
              </a:ext>
            </a:extLst>
          </p:cNvPr>
          <p:cNvSpPr>
            <a:spLocks noGrp="1"/>
          </p:cNvSpPr>
          <p:nvPr/>
        </p:nvSpPr>
        <p:spPr>
          <a:xfrm>
            <a:off x="640080" y="3017520"/>
            <a:ext cx="7863840" cy="1737360"/>
          </a:xfrm>
          <a:prstGeom prst="rect">
            <a:avLst/>
          </a:prstGeom>
          <a:noFill/>
        </p:spPr>
        <p:txBody>
          <a:bodyPr wrap="square" lIns="0" tIns="0" rIns="0" bIns="0" anchor="t"/>
          <a:lstStyle/>
          <a:p>
            <a:pPr marL="342900" indent="-342900">
              <a:spcAft>
                <a:spcPts val="800"/>
              </a:spcAft>
              <a:buSzPct val="100000"/>
              <a:buChar char="•"/>
            </a:pPr>
            <a:r>
              <a:rPr sz="1400">
                <a:solidFill>
                  <a:srgbClr val="333333"/>
                </a:solidFill>
                <a:latin typeface="Times New Roman"/>
                <a:ea typeface="Times New Roman"/>
                <a:cs typeface="Times New Roman"/>
              </a:rPr>
              <a:t>Separate Spring Boot services own users, products, orders and invoices.</a:t>
            </a:r>
            <a:endParaRPr sz="1400"/>
          </a:p>
          <a:p>
            <a:pPr marL="342900" indent="-342900">
              <a:spcAft>
                <a:spcPts val="800"/>
              </a:spcAft>
              <a:buSzPct val="100000"/>
              <a:buChar char="•"/>
            </a:pPr>
            <a:r>
              <a:rPr sz="1400">
                <a:solidFill>
                  <a:srgbClr val="333333"/>
                </a:solidFill>
                <a:latin typeface="Times New Roman"/>
                <a:ea typeface="Times New Roman"/>
                <a:cs typeface="Times New Roman"/>
              </a:rPr>
              <a:t>Stock reservations and idempotency keys make checkout retries safe.</a:t>
            </a:r>
            <a:endParaRPr sz="1400"/>
          </a:p>
          <a:p>
            <a:pPr marL="342900" indent="-342900">
              <a:spcAft>
                <a:spcPts val="800"/>
              </a:spcAft>
              <a:buSzPct val="100000"/>
              <a:buChar char="•"/>
            </a:pPr>
            <a:r>
              <a:rPr sz="1400">
                <a:solidFill>
                  <a:srgbClr val="333333"/>
                </a:solidFill>
                <a:latin typeface="Times New Roman"/>
                <a:ea typeface="Times New Roman"/>
                <a:cs typeface="Times New Roman"/>
              </a:rPr>
              <a:t>JWT authentication and ownership checks protect customer and seller data.</a:t>
            </a:r>
            <a:endParaRPr sz="1400"/>
          </a:p>
          <a:p>
            <a:pPr marL="342900" indent="-342900">
              <a:spcAft>
                <a:spcPts val="800"/>
              </a:spcAft>
              <a:buSzPct val="100000"/>
              <a:buChar char="•"/>
            </a:pPr>
            <a:r>
              <a:rPr sz="1400">
                <a:solidFill>
                  <a:srgbClr val="333333"/>
                </a:solidFill>
                <a:latin typeface="Times New Roman"/>
                <a:ea typeface="Times New Roman"/>
                <a:cs typeface="Times New Roman"/>
              </a:rPr>
              <a:t>REST APIs support shopping, SOAP generates invoices, and AOP records execution details.</a:t>
            </a:r>
            <a:endParaRPr sz="1400"/>
          </a:p>
        </p:txBody>
      </p:sp>
    </p:spTree>
    <p:extLst>
      <p:ext uri="{BB962C8B-B14F-4D97-AF65-F5344CB8AC3E}">
        <p14:creationId xmlns:p14="http://schemas.microsoft.com/office/powerpoint/2010/main" val="4441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ECC6D230-95DF-430E-9DC4-EC63F6381E51}"/>
              </a:ext>
            </a:extLst>
          </p:cNvPr>
          <p:cNvPicPr>
            <a:picLocks noChangeAspect="1"/>
          </p:cNvPicPr>
          <p:nvPr/>
        </p:nvPicPr>
        <p:blipFill>
          <a:blip r:embed="rId3"/>
          <a:stretch>
            <a:fillRect/>
          </a:stretch>
        </p:blipFill>
        <p:spPr>
          <a:xfrm>
            <a:off x="274320" y="182880"/>
            <a:ext cx="1097280" cy="402336"/>
          </a:xfrm>
          <a:prstGeom prst="rect">
            <a:avLst/>
          </a:prstGeom>
        </p:spPr>
      </p:pic>
      <p:sp>
        <p:nvSpPr>
          <p:cNvPr id="3" name="Shape 0">
            <a:extLst>
              <a:ext uri="{FF2B5EF4-FFF2-40B4-BE49-F238E27FC236}">
                <a16:creationId xmlns:a16="http://schemas.microsoft.com/office/drawing/2014/main" id="{44A97A6C-134A-461D-8D37-DE4586C06F1D}"/>
              </a:ext>
            </a:extLst>
          </p:cNvPr>
          <p:cNvSpPr>
            <a:spLocks noGrp="1"/>
          </p:cNvSpPr>
          <p:nvPr/>
        </p:nvSpPr>
        <p:spPr>
          <a:xfrm>
            <a:off x="1645920" y="164592"/>
            <a:ext cx="6858000" cy="475488"/>
          </a:xfrm>
          <a:prstGeom prst="roundRect">
            <a:avLst>
              <a:gd name="adj" fmla="val 23077"/>
            </a:avLst>
          </a:prstGeom>
          <a:solidFill>
            <a:srgbClr val="FF6600"/>
          </a:solidFill>
          <a:ln w="12700">
            <a:solidFill>
              <a:srgbClr val="FF6600"/>
            </a:solidFill>
            <a:prstDash val="solid"/>
          </a:ln>
          <a:effectLst>
            <a:outerShdw blurRad="76200" dist="38100" dir="5400000" algn="bl" rotWithShape="0">
              <a:srgbClr val="000000">
                <a:alpha val="35000"/>
              </a:srgbClr>
            </a:outerShdw>
          </a:effectLst>
        </p:spPr>
      </p:sp>
      <p:sp>
        <p:nvSpPr>
          <p:cNvPr id="4" name="Text 1">
            <a:extLst>
              <a:ext uri="{FF2B5EF4-FFF2-40B4-BE49-F238E27FC236}">
                <a16:creationId xmlns:a16="http://schemas.microsoft.com/office/drawing/2014/main" id="{E6229E29-0021-446F-B6E1-D5247D0B97BF}"/>
              </a:ext>
            </a:extLst>
          </p:cNvPr>
          <p:cNvSpPr>
            <a:spLocks noGrp="1"/>
          </p:cNvSpPr>
          <p:nvPr/>
        </p:nvSpPr>
        <p:spPr>
          <a:xfrm>
            <a:off x="1645920" y="164592"/>
            <a:ext cx="6858000" cy="475488"/>
          </a:xfrm>
          <a:prstGeom prst="rect">
            <a:avLst/>
          </a:prstGeom>
          <a:noFill/>
        </p:spPr>
        <p:txBody>
          <a:bodyPr wrap="square" lIns="0" tIns="0" rIns="0" bIns="0" anchor="ctr"/>
          <a:lstStyle/>
          <a:p>
            <a:pPr marL="0" indent="0" algn="ctr">
              <a:buNone/>
            </a:pPr>
            <a:r>
              <a:rPr sz="1800" b="1">
                <a:solidFill>
                  <a:srgbClr val="FFFFFF"/>
                </a:solidFill>
                <a:latin typeface="Times New Roman"/>
                <a:ea typeface="Times New Roman"/>
                <a:cs typeface="Times New Roman"/>
              </a:rPr>
              <a:t>Objectives</a:t>
            </a:r>
            <a:endParaRPr sz="1800"/>
          </a:p>
        </p:txBody>
      </p:sp>
      <p:sp>
        <p:nvSpPr>
          <p:cNvPr id="5" name="Text 2">
            <a:extLst>
              <a:ext uri="{FF2B5EF4-FFF2-40B4-BE49-F238E27FC236}">
                <a16:creationId xmlns:a16="http://schemas.microsoft.com/office/drawing/2014/main" id="{7FBE4AAE-CCA4-4AB5-8AB0-D40802860CC3}"/>
              </a:ext>
            </a:extLst>
          </p:cNvPr>
          <p:cNvSpPr>
            <a:spLocks noGrp="1"/>
          </p:cNvSpPr>
          <p:nvPr/>
        </p:nvSpPr>
        <p:spPr>
          <a:xfrm>
            <a:off x="640080" y="1005840"/>
            <a:ext cx="7863840" cy="3657600"/>
          </a:xfrm>
          <a:prstGeom prst="rect">
            <a:avLst/>
          </a:prstGeom>
          <a:noFill/>
        </p:spPr>
        <p:txBody>
          <a:bodyPr wrap="square" lIns="0" tIns="0" rIns="0" bIns="0" anchor="t"/>
          <a:lstStyle/>
          <a:p>
            <a:pPr marL="342900" indent="-342900">
              <a:spcAft>
                <a:spcPts val="800"/>
              </a:spcAft>
              <a:buSzPct val="100000"/>
              <a:buChar char="•"/>
            </a:pPr>
            <a:r>
              <a:rPr sz="1500">
                <a:solidFill>
                  <a:srgbClr val="333333"/>
                </a:solidFill>
                <a:latin typeface="Times New Roman"/>
                <a:ea typeface="Times New Roman"/>
                <a:cs typeface="Times New Roman"/>
              </a:rPr>
              <a:t>Provide product browsing with search, filters, pagination and sorting.</a:t>
            </a:r>
            <a:endParaRPr sz="1500"/>
          </a:p>
          <a:p>
            <a:pPr marL="342900" indent="-342900">
              <a:spcAft>
                <a:spcPts val="800"/>
              </a:spcAft>
              <a:buSzPct val="100000"/>
              <a:buChar char="•"/>
            </a:pPr>
            <a:r>
              <a:rPr sz="1500">
                <a:solidFill>
                  <a:srgbClr val="333333"/>
                </a:solidFill>
                <a:latin typeface="Times New Roman"/>
                <a:ea typeface="Times New Roman"/>
                <a:cs typeface="Times New Roman"/>
              </a:rPr>
              <a:t>Allow sellers to upload local photos and manage their own listings.</a:t>
            </a:r>
            <a:endParaRPr sz="1500"/>
          </a:p>
          <a:p>
            <a:pPr marL="342900" indent="-342900">
              <a:spcAft>
                <a:spcPts val="800"/>
              </a:spcAft>
              <a:buSzPct val="100000"/>
              <a:buChar char="•"/>
            </a:pPr>
            <a:r>
              <a:rPr sz="1500">
                <a:solidFill>
                  <a:srgbClr val="333333"/>
                </a:solidFill>
                <a:latin typeface="Times New Roman"/>
                <a:ea typeface="Times New Roman"/>
                <a:cs typeface="Times New Roman"/>
              </a:rPr>
              <a:t>Support customer checkout, order history and controlled cancellation.</a:t>
            </a:r>
            <a:endParaRPr sz="1500"/>
          </a:p>
          <a:p>
            <a:pPr marL="342900" indent="-342900">
              <a:spcAft>
                <a:spcPts val="800"/>
              </a:spcAft>
              <a:buSzPct val="100000"/>
              <a:buChar char="•"/>
            </a:pPr>
            <a:r>
              <a:rPr sz="1500">
                <a:solidFill>
                  <a:srgbClr val="333333"/>
                </a:solidFill>
                <a:latin typeface="Times New Roman"/>
                <a:ea typeface="Times New Roman"/>
                <a:cs typeface="Times New Roman"/>
              </a:rPr>
              <a:t>Generate invoices through a SOAP service using confirmed order data.</a:t>
            </a:r>
            <a:endParaRPr sz="1500"/>
          </a:p>
          <a:p>
            <a:pPr marL="342900" indent="-342900">
              <a:spcAft>
                <a:spcPts val="800"/>
              </a:spcAft>
              <a:buSzPct val="100000"/>
              <a:buChar char="•"/>
            </a:pPr>
            <a:r>
              <a:rPr sz="1500">
                <a:solidFill>
                  <a:srgbClr val="333333"/>
                </a:solidFill>
                <a:latin typeface="Times New Roman"/>
                <a:ea typeface="Times New Roman"/>
                <a:cs typeface="Times New Roman"/>
              </a:rPr>
              <a:t>Protect operations with JWT and Customer, Seller and Admin roles.</a:t>
            </a:r>
            <a:endParaRPr sz="1500"/>
          </a:p>
          <a:p>
            <a:pPr marL="342900" indent="-342900">
              <a:spcAft>
                <a:spcPts val="800"/>
              </a:spcAft>
              <a:buSzPct val="100000"/>
              <a:buChar char="•"/>
            </a:pPr>
            <a:r>
              <a:rPr sz="1500">
                <a:solidFill>
                  <a:srgbClr val="333333"/>
                </a:solidFill>
                <a:latin typeface="Times New Roman"/>
                <a:ea typeface="Times New Roman"/>
                <a:cs typeface="Times New Roman"/>
              </a:rPr>
              <a:t>Demonstrate Spring Data JPA, transactions, AOP logging and validation.</a:t>
            </a:r>
            <a:endParaRPr sz="1500"/>
          </a:p>
        </p:txBody>
      </p:sp>
    </p:spTree>
    <p:extLst>
      <p:ext uri="{BB962C8B-B14F-4D97-AF65-F5344CB8AC3E}">
        <p14:creationId xmlns:p14="http://schemas.microsoft.com/office/powerpoint/2010/main" val="1290255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517D1B8C-0DF0-40FA-BB46-789639F8C05F}"/>
              </a:ext>
            </a:extLst>
          </p:cNvPr>
          <p:cNvPicPr>
            <a:picLocks noChangeAspect="1"/>
          </p:cNvPicPr>
          <p:nvPr/>
        </p:nvPicPr>
        <p:blipFill>
          <a:blip r:embed="rId3"/>
          <a:stretch>
            <a:fillRect/>
          </a:stretch>
        </p:blipFill>
        <p:spPr>
          <a:xfrm>
            <a:off x="274320" y="182880"/>
            <a:ext cx="1097280" cy="402336"/>
          </a:xfrm>
          <a:prstGeom prst="rect">
            <a:avLst/>
          </a:prstGeom>
        </p:spPr>
      </p:pic>
      <p:sp>
        <p:nvSpPr>
          <p:cNvPr id="3" name="Shape 0">
            <a:extLst>
              <a:ext uri="{FF2B5EF4-FFF2-40B4-BE49-F238E27FC236}">
                <a16:creationId xmlns:a16="http://schemas.microsoft.com/office/drawing/2014/main" id="{9D2B85D4-4DBE-4208-9371-19592F627D3B}"/>
              </a:ext>
            </a:extLst>
          </p:cNvPr>
          <p:cNvSpPr>
            <a:spLocks noGrp="1"/>
          </p:cNvSpPr>
          <p:nvPr/>
        </p:nvSpPr>
        <p:spPr>
          <a:xfrm>
            <a:off x="1645920" y="164592"/>
            <a:ext cx="6858000" cy="475488"/>
          </a:xfrm>
          <a:prstGeom prst="roundRect">
            <a:avLst>
              <a:gd name="adj" fmla="val 23077"/>
            </a:avLst>
          </a:prstGeom>
          <a:solidFill>
            <a:srgbClr val="FF6600"/>
          </a:solidFill>
          <a:ln w="12700">
            <a:solidFill>
              <a:srgbClr val="FF6600"/>
            </a:solidFill>
            <a:prstDash val="solid"/>
          </a:ln>
          <a:effectLst>
            <a:outerShdw blurRad="76200" dist="38100" dir="5400000" algn="bl" rotWithShape="0">
              <a:srgbClr val="000000">
                <a:alpha val="35000"/>
              </a:srgbClr>
            </a:outerShdw>
          </a:effectLst>
        </p:spPr>
      </p:sp>
      <p:sp>
        <p:nvSpPr>
          <p:cNvPr id="4" name="Text 1">
            <a:extLst>
              <a:ext uri="{FF2B5EF4-FFF2-40B4-BE49-F238E27FC236}">
                <a16:creationId xmlns:a16="http://schemas.microsoft.com/office/drawing/2014/main" id="{699A8D73-2E84-4ABB-99E6-F8CD65A7EF40}"/>
              </a:ext>
            </a:extLst>
          </p:cNvPr>
          <p:cNvSpPr>
            <a:spLocks noGrp="1"/>
          </p:cNvSpPr>
          <p:nvPr/>
        </p:nvSpPr>
        <p:spPr>
          <a:xfrm>
            <a:off x="1645920" y="164592"/>
            <a:ext cx="6858000" cy="475488"/>
          </a:xfrm>
          <a:prstGeom prst="rect">
            <a:avLst/>
          </a:prstGeom>
          <a:noFill/>
        </p:spPr>
        <p:txBody>
          <a:bodyPr wrap="square" lIns="0" tIns="0" rIns="0" bIns="0" anchor="ctr"/>
          <a:lstStyle/>
          <a:p>
            <a:pPr marL="0" indent="0" algn="ctr">
              <a:buNone/>
            </a:pPr>
            <a:r>
              <a:rPr sz="1800" b="1">
                <a:solidFill>
                  <a:srgbClr val="FFFFFF"/>
                </a:solidFill>
                <a:latin typeface="Times New Roman"/>
                <a:ea typeface="Times New Roman"/>
                <a:cs typeface="Times New Roman"/>
              </a:rPr>
              <a:t>Module 1: Authentication &amp; User Roles</a:t>
            </a:r>
            <a:endParaRPr sz="1800"/>
          </a:p>
        </p:txBody>
      </p:sp>
      <p:sp>
        <p:nvSpPr>
          <p:cNvPr id="5" name="Text 2">
            <a:extLst>
              <a:ext uri="{FF2B5EF4-FFF2-40B4-BE49-F238E27FC236}">
                <a16:creationId xmlns:a16="http://schemas.microsoft.com/office/drawing/2014/main" id="{3A1B7936-A28F-4843-9416-66D09DD65A2B}"/>
              </a:ext>
            </a:extLst>
          </p:cNvPr>
          <p:cNvSpPr>
            <a:spLocks noGrp="1"/>
          </p:cNvSpPr>
          <p:nvPr/>
        </p:nvSpPr>
        <p:spPr>
          <a:xfrm>
            <a:off x="548640" y="1005840"/>
            <a:ext cx="3749040" cy="320040"/>
          </a:xfrm>
          <a:prstGeom prst="rect">
            <a:avLst/>
          </a:prstGeom>
          <a:noFill/>
        </p:spPr>
        <p:txBody>
          <a:bodyPr wrap="square" lIns="0" tIns="0" rIns="0" bIns="0" anchor="ctr"/>
          <a:lstStyle/>
          <a:p>
            <a:pPr marL="0" indent="0">
              <a:buNone/>
            </a:pPr>
            <a:r>
              <a:rPr sz="1600" b="1">
                <a:solidFill>
                  <a:srgbClr val="C55A11"/>
                </a:solidFill>
                <a:latin typeface="Times New Roman"/>
                <a:ea typeface="Times New Roman"/>
                <a:cs typeface="Times New Roman"/>
              </a:rPr>
              <a:t>Key functionalities</a:t>
            </a:r>
            <a:endParaRPr sz="1600"/>
          </a:p>
        </p:txBody>
      </p:sp>
      <p:sp>
        <p:nvSpPr>
          <p:cNvPr id="6" name="Text 3">
            <a:extLst>
              <a:ext uri="{FF2B5EF4-FFF2-40B4-BE49-F238E27FC236}">
                <a16:creationId xmlns:a16="http://schemas.microsoft.com/office/drawing/2014/main" id="{98DF1F4A-FD7C-4A18-AF66-F656BBC3E75F}"/>
              </a:ext>
            </a:extLst>
          </p:cNvPr>
          <p:cNvSpPr>
            <a:spLocks noGrp="1"/>
          </p:cNvSpPr>
          <p:nvPr/>
        </p:nvSpPr>
        <p:spPr>
          <a:xfrm>
            <a:off x="548640" y="1417320"/>
            <a:ext cx="3749040" cy="3200400"/>
          </a:xfrm>
          <a:prstGeom prst="rect">
            <a:avLst/>
          </a:prstGeom>
          <a:noFill/>
        </p:spPr>
        <p:txBody>
          <a:bodyPr wrap="square" lIns="0" tIns="0" rIns="0" bIns="0" anchor="t"/>
          <a:lstStyle/>
          <a:p>
            <a:pPr marL="342900" indent="-342900">
              <a:spcAft>
                <a:spcPts val="800"/>
              </a:spcAft>
              <a:buSzPct val="100000"/>
              <a:buChar char="•"/>
            </a:pPr>
            <a:r>
              <a:rPr sz="1400">
                <a:solidFill>
                  <a:srgbClr val="002060"/>
                </a:solidFill>
                <a:latin typeface="Times New Roman"/>
                <a:ea typeface="Times New Roman"/>
                <a:cs typeface="Times New Roman"/>
              </a:rPr>
              <a:t>Customer registration and login</a:t>
            </a:r>
            <a:endParaRPr sz="1400"/>
          </a:p>
          <a:p>
            <a:pPr marL="342900" indent="-342900">
              <a:spcAft>
                <a:spcPts val="800"/>
              </a:spcAft>
              <a:buSzPct val="100000"/>
              <a:buChar char="•"/>
            </a:pPr>
            <a:r>
              <a:rPr sz="1400">
                <a:solidFill>
                  <a:srgbClr val="002060"/>
                </a:solidFill>
                <a:latin typeface="Times New Roman"/>
                <a:ea typeface="Times New Roman"/>
                <a:cs typeface="Times New Roman"/>
              </a:rPr>
              <a:t>BCrypt password hashing</a:t>
            </a:r>
            <a:endParaRPr sz="1400"/>
          </a:p>
          <a:p>
            <a:pPr marL="342900" indent="-342900">
              <a:spcAft>
                <a:spcPts val="800"/>
              </a:spcAft>
              <a:buSzPct val="100000"/>
              <a:buChar char="•"/>
            </a:pPr>
            <a:r>
              <a:rPr sz="1400">
                <a:solidFill>
                  <a:srgbClr val="002060"/>
                </a:solidFill>
                <a:latin typeface="Times New Roman"/>
                <a:ea typeface="Times New Roman"/>
                <a:cs typeface="Times New Roman"/>
              </a:rPr>
              <a:t>Signed JWT access tokens</a:t>
            </a:r>
            <a:endParaRPr sz="1400"/>
          </a:p>
          <a:p>
            <a:pPr marL="342900" indent="-342900">
              <a:spcAft>
                <a:spcPts val="800"/>
              </a:spcAft>
              <a:buSzPct val="100000"/>
              <a:buChar char="•"/>
            </a:pPr>
            <a:r>
              <a:rPr sz="1400">
                <a:solidFill>
                  <a:srgbClr val="002060"/>
                </a:solidFill>
                <a:latin typeface="Times New Roman"/>
                <a:ea typeface="Times New Roman"/>
                <a:cs typeface="Times New Roman"/>
              </a:rPr>
              <a:t>Customer, Seller and Admin access</a:t>
            </a:r>
            <a:endParaRPr sz="1400"/>
          </a:p>
          <a:p>
            <a:pPr marL="342900" indent="-342900">
              <a:spcAft>
                <a:spcPts val="800"/>
              </a:spcAft>
              <a:buSzPct val="100000"/>
              <a:buChar char="•"/>
            </a:pPr>
            <a:r>
              <a:rPr sz="1400">
                <a:solidFill>
                  <a:srgbClr val="002060"/>
                </a:solidFill>
                <a:latin typeface="Times New Roman"/>
                <a:ea typeface="Times New Roman"/>
                <a:cs typeface="Times New Roman"/>
              </a:rPr>
              <a:t>Separate admin ID login at /admin</a:t>
            </a:r>
            <a:endParaRPr sz="1400"/>
          </a:p>
        </p:txBody>
      </p:sp>
      <p:sp>
        <p:nvSpPr>
          <p:cNvPr id="7" name="Shape 4">
            <a:extLst>
              <a:ext uri="{FF2B5EF4-FFF2-40B4-BE49-F238E27FC236}">
                <a16:creationId xmlns:a16="http://schemas.microsoft.com/office/drawing/2014/main" id="{5A1A61EF-D65F-4436-A8E0-9324AD698BA7}"/>
              </a:ext>
            </a:extLst>
          </p:cNvPr>
          <p:cNvSpPr>
            <a:spLocks noGrp="1"/>
          </p:cNvSpPr>
          <p:nvPr/>
        </p:nvSpPr>
        <p:spPr>
          <a:xfrm>
            <a:off x="4663440" y="1005840"/>
            <a:ext cx="4023360" cy="3611880"/>
          </a:xfrm>
          <a:prstGeom prst="rect">
            <a:avLst/>
          </a:prstGeom>
          <a:solidFill>
            <a:srgbClr val="FFF6EF"/>
          </a:solidFill>
          <a:ln w="12700">
            <a:solidFill>
              <a:srgbClr val="F2D3BE"/>
            </a:solidFill>
            <a:prstDash val="solid"/>
          </a:ln>
        </p:spPr>
      </p:sp>
      <p:sp>
        <p:nvSpPr>
          <p:cNvPr id="8" name="Shape 5">
            <a:extLst>
              <a:ext uri="{FF2B5EF4-FFF2-40B4-BE49-F238E27FC236}">
                <a16:creationId xmlns:a16="http://schemas.microsoft.com/office/drawing/2014/main" id="{B311DE63-F95B-4FA9-A853-05DC49B5C987}"/>
              </a:ext>
            </a:extLst>
          </p:cNvPr>
          <p:cNvSpPr>
            <a:spLocks noGrp="1"/>
          </p:cNvSpPr>
          <p:nvPr/>
        </p:nvSpPr>
        <p:spPr>
          <a:xfrm>
            <a:off x="4663440" y="1005840"/>
            <a:ext cx="4023360" cy="73152"/>
          </a:xfrm>
          <a:prstGeom prst="rect">
            <a:avLst/>
          </a:prstGeom>
          <a:solidFill>
            <a:srgbClr val="C55A11"/>
          </a:solidFill>
          <a:ln w="12700">
            <a:solidFill>
              <a:srgbClr val="C55A11"/>
            </a:solidFill>
            <a:prstDash val="solid"/>
          </a:ln>
        </p:spPr>
      </p:sp>
      <p:sp>
        <p:nvSpPr>
          <p:cNvPr id="9" name="Text 6">
            <a:extLst>
              <a:ext uri="{FF2B5EF4-FFF2-40B4-BE49-F238E27FC236}">
                <a16:creationId xmlns:a16="http://schemas.microsoft.com/office/drawing/2014/main" id="{8ED95BB5-062C-4CD9-9D37-269A7668C61E}"/>
              </a:ext>
            </a:extLst>
          </p:cNvPr>
          <p:cNvSpPr>
            <a:spLocks noGrp="1"/>
          </p:cNvSpPr>
          <p:nvPr/>
        </p:nvSpPr>
        <p:spPr>
          <a:xfrm>
            <a:off x="4846320" y="1188720"/>
            <a:ext cx="3657600" cy="320040"/>
          </a:xfrm>
          <a:prstGeom prst="rect">
            <a:avLst/>
          </a:prstGeom>
          <a:noFill/>
        </p:spPr>
        <p:txBody>
          <a:bodyPr wrap="square" lIns="0" tIns="0" rIns="0" bIns="0" anchor="ctr"/>
          <a:lstStyle/>
          <a:p>
            <a:pPr marL="0" indent="0">
              <a:buNone/>
            </a:pPr>
            <a:r>
              <a:rPr sz="1600" b="1">
                <a:solidFill>
                  <a:srgbClr val="002060"/>
                </a:solidFill>
                <a:latin typeface="Times New Roman"/>
                <a:ea typeface="Times New Roman"/>
                <a:cs typeface="Times New Roman"/>
              </a:rPr>
              <a:t>How it works</a:t>
            </a:r>
            <a:endParaRPr sz="1600"/>
          </a:p>
        </p:txBody>
      </p:sp>
      <p:sp>
        <p:nvSpPr>
          <p:cNvPr id="10" name="Text 7">
            <a:extLst>
              <a:ext uri="{FF2B5EF4-FFF2-40B4-BE49-F238E27FC236}">
                <a16:creationId xmlns:a16="http://schemas.microsoft.com/office/drawing/2014/main" id="{D68F3C26-899A-49DA-B7E8-B3F5A52863D5}"/>
              </a:ext>
            </a:extLst>
          </p:cNvPr>
          <p:cNvSpPr>
            <a:spLocks noGrp="1"/>
          </p:cNvSpPr>
          <p:nvPr/>
        </p:nvSpPr>
        <p:spPr>
          <a:xfrm>
            <a:off x="4846320" y="1600200"/>
            <a:ext cx="3657600" cy="2926080"/>
          </a:xfrm>
          <a:prstGeom prst="rect">
            <a:avLst/>
          </a:prstGeom>
          <a:noFill/>
        </p:spPr>
        <p:txBody>
          <a:bodyPr wrap="square" lIns="0" tIns="0" rIns="0" bIns="0" anchor="t"/>
          <a:lstStyle/>
          <a:p>
            <a:pPr marL="0" indent="0">
              <a:buNone/>
            </a:pPr>
            <a:r>
              <a:rPr sz="1300">
                <a:solidFill>
                  <a:srgbClr val="333333"/>
                </a:solidFill>
                <a:latin typeface="Times New Roman"/>
                <a:ea typeface="Times New Roman"/>
                <a:cs typeface="Times New Roman"/>
              </a:rPr>
              <a:t>User Service verifies credentials and returns a signed JWT. Angular sends it as a Bearer token through the gateway. Each business service validates the token and checks roles or ownership. Public registration cannot grant administrator access.</a:t>
            </a:r>
            <a:endParaRPr sz="1300"/>
          </a:p>
        </p:txBody>
      </p:sp>
    </p:spTree>
    <p:extLst>
      <p:ext uri="{BB962C8B-B14F-4D97-AF65-F5344CB8AC3E}">
        <p14:creationId xmlns:p14="http://schemas.microsoft.com/office/powerpoint/2010/main" val="1995176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60495D7D-AA5A-477E-ACCB-FD4E2F0E19C3}"/>
              </a:ext>
            </a:extLst>
          </p:cNvPr>
          <p:cNvPicPr>
            <a:picLocks noChangeAspect="1"/>
          </p:cNvPicPr>
          <p:nvPr/>
        </p:nvPicPr>
        <p:blipFill>
          <a:blip r:embed="rId3"/>
          <a:stretch>
            <a:fillRect/>
          </a:stretch>
        </p:blipFill>
        <p:spPr>
          <a:xfrm>
            <a:off x="274320" y="182880"/>
            <a:ext cx="1097280" cy="402336"/>
          </a:xfrm>
          <a:prstGeom prst="rect">
            <a:avLst/>
          </a:prstGeom>
        </p:spPr>
      </p:pic>
      <p:sp>
        <p:nvSpPr>
          <p:cNvPr id="3" name="Shape 0">
            <a:extLst>
              <a:ext uri="{FF2B5EF4-FFF2-40B4-BE49-F238E27FC236}">
                <a16:creationId xmlns:a16="http://schemas.microsoft.com/office/drawing/2014/main" id="{ED589145-7942-4DAF-993A-85FE84417197}"/>
              </a:ext>
            </a:extLst>
          </p:cNvPr>
          <p:cNvSpPr>
            <a:spLocks noGrp="1"/>
          </p:cNvSpPr>
          <p:nvPr/>
        </p:nvSpPr>
        <p:spPr>
          <a:xfrm>
            <a:off x="1645920" y="164592"/>
            <a:ext cx="6858000" cy="475488"/>
          </a:xfrm>
          <a:prstGeom prst="roundRect">
            <a:avLst>
              <a:gd name="adj" fmla="val 23077"/>
            </a:avLst>
          </a:prstGeom>
          <a:solidFill>
            <a:srgbClr val="FF6600"/>
          </a:solidFill>
          <a:ln w="12700">
            <a:solidFill>
              <a:srgbClr val="FF6600"/>
            </a:solidFill>
            <a:prstDash val="solid"/>
          </a:ln>
          <a:effectLst>
            <a:outerShdw blurRad="76200" dist="38100" dir="5400000" algn="bl" rotWithShape="0">
              <a:srgbClr val="000000">
                <a:alpha val="35000"/>
              </a:srgbClr>
            </a:outerShdw>
          </a:effectLst>
        </p:spPr>
      </p:sp>
      <p:sp>
        <p:nvSpPr>
          <p:cNvPr id="4" name="Text 1">
            <a:extLst>
              <a:ext uri="{FF2B5EF4-FFF2-40B4-BE49-F238E27FC236}">
                <a16:creationId xmlns:a16="http://schemas.microsoft.com/office/drawing/2014/main" id="{52CB1A2F-60AF-4FDE-8AA2-280DEA6A0D64}"/>
              </a:ext>
            </a:extLst>
          </p:cNvPr>
          <p:cNvSpPr>
            <a:spLocks noGrp="1"/>
          </p:cNvSpPr>
          <p:nvPr/>
        </p:nvSpPr>
        <p:spPr>
          <a:xfrm>
            <a:off x="1645920" y="164592"/>
            <a:ext cx="6858000" cy="475488"/>
          </a:xfrm>
          <a:prstGeom prst="rect">
            <a:avLst/>
          </a:prstGeom>
          <a:noFill/>
        </p:spPr>
        <p:txBody>
          <a:bodyPr wrap="square" lIns="0" tIns="0" rIns="0" bIns="0" anchor="ctr"/>
          <a:lstStyle/>
          <a:p>
            <a:pPr marL="0" indent="0" algn="ctr">
              <a:buNone/>
            </a:pPr>
            <a:r>
              <a:rPr sz="1800" b="1">
                <a:solidFill>
                  <a:srgbClr val="FFFFFF"/>
                </a:solidFill>
                <a:latin typeface="Times New Roman"/>
                <a:ea typeface="Times New Roman"/>
                <a:cs typeface="Times New Roman"/>
              </a:rPr>
              <a:t>Module 1: Authentication Screens</a:t>
            </a:r>
            <a:endParaRPr sz="1800"/>
          </a:p>
        </p:txBody>
      </p:sp>
      <p:pic>
        <p:nvPicPr>
          <p:cNvPr id="5" name="Picture 4">
            <a:extLst>
              <a:ext uri="{FF2B5EF4-FFF2-40B4-BE49-F238E27FC236}">
                <a16:creationId xmlns:a16="http://schemas.microsoft.com/office/drawing/2014/main" id="{6D60E502-6AA0-4B3E-A1B3-4F73FEB88400}"/>
              </a:ext>
            </a:extLst>
          </p:cNvPr>
          <p:cNvPicPr>
            <a:picLocks noChangeAspect="1"/>
          </p:cNvPicPr>
          <p:nvPr/>
        </p:nvPicPr>
        <p:blipFill>
          <a:blip r:embed="rId4"/>
          <a:stretch/>
        </p:blipFill>
        <p:spPr>
          <a:xfrm>
            <a:off x="428625" y="948630"/>
            <a:ext cx="5381625" cy="3027164"/>
          </a:xfrm>
          <a:prstGeom prst="rect">
            <a:avLst/>
          </a:prstGeom>
        </p:spPr>
      </p:pic>
      <p:pic>
        <p:nvPicPr>
          <p:cNvPr id="6" name="Picture 5">
            <a:extLst>
              <a:ext uri="{FF2B5EF4-FFF2-40B4-BE49-F238E27FC236}">
                <a16:creationId xmlns:a16="http://schemas.microsoft.com/office/drawing/2014/main" id="{86D065F1-5980-4C1D-88C7-E86C05BF8B76}"/>
              </a:ext>
            </a:extLst>
          </p:cNvPr>
          <p:cNvPicPr>
            <a:picLocks noChangeAspect="1"/>
          </p:cNvPicPr>
          <p:nvPr/>
        </p:nvPicPr>
        <p:blipFill>
          <a:blip r:embed="rId5"/>
          <a:srcRect l="31000" t="19000" r="32000" b="6000"/>
          <a:stretch/>
        </p:blipFill>
        <p:spPr>
          <a:xfrm>
            <a:off x="6143625" y="914400"/>
            <a:ext cx="2505075" cy="3086100"/>
          </a:xfrm>
          <a:prstGeom prst="rect">
            <a:avLst/>
          </a:prstGeom>
        </p:spPr>
      </p:pic>
      <p:sp>
        <p:nvSpPr>
          <p:cNvPr id="7" name="Rectangle 6">
            <a:extLst>
              <a:ext uri="{FF2B5EF4-FFF2-40B4-BE49-F238E27FC236}">
                <a16:creationId xmlns:a16="http://schemas.microsoft.com/office/drawing/2014/main" id="{BEF24CC1-B015-4446-A874-B4F046D46028}"/>
              </a:ext>
            </a:extLst>
          </p:cNvPr>
          <p:cNvSpPr>
            <a:spLocks noGrp="1"/>
          </p:cNvSpPr>
          <p:nvPr/>
        </p:nvSpPr>
        <p:spPr>
          <a:xfrm>
            <a:off x="666750" y="4191000"/>
            <a:ext cx="4667250" cy="266700"/>
          </a:xfrm>
          <a:prstGeom prst="rect">
            <a:avLst/>
          </a:prstGeom>
          <a:noFill/>
          <a:ln w="0">
            <a:noFill/>
          </a:ln>
        </p:spPr>
        <p:txBody>
          <a:bodyPr lIns="0" tIns="0" rIns="0" bIns="0"/>
          <a:lstStyle>
            <a:defPPr>
              <a:defRPr sz="1575" b="1">
                <a:solidFill>
                  <a:srgbClr val="C55A11"/>
                </a:solidFill>
                <a:latin typeface="Times New Roman"/>
                <a:ea typeface="Times New Roman"/>
                <a:cs typeface="Times New Roman"/>
              </a:defRPr>
            </a:defPPr>
          </a:lstStyle>
          <a:p>
            <a:pPr>
              <a:defRPr sz="1575" b="1">
                <a:solidFill>
                  <a:srgbClr val="C55A11"/>
                </a:solidFill>
                <a:latin typeface="Times New Roman"/>
                <a:ea typeface="Times New Roman"/>
                <a:cs typeface="Times New Roman"/>
              </a:defRPr>
            </a:pPr>
            <a:r>
              <a:rPr sz="1575" b="1">
                <a:solidFill>
                  <a:srgbClr val="C55A11"/>
                </a:solidFill>
                <a:latin typeface="Times New Roman"/>
                <a:ea typeface="Times New Roman"/>
                <a:cs typeface="Times New Roman"/>
              </a:rPr>
              <a:t>Customer login</a:t>
            </a:r>
          </a:p>
        </p:txBody>
      </p:sp>
      <p:sp>
        <p:nvSpPr>
          <p:cNvPr id="8" name="Rectangle 7">
            <a:extLst>
              <a:ext uri="{FF2B5EF4-FFF2-40B4-BE49-F238E27FC236}">
                <a16:creationId xmlns:a16="http://schemas.microsoft.com/office/drawing/2014/main" id="{30173C90-330C-41D4-AF57-825F6376EB1B}"/>
              </a:ext>
            </a:extLst>
          </p:cNvPr>
          <p:cNvSpPr>
            <a:spLocks noGrp="1"/>
          </p:cNvSpPr>
          <p:nvPr/>
        </p:nvSpPr>
        <p:spPr>
          <a:xfrm>
            <a:off x="6019800" y="4191000"/>
            <a:ext cx="2667000" cy="266700"/>
          </a:xfrm>
          <a:prstGeom prst="rect">
            <a:avLst/>
          </a:prstGeom>
          <a:noFill/>
          <a:ln w="0">
            <a:noFill/>
          </a:ln>
        </p:spPr>
        <p:txBody>
          <a:bodyPr lIns="0" tIns="0" rIns="0" bIns="0"/>
          <a:lstStyle>
            <a:defPPr>
              <a:defRPr sz="1575" b="1">
                <a:solidFill>
                  <a:srgbClr val="C55A11"/>
                </a:solidFill>
                <a:latin typeface="Times New Roman"/>
                <a:ea typeface="Times New Roman"/>
                <a:cs typeface="Times New Roman"/>
              </a:defRPr>
            </a:defPPr>
          </a:lstStyle>
          <a:p>
            <a:pPr>
              <a:defRPr sz="1575" b="1">
                <a:solidFill>
                  <a:srgbClr val="C55A11"/>
                </a:solidFill>
                <a:latin typeface="Times New Roman"/>
                <a:ea typeface="Times New Roman"/>
                <a:cs typeface="Times New Roman"/>
              </a:defRPr>
            </a:pPr>
            <a:r>
              <a:rPr sz="1575" b="1">
                <a:solidFill>
                  <a:srgbClr val="C55A11"/>
                </a:solidFill>
                <a:latin typeface="Times New Roman"/>
                <a:ea typeface="Times New Roman"/>
                <a:cs typeface="Times New Roman"/>
              </a:rPr>
              <a:t>Administrator login</a:t>
            </a:r>
          </a:p>
        </p:txBody>
      </p:sp>
      <p:sp>
        <p:nvSpPr>
          <p:cNvPr id="9" name="Rectangle 8">
            <a:extLst>
              <a:ext uri="{FF2B5EF4-FFF2-40B4-BE49-F238E27FC236}">
                <a16:creationId xmlns:a16="http://schemas.microsoft.com/office/drawing/2014/main" id="{C777E107-A3DF-4694-BAFF-84C0439C6B21}"/>
              </a:ext>
            </a:extLst>
          </p:cNvPr>
          <p:cNvSpPr>
            <a:spLocks noGrp="1"/>
          </p:cNvSpPr>
          <p:nvPr/>
        </p:nvSpPr>
        <p:spPr>
          <a:xfrm>
            <a:off x="666750" y="4543425"/>
            <a:ext cx="7810500" cy="428625"/>
          </a:xfrm>
          <a:prstGeom prst="rect">
            <a:avLst/>
          </a:prstGeom>
          <a:noFill/>
          <a:ln w="0">
            <a:noFill/>
          </a:ln>
        </p:spPr>
        <p:txBody>
          <a:bodyPr lIns="0" tIns="0" rIns="0" bIns="0"/>
          <a:lstStyle>
            <a:defPPr>
              <a:defRPr sz="1425" b="0">
                <a:solidFill>
                  <a:srgbClr val="002060"/>
                </a:solidFill>
                <a:latin typeface="Times New Roman"/>
                <a:ea typeface="Times New Roman"/>
                <a:cs typeface="Times New Roman"/>
              </a:defRPr>
            </a:defPPr>
          </a:lstStyle>
          <a:p>
            <a:pPr>
              <a:defRPr sz="1425" b="0">
                <a:solidFill>
                  <a:srgbClr val="002060"/>
                </a:solidFill>
                <a:latin typeface="Times New Roman"/>
                <a:ea typeface="Times New Roman"/>
                <a:cs typeface="Times New Roman"/>
              </a:defRPr>
            </a:pPr>
            <a:r>
              <a:rPr sz="1425" b="0">
                <a:solidFill>
                  <a:srgbClr val="002060"/>
                </a:solidFill>
                <a:latin typeface="Times New Roman"/>
                <a:ea typeface="Times New Roman"/>
                <a:cs typeface="Times New Roman"/>
              </a:rPr>
              <a:t>Email and password for customers. A separate admin ID grants access only to an authorised administrator.</a:t>
            </a:r>
          </a:p>
        </p:txBody>
      </p:sp>
    </p:spTree>
    <p:extLst>
      <p:ext uri="{BB962C8B-B14F-4D97-AF65-F5344CB8AC3E}">
        <p14:creationId xmlns:p14="http://schemas.microsoft.com/office/powerpoint/2010/main" val="936696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B4A959F6-FAE7-47AC-A231-EA5B9909C5C5}"/>
              </a:ext>
            </a:extLst>
          </p:cNvPr>
          <p:cNvPicPr>
            <a:picLocks noChangeAspect="1"/>
          </p:cNvPicPr>
          <p:nvPr/>
        </p:nvPicPr>
        <p:blipFill>
          <a:blip r:embed="rId3"/>
          <a:stretch>
            <a:fillRect/>
          </a:stretch>
        </p:blipFill>
        <p:spPr>
          <a:xfrm>
            <a:off x="274320" y="182880"/>
            <a:ext cx="1097280" cy="402336"/>
          </a:xfrm>
          <a:prstGeom prst="rect">
            <a:avLst/>
          </a:prstGeom>
        </p:spPr>
      </p:pic>
      <p:sp>
        <p:nvSpPr>
          <p:cNvPr id="3" name="Shape 0">
            <a:extLst>
              <a:ext uri="{FF2B5EF4-FFF2-40B4-BE49-F238E27FC236}">
                <a16:creationId xmlns:a16="http://schemas.microsoft.com/office/drawing/2014/main" id="{7A7F1A21-B1B2-4D44-90DF-1B56B39DD409}"/>
              </a:ext>
            </a:extLst>
          </p:cNvPr>
          <p:cNvSpPr>
            <a:spLocks noGrp="1"/>
          </p:cNvSpPr>
          <p:nvPr/>
        </p:nvSpPr>
        <p:spPr>
          <a:xfrm>
            <a:off x="1645920" y="164592"/>
            <a:ext cx="6858000" cy="475488"/>
          </a:xfrm>
          <a:prstGeom prst="roundRect">
            <a:avLst>
              <a:gd name="adj" fmla="val 23077"/>
            </a:avLst>
          </a:prstGeom>
          <a:solidFill>
            <a:srgbClr val="FF6600"/>
          </a:solidFill>
          <a:ln w="12700">
            <a:solidFill>
              <a:srgbClr val="FF6600"/>
            </a:solidFill>
            <a:prstDash val="solid"/>
          </a:ln>
          <a:effectLst>
            <a:outerShdw blurRad="76200" dist="38100" dir="5400000" algn="bl" rotWithShape="0">
              <a:srgbClr val="000000">
                <a:alpha val="35000"/>
              </a:srgbClr>
            </a:outerShdw>
          </a:effectLst>
        </p:spPr>
      </p:sp>
      <p:sp>
        <p:nvSpPr>
          <p:cNvPr id="4" name="Text 1">
            <a:extLst>
              <a:ext uri="{FF2B5EF4-FFF2-40B4-BE49-F238E27FC236}">
                <a16:creationId xmlns:a16="http://schemas.microsoft.com/office/drawing/2014/main" id="{595FAE6E-726B-431F-89D3-74D32574B0A7}"/>
              </a:ext>
            </a:extLst>
          </p:cNvPr>
          <p:cNvSpPr>
            <a:spLocks noGrp="1"/>
          </p:cNvSpPr>
          <p:nvPr/>
        </p:nvSpPr>
        <p:spPr>
          <a:xfrm>
            <a:off x="1645920" y="164592"/>
            <a:ext cx="6858000" cy="475488"/>
          </a:xfrm>
          <a:prstGeom prst="rect">
            <a:avLst/>
          </a:prstGeom>
          <a:noFill/>
        </p:spPr>
        <p:txBody>
          <a:bodyPr wrap="square" lIns="0" tIns="0" rIns="0" bIns="0" anchor="ctr"/>
          <a:lstStyle/>
          <a:p>
            <a:pPr marL="0" indent="0" algn="ctr">
              <a:buNone/>
            </a:pPr>
            <a:r>
              <a:rPr sz="1800" b="1">
                <a:solidFill>
                  <a:srgbClr val="FFFFFF"/>
                </a:solidFill>
                <a:latin typeface="Times New Roman"/>
                <a:ea typeface="Times New Roman"/>
                <a:cs typeface="Times New Roman"/>
              </a:rPr>
              <a:t>Module 2: Products &amp; Inventory</a:t>
            </a:r>
            <a:endParaRPr sz="1800"/>
          </a:p>
        </p:txBody>
      </p:sp>
      <p:sp>
        <p:nvSpPr>
          <p:cNvPr id="5" name="Text 2">
            <a:extLst>
              <a:ext uri="{FF2B5EF4-FFF2-40B4-BE49-F238E27FC236}">
                <a16:creationId xmlns:a16="http://schemas.microsoft.com/office/drawing/2014/main" id="{22B80BCD-494B-4F89-901F-7CB838F55235}"/>
              </a:ext>
            </a:extLst>
          </p:cNvPr>
          <p:cNvSpPr>
            <a:spLocks noGrp="1"/>
          </p:cNvSpPr>
          <p:nvPr/>
        </p:nvSpPr>
        <p:spPr>
          <a:xfrm>
            <a:off x="548640" y="1005840"/>
            <a:ext cx="3749040" cy="320040"/>
          </a:xfrm>
          <a:prstGeom prst="rect">
            <a:avLst/>
          </a:prstGeom>
          <a:noFill/>
        </p:spPr>
        <p:txBody>
          <a:bodyPr wrap="square" lIns="0" tIns="0" rIns="0" bIns="0" anchor="ctr"/>
          <a:lstStyle/>
          <a:p>
            <a:pPr marL="0" indent="0">
              <a:buNone/>
            </a:pPr>
            <a:r>
              <a:rPr sz="1600" b="1">
                <a:solidFill>
                  <a:srgbClr val="C55A11"/>
                </a:solidFill>
                <a:latin typeface="Times New Roman"/>
                <a:ea typeface="Times New Roman"/>
                <a:cs typeface="Times New Roman"/>
              </a:rPr>
              <a:t>Key functionalities</a:t>
            </a:r>
            <a:endParaRPr sz="1600"/>
          </a:p>
        </p:txBody>
      </p:sp>
      <p:sp>
        <p:nvSpPr>
          <p:cNvPr id="6" name="Text 3">
            <a:extLst>
              <a:ext uri="{FF2B5EF4-FFF2-40B4-BE49-F238E27FC236}">
                <a16:creationId xmlns:a16="http://schemas.microsoft.com/office/drawing/2014/main" id="{C26FD687-E072-4282-8C2F-3962190FE4F0}"/>
              </a:ext>
            </a:extLst>
          </p:cNvPr>
          <p:cNvSpPr>
            <a:spLocks noGrp="1"/>
          </p:cNvSpPr>
          <p:nvPr/>
        </p:nvSpPr>
        <p:spPr>
          <a:xfrm>
            <a:off x="548640" y="1417320"/>
            <a:ext cx="3749040" cy="3200400"/>
          </a:xfrm>
          <a:prstGeom prst="rect">
            <a:avLst/>
          </a:prstGeom>
          <a:noFill/>
        </p:spPr>
        <p:txBody>
          <a:bodyPr wrap="square" lIns="0" tIns="0" rIns="0" bIns="0" anchor="t"/>
          <a:lstStyle/>
          <a:p>
            <a:pPr marL="342900" indent="-342900">
              <a:spcAft>
                <a:spcPts val="800"/>
              </a:spcAft>
              <a:buSzPct val="100000"/>
              <a:buChar char="•"/>
            </a:pPr>
            <a:r>
              <a:rPr sz="1400">
                <a:solidFill>
                  <a:srgbClr val="002060"/>
                </a:solidFill>
                <a:latin typeface="Times New Roman"/>
                <a:ea typeface="Times New Roman"/>
                <a:cs typeface="Times New Roman"/>
              </a:rPr>
              <a:t>Browse, search, filter and sort products</a:t>
            </a:r>
            <a:endParaRPr sz="1400"/>
          </a:p>
          <a:p>
            <a:pPr marL="342900" indent="-342900">
              <a:spcAft>
                <a:spcPts val="800"/>
              </a:spcAft>
              <a:buSzPct val="100000"/>
              <a:buChar char="•"/>
            </a:pPr>
            <a:r>
              <a:rPr sz="1400">
                <a:solidFill>
                  <a:srgbClr val="002060"/>
                </a:solidFill>
                <a:latin typeface="Times New Roman"/>
                <a:ea typeface="Times New Roman"/>
                <a:cs typeface="Times New Roman"/>
              </a:rPr>
              <a:t>Pagination across the full catalogue</a:t>
            </a:r>
            <a:endParaRPr sz="1400"/>
          </a:p>
          <a:p>
            <a:pPr marL="342900" indent="-342900">
              <a:spcAft>
                <a:spcPts val="800"/>
              </a:spcAft>
              <a:buSzPct val="100000"/>
              <a:buChar char="•"/>
            </a:pPr>
            <a:r>
              <a:rPr sz="1400">
                <a:solidFill>
                  <a:srgbClr val="002060"/>
                </a:solidFill>
                <a:latin typeface="Times New Roman"/>
                <a:ea typeface="Times New Roman"/>
                <a:cs typeface="Times New Roman"/>
              </a:rPr>
              <a:t>Seller and admin product management</a:t>
            </a:r>
            <a:endParaRPr sz="1400"/>
          </a:p>
          <a:p>
            <a:pPr marL="342900" indent="-342900">
              <a:spcAft>
                <a:spcPts val="800"/>
              </a:spcAft>
              <a:buSzPct val="100000"/>
              <a:buChar char="•"/>
            </a:pPr>
            <a:r>
              <a:rPr sz="1400">
                <a:solidFill>
                  <a:srgbClr val="002060"/>
                </a:solidFill>
                <a:latin typeface="Times New Roman"/>
                <a:ea typeface="Times New Roman"/>
                <a:cs typeface="Times New Roman"/>
              </a:rPr>
              <a:t>Upload JPG/PNG photos to local storage</a:t>
            </a:r>
            <a:endParaRPr sz="1400"/>
          </a:p>
          <a:p>
            <a:pPr marL="342900" indent="-342900">
              <a:spcAft>
                <a:spcPts val="800"/>
              </a:spcAft>
              <a:buSzPct val="100000"/>
              <a:buChar char="•"/>
            </a:pPr>
            <a:r>
              <a:rPr sz="1400">
                <a:solidFill>
                  <a:srgbClr val="002060"/>
                </a:solidFill>
                <a:latin typeface="Times New Roman"/>
                <a:ea typeface="Times New Roman"/>
                <a:cs typeface="Times New Roman"/>
              </a:rPr>
              <a:t>Generated product codes and stock control</a:t>
            </a:r>
            <a:endParaRPr sz="1400"/>
          </a:p>
        </p:txBody>
      </p:sp>
      <p:sp>
        <p:nvSpPr>
          <p:cNvPr id="7" name="Shape 4">
            <a:extLst>
              <a:ext uri="{FF2B5EF4-FFF2-40B4-BE49-F238E27FC236}">
                <a16:creationId xmlns:a16="http://schemas.microsoft.com/office/drawing/2014/main" id="{E7E8C3F2-6F90-4A2B-A713-BE1CCB83CF04}"/>
              </a:ext>
            </a:extLst>
          </p:cNvPr>
          <p:cNvSpPr>
            <a:spLocks noGrp="1"/>
          </p:cNvSpPr>
          <p:nvPr/>
        </p:nvSpPr>
        <p:spPr>
          <a:xfrm>
            <a:off x="4663440" y="1005840"/>
            <a:ext cx="4023360" cy="3611880"/>
          </a:xfrm>
          <a:prstGeom prst="rect">
            <a:avLst/>
          </a:prstGeom>
          <a:solidFill>
            <a:srgbClr val="FFF6EF"/>
          </a:solidFill>
          <a:ln w="12700">
            <a:solidFill>
              <a:srgbClr val="F2D3BE"/>
            </a:solidFill>
            <a:prstDash val="solid"/>
          </a:ln>
        </p:spPr>
      </p:sp>
      <p:sp>
        <p:nvSpPr>
          <p:cNvPr id="8" name="Shape 5">
            <a:extLst>
              <a:ext uri="{FF2B5EF4-FFF2-40B4-BE49-F238E27FC236}">
                <a16:creationId xmlns:a16="http://schemas.microsoft.com/office/drawing/2014/main" id="{BB797107-69A1-428F-BB21-05C31924FF08}"/>
              </a:ext>
            </a:extLst>
          </p:cNvPr>
          <p:cNvSpPr>
            <a:spLocks noGrp="1"/>
          </p:cNvSpPr>
          <p:nvPr/>
        </p:nvSpPr>
        <p:spPr>
          <a:xfrm>
            <a:off x="4663440" y="1005840"/>
            <a:ext cx="4023360" cy="73152"/>
          </a:xfrm>
          <a:prstGeom prst="rect">
            <a:avLst/>
          </a:prstGeom>
          <a:solidFill>
            <a:srgbClr val="C55A11"/>
          </a:solidFill>
          <a:ln w="12700">
            <a:solidFill>
              <a:srgbClr val="C55A11"/>
            </a:solidFill>
            <a:prstDash val="solid"/>
          </a:ln>
        </p:spPr>
      </p:sp>
      <p:sp>
        <p:nvSpPr>
          <p:cNvPr id="9" name="Text 6">
            <a:extLst>
              <a:ext uri="{FF2B5EF4-FFF2-40B4-BE49-F238E27FC236}">
                <a16:creationId xmlns:a16="http://schemas.microsoft.com/office/drawing/2014/main" id="{37F83D10-6E8B-4E94-9D35-F44D8D581FD5}"/>
              </a:ext>
            </a:extLst>
          </p:cNvPr>
          <p:cNvSpPr>
            <a:spLocks noGrp="1"/>
          </p:cNvSpPr>
          <p:nvPr/>
        </p:nvSpPr>
        <p:spPr>
          <a:xfrm>
            <a:off x="4846320" y="1188720"/>
            <a:ext cx="3657600" cy="320040"/>
          </a:xfrm>
          <a:prstGeom prst="rect">
            <a:avLst/>
          </a:prstGeom>
          <a:noFill/>
        </p:spPr>
        <p:txBody>
          <a:bodyPr wrap="square" lIns="0" tIns="0" rIns="0" bIns="0" anchor="ctr"/>
          <a:lstStyle/>
          <a:p>
            <a:pPr marL="0" indent="0">
              <a:buNone/>
            </a:pPr>
            <a:r>
              <a:rPr sz="1600" b="1">
                <a:solidFill>
                  <a:srgbClr val="002060"/>
                </a:solidFill>
                <a:latin typeface="Times New Roman"/>
                <a:ea typeface="Times New Roman"/>
                <a:cs typeface="Times New Roman"/>
              </a:rPr>
              <a:t>How it works</a:t>
            </a:r>
            <a:endParaRPr sz="1600"/>
          </a:p>
        </p:txBody>
      </p:sp>
      <p:sp>
        <p:nvSpPr>
          <p:cNvPr id="10" name="Text 7">
            <a:extLst>
              <a:ext uri="{FF2B5EF4-FFF2-40B4-BE49-F238E27FC236}">
                <a16:creationId xmlns:a16="http://schemas.microsoft.com/office/drawing/2014/main" id="{B21968D6-F2DB-44DC-8050-A85132DCB258}"/>
              </a:ext>
            </a:extLst>
          </p:cNvPr>
          <p:cNvSpPr>
            <a:spLocks noGrp="1"/>
          </p:cNvSpPr>
          <p:nvPr/>
        </p:nvSpPr>
        <p:spPr>
          <a:xfrm>
            <a:off x="4846320" y="1600200"/>
            <a:ext cx="3657600" cy="2926080"/>
          </a:xfrm>
          <a:prstGeom prst="rect">
            <a:avLst/>
          </a:prstGeom>
          <a:noFill/>
        </p:spPr>
        <p:txBody>
          <a:bodyPr wrap="square" lIns="0" tIns="0" rIns="0" bIns="0" anchor="t"/>
          <a:lstStyle/>
          <a:p>
            <a:pPr marL="0" indent="0">
              <a:buNone/>
            </a:pPr>
            <a:r>
              <a:rPr sz="1300">
                <a:solidFill>
                  <a:srgbClr val="333333"/>
                </a:solidFill>
                <a:latin typeface="Times New Roman"/>
                <a:ea typeface="Times New Roman"/>
                <a:cs typeface="Times New Roman"/>
              </a:rPr>
              <a:t>Product Service stores listing details and inventory. Sellers and administrators can change only their own products. The service generates a product code when omitted. Uploaded images stay on disk, with their paths in the database.</a:t>
            </a:r>
            <a:endParaRPr sz="1300"/>
          </a:p>
        </p:txBody>
      </p:sp>
    </p:spTree>
    <p:extLst>
      <p:ext uri="{BB962C8B-B14F-4D97-AF65-F5344CB8AC3E}">
        <p14:creationId xmlns:p14="http://schemas.microsoft.com/office/powerpoint/2010/main" val="1671873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50BEB5B5-0F87-42E1-AB50-CCD90ACEED59}"/>
              </a:ext>
            </a:extLst>
          </p:cNvPr>
          <p:cNvPicPr>
            <a:picLocks noChangeAspect="1"/>
          </p:cNvPicPr>
          <p:nvPr/>
        </p:nvPicPr>
        <p:blipFill>
          <a:blip r:embed="rId3"/>
          <a:stretch>
            <a:fillRect/>
          </a:stretch>
        </p:blipFill>
        <p:spPr>
          <a:xfrm>
            <a:off x="274320" y="182880"/>
            <a:ext cx="1097280" cy="402336"/>
          </a:xfrm>
          <a:prstGeom prst="rect">
            <a:avLst/>
          </a:prstGeom>
        </p:spPr>
      </p:pic>
      <p:sp>
        <p:nvSpPr>
          <p:cNvPr id="3" name="Shape 0">
            <a:extLst>
              <a:ext uri="{FF2B5EF4-FFF2-40B4-BE49-F238E27FC236}">
                <a16:creationId xmlns:a16="http://schemas.microsoft.com/office/drawing/2014/main" id="{186B50FF-970F-44D2-A3FA-D5D319DE3579}"/>
              </a:ext>
            </a:extLst>
          </p:cNvPr>
          <p:cNvSpPr>
            <a:spLocks noGrp="1"/>
          </p:cNvSpPr>
          <p:nvPr/>
        </p:nvSpPr>
        <p:spPr>
          <a:xfrm>
            <a:off x="1645920" y="164592"/>
            <a:ext cx="6858000" cy="475488"/>
          </a:xfrm>
          <a:prstGeom prst="roundRect">
            <a:avLst>
              <a:gd name="adj" fmla="val 23077"/>
            </a:avLst>
          </a:prstGeom>
          <a:solidFill>
            <a:srgbClr val="FF6600"/>
          </a:solidFill>
          <a:ln w="12700">
            <a:solidFill>
              <a:srgbClr val="FF6600"/>
            </a:solidFill>
            <a:prstDash val="solid"/>
          </a:ln>
          <a:effectLst>
            <a:outerShdw blurRad="76200" dist="38100" dir="5400000" algn="bl" rotWithShape="0">
              <a:srgbClr val="000000">
                <a:alpha val="35000"/>
              </a:srgbClr>
            </a:outerShdw>
          </a:effectLst>
        </p:spPr>
      </p:sp>
      <p:sp>
        <p:nvSpPr>
          <p:cNvPr id="4" name="Text 1">
            <a:extLst>
              <a:ext uri="{FF2B5EF4-FFF2-40B4-BE49-F238E27FC236}">
                <a16:creationId xmlns:a16="http://schemas.microsoft.com/office/drawing/2014/main" id="{B5DB1641-9AFC-4611-9EF3-C9DCFB6CAD41}"/>
              </a:ext>
            </a:extLst>
          </p:cNvPr>
          <p:cNvSpPr>
            <a:spLocks noGrp="1"/>
          </p:cNvSpPr>
          <p:nvPr/>
        </p:nvSpPr>
        <p:spPr>
          <a:xfrm>
            <a:off x="1645920" y="164592"/>
            <a:ext cx="6858000" cy="475488"/>
          </a:xfrm>
          <a:prstGeom prst="rect">
            <a:avLst/>
          </a:prstGeom>
          <a:noFill/>
        </p:spPr>
        <p:txBody>
          <a:bodyPr wrap="square" lIns="0" tIns="0" rIns="0" bIns="0" anchor="ctr"/>
          <a:lstStyle/>
          <a:p>
            <a:pPr marL="0" indent="0" algn="ctr">
              <a:buNone/>
            </a:pPr>
            <a:r>
              <a:rPr sz="1800" b="1">
                <a:solidFill>
                  <a:srgbClr val="FFFFFF"/>
                </a:solidFill>
                <a:latin typeface="Times New Roman"/>
                <a:ea typeface="Times New Roman"/>
                <a:cs typeface="Times New Roman"/>
              </a:rPr>
              <a:t>Module 2: Product Catalogue Output</a:t>
            </a:r>
            <a:endParaRPr sz="1800"/>
          </a:p>
        </p:txBody>
      </p:sp>
      <p:pic>
        <p:nvPicPr>
          <p:cNvPr id="5" name="Picture 4">
            <a:extLst>
              <a:ext uri="{FF2B5EF4-FFF2-40B4-BE49-F238E27FC236}">
                <a16:creationId xmlns:a16="http://schemas.microsoft.com/office/drawing/2014/main" id="{77C5E57F-3DE2-4D3A-9F14-DF3E69C4057C}"/>
              </a:ext>
            </a:extLst>
          </p:cNvPr>
          <p:cNvPicPr>
            <a:picLocks noChangeAspect="1"/>
          </p:cNvPicPr>
          <p:nvPr/>
        </p:nvPicPr>
        <p:blipFill>
          <a:blip r:embed="rId4"/>
          <a:stretch/>
        </p:blipFill>
        <p:spPr>
          <a:xfrm>
            <a:off x="1145107" y="866775"/>
            <a:ext cx="6853786" cy="3857625"/>
          </a:xfrm>
          <a:prstGeom prst="rect">
            <a:avLst/>
          </a:prstGeom>
        </p:spPr>
      </p:pic>
      <p:sp>
        <p:nvSpPr>
          <p:cNvPr id="6" name="Rectangle 5">
            <a:extLst>
              <a:ext uri="{FF2B5EF4-FFF2-40B4-BE49-F238E27FC236}">
                <a16:creationId xmlns:a16="http://schemas.microsoft.com/office/drawing/2014/main" id="{3610599D-BD45-4F26-AB4A-7FEA0501859A}"/>
              </a:ext>
            </a:extLst>
          </p:cNvPr>
          <p:cNvSpPr>
            <a:spLocks noGrp="1"/>
          </p:cNvSpPr>
          <p:nvPr/>
        </p:nvSpPr>
        <p:spPr>
          <a:xfrm>
            <a:off x="619125" y="4781550"/>
            <a:ext cx="7905750" cy="247650"/>
          </a:xfrm>
          <a:prstGeom prst="rect">
            <a:avLst/>
          </a:prstGeom>
          <a:noFill/>
          <a:ln w="0">
            <a:noFill/>
          </a:ln>
        </p:spPr>
        <p:txBody>
          <a:bodyPr lIns="0" tIns="0" rIns="0" bIns="0"/>
          <a:lstStyle>
            <a:defPPr>
              <a:defRPr sz="1425" b="0">
                <a:solidFill>
                  <a:srgbClr val="002060"/>
                </a:solidFill>
                <a:latin typeface="Times New Roman"/>
                <a:ea typeface="Times New Roman"/>
                <a:cs typeface="Times New Roman"/>
              </a:defRPr>
            </a:defPPr>
          </a:lstStyle>
          <a:p>
            <a:pPr>
              <a:defRPr sz="1425" b="0">
                <a:solidFill>
                  <a:srgbClr val="002060"/>
                </a:solidFill>
                <a:latin typeface="Times New Roman"/>
                <a:ea typeface="Times New Roman"/>
                <a:cs typeface="Times New Roman"/>
              </a:defRPr>
            </a:pPr>
            <a:r>
              <a:rPr sz="1425" b="0">
                <a:solidFill>
                  <a:srgbClr val="002060"/>
                </a:solidFill>
                <a:latin typeface="Times New Roman"/>
                <a:ea typeface="Times New Roman"/>
                <a:cs typeface="Times New Roman"/>
              </a:rPr>
              <a:t>Category collections with product photos, prices and stock availability</a:t>
            </a:r>
          </a:p>
        </p:txBody>
      </p:sp>
    </p:spTree>
    <p:extLst>
      <p:ext uri="{BB962C8B-B14F-4D97-AF65-F5344CB8AC3E}">
        <p14:creationId xmlns:p14="http://schemas.microsoft.com/office/powerpoint/2010/main" val="733451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C35805E2-B70D-4743-9902-8E91C2BA0920}"/>
              </a:ext>
            </a:extLst>
          </p:cNvPr>
          <p:cNvPicPr>
            <a:picLocks noChangeAspect="1"/>
          </p:cNvPicPr>
          <p:nvPr/>
        </p:nvPicPr>
        <p:blipFill>
          <a:blip r:embed="rId3"/>
          <a:stretch>
            <a:fillRect/>
          </a:stretch>
        </p:blipFill>
        <p:spPr>
          <a:xfrm>
            <a:off x="274320" y="182880"/>
            <a:ext cx="1097280" cy="402336"/>
          </a:xfrm>
          <a:prstGeom prst="rect">
            <a:avLst/>
          </a:prstGeom>
        </p:spPr>
      </p:pic>
      <p:sp>
        <p:nvSpPr>
          <p:cNvPr id="3" name="Shape 0">
            <a:extLst>
              <a:ext uri="{FF2B5EF4-FFF2-40B4-BE49-F238E27FC236}">
                <a16:creationId xmlns:a16="http://schemas.microsoft.com/office/drawing/2014/main" id="{39D3A83C-1ACA-4209-8D9B-222B6B863702}"/>
              </a:ext>
            </a:extLst>
          </p:cNvPr>
          <p:cNvSpPr>
            <a:spLocks noGrp="1"/>
          </p:cNvSpPr>
          <p:nvPr/>
        </p:nvSpPr>
        <p:spPr>
          <a:xfrm>
            <a:off x="1645920" y="164592"/>
            <a:ext cx="6858000" cy="475488"/>
          </a:xfrm>
          <a:prstGeom prst="roundRect">
            <a:avLst>
              <a:gd name="adj" fmla="val 23077"/>
            </a:avLst>
          </a:prstGeom>
          <a:solidFill>
            <a:srgbClr val="FF6600"/>
          </a:solidFill>
          <a:ln w="12700">
            <a:solidFill>
              <a:srgbClr val="FF6600"/>
            </a:solidFill>
            <a:prstDash val="solid"/>
          </a:ln>
          <a:effectLst>
            <a:outerShdw blurRad="76200" dist="38100" dir="5400000" algn="bl" rotWithShape="0">
              <a:srgbClr val="000000">
                <a:alpha val="35000"/>
              </a:srgbClr>
            </a:outerShdw>
          </a:effectLst>
        </p:spPr>
      </p:sp>
      <p:sp>
        <p:nvSpPr>
          <p:cNvPr id="4" name="Text 1">
            <a:extLst>
              <a:ext uri="{FF2B5EF4-FFF2-40B4-BE49-F238E27FC236}">
                <a16:creationId xmlns:a16="http://schemas.microsoft.com/office/drawing/2014/main" id="{9A8C3721-00F5-4DD6-B93B-73A1032FA2E1}"/>
              </a:ext>
            </a:extLst>
          </p:cNvPr>
          <p:cNvSpPr>
            <a:spLocks noGrp="1"/>
          </p:cNvSpPr>
          <p:nvPr/>
        </p:nvSpPr>
        <p:spPr>
          <a:xfrm>
            <a:off x="1645920" y="164592"/>
            <a:ext cx="6858000" cy="475488"/>
          </a:xfrm>
          <a:prstGeom prst="rect">
            <a:avLst/>
          </a:prstGeom>
          <a:noFill/>
        </p:spPr>
        <p:txBody>
          <a:bodyPr wrap="square" lIns="0" tIns="0" rIns="0" bIns="0" anchor="ctr"/>
          <a:lstStyle/>
          <a:p>
            <a:pPr marL="0" indent="0" algn="ctr">
              <a:buNone/>
            </a:pPr>
            <a:r>
              <a:rPr sz="1800" b="1">
                <a:solidFill>
                  <a:srgbClr val="FFFFFF"/>
                </a:solidFill>
                <a:latin typeface="Times New Roman"/>
                <a:ea typeface="Times New Roman"/>
                <a:cs typeface="Times New Roman"/>
              </a:rPr>
              <a:t>Module 3: Checkout &amp; Order Management</a:t>
            </a:r>
            <a:endParaRPr sz="1800"/>
          </a:p>
        </p:txBody>
      </p:sp>
      <p:sp>
        <p:nvSpPr>
          <p:cNvPr id="5" name="Text 2">
            <a:extLst>
              <a:ext uri="{FF2B5EF4-FFF2-40B4-BE49-F238E27FC236}">
                <a16:creationId xmlns:a16="http://schemas.microsoft.com/office/drawing/2014/main" id="{984ECA6B-7189-4102-A8D3-758A8F9DD6D0}"/>
              </a:ext>
            </a:extLst>
          </p:cNvPr>
          <p:cNvSpPr>
            <a:spLocks noGrp="1"/>
          </p:cNvSpPr>
          <p:nvPr/>
        </p:nvSpPr>
        <p:spPr>
          <a:xfrm>
            <a:off x="548640" y="1005840"/>
            <a:ext cx="3749040" cy="320040"/>
          </a:xfrm>
          <a:prstGeom prst="rect">
            <a:avLst/>
          </a:prstGeom>
          <a:noFill/>
        </p:spPr>
        <p:txBody>
          <a:bodyPr wrap="square" lIns="0" tIns="0" rIns="0" bIns="0" anchor="ctr"/>
          <a:lstStyle/>
          <a:p>
            <a:pPr marL="0" indent="0">
              <a:buNone/>
            </a:pPr>
            <a:r>
              <a:rPr sz="1600" b="1">
                <a:solidFill>
                  <a:srgbClr val="C55A11"/>
                </a:solidFill>
                <a:latin typeface="Times New Roman"/>
                <a:ea typeface="Times New Roman"/>
                <a:cs typeface="Times New Roman"/>
              </a:rPr>
              <a:t>Key functionalities</a:t>
            </a:r>
            <a:endParaRPr sz="1600"/>
          </a:p>
        </p:txBody>
      </p:sp>
      <p:sp>
        <p:nvSpPr>
          <p:cNvPr id="6" name="Text 3">
            <a:extLst>
              <a:ext uri="{FF2B5EF4-FFF2-40B4-BE49-F238E27FC236}">
                <a16:creationId xmlns:a16="http://schemas.microsoft.com/office/drawing/2014/main" id="{95576309-10AB-440A-B8D1-587D6E53D6B3}"/>
              </a:ext>
            </a:extLst>
          </p:cNvPr>
          <p:cNvSpPr>
            <a:spLocks noGrp="1"/>
          </p:cNvSpPr>
          <p:nvPr/>
        </p:nvSpPr>
        <p:spPr>
          <a:xfrm>
            <a:off x="548640" y="1417320"/>
            <a:ext cx="3749040" cy="3200400"/>
          </a:xfrm>
          <a:prstGeom prst="rect">
            <a:avLst/>
          </a:prstGeom>
          <a:noFill/>
        </p:spPr>
        <p:txBody>
          <a:bodyPr wrap="square" lIns="0" tIns="0" rIns="0" bIns="0" anchor="t"/>
          <a:lstStyle/>
          <a:p>
            <a:pPr marL="342900" indent="-342900">
              <a:spcAft>
                <a:spcPts val="800"/>
              </a:spcAft>
              <a:buSzPct val="100000"/>
              <a:buChar char="•"/>
            </a:pPr>
            <a:r>
              <a:rPr sz="1400">
                <a:solidFill>
                  <a:srgbClr val="002060"/>
                </a:solidFill>
                <a:latin typeface="Times New Roman"/>
                <a:ea typeface="Times New Roman"/>
                <a:cs typeface="Times New Roman"/>
              </a:rPr>
              <a:t>Cart and structured delivery address</a:t>
            </a:r>
            <a:endParaRPr sz="1400"/>
          </a:p>
          <a:p>
            <a:pPr marL="342900" indent="-342900">
              <a:spcAft>
                <a:spcPts val="800"/>
              </a:spcAft>
              <a:buSzPct val="100000"/>
              <a:buChar char="•"/>
            </a:pPr>
            <a:r>
              <a:rPr sz="1400">
                <a:solidFill>
                  <a:srgbClr val="002060"/>
                </a:solidFill>
                <a:latin typeface="Times New Roman"/>
                <a:ea typeface="Times New Roman"/>
                <a:cs typeface="Times New Roman"/>
              </a:rPr>
              <a:t>Cash on delivery or online selection</a:t>
            </a:r>
            <a:endParaRPr sz="1400"/>
          </a:p>
          <a:p>
            <a:pPr marL="342900" indent="-342900">
              <a:spcAft>
                <a:spcPts val="800"/>
              </a:spcAft>
              <a:buSzPct val="100000"/>
              <a:buChar char="•"/>
            </a:pPr>
            <a:r>
              <a:rPr sz="1400">
                <a:solidFill>
                  <a:srgbClr val="002060"/>
                </a:solidFill>
                <a:latin typeface="Times New Roman"/>
                <a:ea typeface="Times New Roman"/>
                <a:cs typeface="Times New Roman"/>
              </a:rPr>
              <a:t>Stock reservation and confirmation</a:t>
            </a:r>
            <a:endParaRPr sz="1400"/>
          </a:p>
          <a:p>
            <a:pPr marL="342900" indent="-342900">
              <a:spcAft>
                <a:spcPts val="800"/>
              </a:spcAft>
              <a:buSzPct val="100000"/>
              <a:buChar char="•"/>
            </a:pPr>
            <a:r>
              <a:rPr sz="1400">
                <a:solidFill>
                  <a:srgbClr val="002060"/>
                </a:solidFill>
                <a:latin typeface="Times New Roman"/>
                <a:ea typeface="Times New Roman"/>
                <a:cs typeface="Times New Roman"/>
              </a:rPr>
              <a:t>Retry protection with idempotency keys</a:t>
            </a:r>
            <a:endParaRPr sz="1400"/>
          </a:p>
        </p:txBody>
      </p:sp>
      <p:sp>
        <p:nvSpPr>
          <p:cNvPr id="7" name="Shape 4">
            <a:extLst>
              <a:ext uri="{FF2B5EF4-FFF2-40B4-BE49-F238E27FC236}">
                <a16:creationId xmlns:a16="http://schemas.microsoft.com/office/drawing/2014/main" id="{7C27F5C5-D05D-44C4-B833-D0085D2A4F66}"/>
              </a:ext>
            </a:extLst>
          </p:cNvPr>
          <p:cNvSpPr>
            <a:spLocks noGrp="1"/>
          </p:cNvSpPr>
          <p:nvPr/>
        </p:nvSpPr>
        <p:spPr>
          <a:xfrm>
            <a:off x="4663440" y="1005840"/>
            <a:ext cx="4023360" cy="3611880"/>
          </a:xfrm>
          <a:prstGeom prst="rect">
            <a:avLst/>
          </a:prstGeom>
          <a:solidFill>
            <a:srgbClr val="FFF6EF"/>
          </a:solidFill>
          <a:ln w="12700">
            <a:solidFill>
              <a:srgbClr val="F2D3BE"/>
            </a:solidFill>
            <a:prstDash val="solid"/>
          </a:ln>
        </p:spPr>
      </p:sp>
      <p:sp>
        <p:nvSpPr>
          <p:cNvPr id="8" name="Shape 5">
            <a:extLst>
              <a:ext uri="{FF2B5EF4-FFF2-40B4-BE49-F238E27FC236}">
                <a16:creationId xmlns:a16="http://schemas.microsoft.com/office/drawing/2014/main" id="{812A3136-BA95-4C88-9779-D98E87A95C67}"/>
              </a:ext>
            </a:extLst>
          </p:cNvPr>
          <p:cNvSpPr>
            <a:spLocks noGrp="1"/>
          </p:cNvSpPr>
          <p:nvPr/>
        </p:nvSpPr>
        <p:spPr>
          <a:xfrm>
            <a:off x="4663440" y="1005840"/>
            <a:ext cx="4023360" cy="73152"/>
          </a:xfrm>
          <a:prstGeom prst="rect">
            <a:avLst/>
          </a:prstGeom>
          <a:solidFill>
            <a:srgbClr val="C55A11"/>
          </a:solidFill>
          <a:ln w="12700">
            <a:solidFill>
              <a:srgbClr val="C55A11"/>
            </a:solidFill>
            <a:prstDash val="solid"/>
          </a:ln>
        </p:spPr>
      </p:sp>
      <p:sp>
        <p:nvSpPr>
          <p:cNvPr id="9" name="Text 6">
            <a:extLst>
              <a:ext uri="{FF2B5EF4-FFF2-40B4-BE49-F238E27FC236}">
                <a16:creationId xmlns:a16="http://schemas.microsoft.com/office/drawing/2014/main" id="{D2B8CB5E-834B-4405-BBEA-33837A93ED32}"/>
              </a:ext>
            </a:extLst>
          </p:cNvPr>
          <p:cNvSpPr>
            <a:spLocks noGrp="1"/>
          </p:cNvSpPr>
          <p:nvPr/>
        </p:nvSpPr>
        <p:spPr>
          <a:xfrm>
            <a:off x="4846320" y="1188720"/>
            <a:ext cx="3657600" cy="320040"/>
          </a:xfrm>
          <a:prstGeom prst="rect">
            <a:avLst/>
          </a:prstGeom>
          <a:noFill/>
        </p:spPr>
        <p:txBody>
          <a:bodyPr wrap="square" lIns="0" tIns="0" rIns="0" bIns="0" anchor="ctr"/>
          <a:lstStyle/>
          <a:p>
            <a:pPr marL="0" indent="0">
              <a:buNone/>
            </a:pPr>
            <a:r>
              <a:rPr sz="1600" b="1">
                <a:solidFill>
                  <a:srgbClr val="002060"/>
                </a:solidFill>
                <a:latin typeface="Times New Roman"/>
                <a:ea typeface="Times New Roman"/>
                <a:cs typeface="Times New Roman"/>
              </a:rPr>
              <a:t>How it works</a:t>
            </a:r>
            <a:endParaRPr sz="1600"/>
          </a:p>
        </p:txBody>
      </p:sp>
      <p:sp>
        <p:nvSpPr>
          <p:cNvPr id="10" name="Text 7">
            <a:extLst>
              <a:ext uri="{FF2B5EF4-FFF2-40B4-BE49-F238E27FC236}">
                <a16:creationId xmlns:a16="http://schemas.microsoft.com/office/drawing/2014/main" id="{0484F8A3-1B2E-4C58-B00C-697FC65F3F7E}"/>
              </a:ext>
            </a:extLst>
          </p:cNvPr>
          <p:cNvSpPr>
            <a:spLocks noGrp="1"/>
          </p:cNvSpPr>
          <p:nvPr/>
        </p:nvSpPr>
        <p:spPr>
          <a:xfrm>
            <a:off x="4846320" y="1600200"/>
            <a:ext cx="3657600" cy="2926080"/>
          </a:xfrm>
          <a:prstGeom prst="rect">
            <a:avLst/>
          </a:prstGeom>
          <a:noFill/>
        </p:spPr>
        <p:txBody>
          <a:bodyPr wrap="square" lIns="0" tIns="0" rIns="0" bIns="0" anchor="t"/>
          <a:lstStyle/>
          <a:p>
            <a:pPr marL="0" indent="0">
              <a:buNone/>
            </a:pPr>
            <a:r>
              <a:rPr sz="1300">
                <a:solidFill>
                  <a:srgbClr val="333333"/>
                </a:solidFill>
                <a:latin typeface="Times New Roman"/>
                <a:ea typeface="Times New Roman"/>
                <a:cs typeface="Times New Roman"/>
              </a:rPr>
              <a:t>Order Service saves a pending order, then asks Product Service to reserve stock. It stores the server-side prices, confirms the stock deduction and marks the order CONFIRMED. Recovery retries interrupted work. Payment choices do not collect money.</a:t>
            </a:r>
            <a:endParaRPr sz="1300"/>
          </a:p>
        </p:txBody>
      </p:sp>
    </p:spTree>
    <p:extLst>
      <p:ext uri="{BB962C8B-B14F-4D97-AF65-F5344CB8AC3E}">
        <p14:creationId xmlns:p14="http://schemas.microsoft.com/office/powerpoint/2010/main" val="1515793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9AB20C79-0F93-4CF0-B25F-5E8AF57FF4AE}"/>
              </a:ext>
            </a:extLst>
          </p:cNvPr>
          <p:cNvPicPr>
            <a:picLocks noChangeAspect="1"/>
          </p:cNvPicPr>
          <p:nvPr/>
        </p:nvPicPr>
        <p:blipFill>
          <a:blip r:embed="rId3"/>
          <a:stretch>
            <a:fillRect/>
          </a:stretch>
        </p:blipFill>
        <p:spPr>
          <a:xfrm>
            <a:off x="274320" y="182880"/>
            <a:ext cx="1097280" cy="402336"/>
          </a:xfrm>
          <a:prstGeom prst="rect">
            <a:avLst/>
          </a:prstGeom>
        </p:spPr>
      </p:pic>
      <p:sp>
        <p:nvSpPr>
          <p:cNvPr id="3" name="Shape 0">
            <a:extLst>
              <a:ext uri="{FF2B5EF4-FFF2-40B4-BE49-F238E27FC236}">
                <a16:creationId xmlns:a16="http://schemas.microsoft.com/office/drawing/2014/main" id="{9EC7AB2A-87CA-4DDA-A376-03BCCDBA655E}"/>
              </a:ext>
            </a:extLst>
          </p:cNvPr>
          <p:cNvSpPr>
            <a:spLocks noGrp="1"/>
          </p:cNvSpPr>
          <p:nvPr/>
        </p:nvSpPr>
        <p:spPr>
          <a:xfrm>
            <a:off x="1645920" y="164592"/>
            <a:ext cx="6858000" cy="475488"/>
          </a:xfrm>
          <a:prstGeom prst="roundRect">
            <a:avLst>
              <a:gd name="adj" fmla="val 23077"/>
            </a:avLst>
          </a:prstGeom>
          <a:solidFill>
            <a:srgbClr val="FF6600"/>
          </a:solidFill>
          <a:ln w="12700">
            <a:solidFill>
              <a:srgbClr val="FF6600"/>
            </a:solidFill>
            <a:prstDash val="solid"/>
          </a:ln>
          <a:effectLst>
            <a:outerShdw blurRad="76200" dist="38100" dir="5400000" algn="bl" rotWithShape="0">
              <a:srgbClr val="000000">
                <a:alpha val="35000"/>
              </a:srgbClr>
            </a:outerShdw>
          </a:effectLst>
        </p:spPr>
      </p:sp>
      <p:sp>
        <p:nvSpPr>
          <p:cNvPr id="4" name="Text 1">
            <a:extLst>
              <a:ext uri="{FF2B5EF4-FFF2-40B4-BE49-F238E27FC236}">
                <a16:creationId xmlns:a16="http://schemas.microsoft.com/office/drawing/2014/main" id="{C951C67C-8FE9-40F5-8D6F-ECF5878E012D}"/>
              </a:ext>
            </a:extLst>
          </p:cNvPr>
          <p:cNvSpPr>
            <a:spLocks noGrp="1"/>
          </p:cNvSpPr>
          <p:nvPr/>
        </p:nvSpPr>
        <p:spPr>
          <a:xfrm>
            <a:off x="1645920" y="164592"/>
            <a:ext cx="6858000" cy="475488"/>
          </a:xfrm>
          <a:prstGeom prst="rect">
            <a:avLst/>
          </a:prstGeom>
          <a:noFill/>
        </p:spPr>
        <p:txBody>
          <a:bodyPr wrap="square" lIns="0" tIns="0" rIns="0" bIns="0" anchor="ctr"/>
          <a:lstStyle/>
          <a:p>
            <a:pPr marL="0" indent="0" algn="ctr">
              <a:buNone/>
            </a:pPr>
            <a:r>
              <a:rPr sz="1800" b="1">
                <a:solidFill>
                  <a:srgbClr val="FFFFFF"/>
                </a:solidFill>
                <a:latin typeface="Times New Roman"/>
                <a:ea typeface="Times New Roman"/>
                <a:cs typeface="Times New Roman"/>
              </a:rPr>
              <a:t>Module 3: Recorded Order Output</a:t>
            </a:r>
            <a:endParaRPr sz="1800"/>
          </a:p>
        </p:txBody>
      </p:sp>
      <p:sp>
        <p:nvSpPr>
          <p:cNvPr id="5" name="Rectangle 4">
            <a:extLst>
              <a:ext uri="{FF2B5EF4-FFF2-40B4-BE49-F238E27FC236}">
                <a16:creationId xmlns:a16="http://schemas.microsoft.com/office/drawing/2014/main" id="{0408AAD6-949A-4625-80F0-1F749020467A}"/>
              </a:ext>
            </a:extLst>
          </p:cNvPr>
          <p:cNvSpPr>
            <a:spLocks noGrp="1"/>
          </p:cNvSpPr>
          <p:nvPr/>
        </p:nvSpPr>
        <p:spPr>
          <a:xfrm>
            <a:off x="638175" y="1028700"/>
            <a:ext cx="7858125" cy="333375"/>
          </a:xfrm>
          <a:prstGeom prst="rect">
            <a:avLst/>
          </a:prstGeom>
          <a:noFill/>
          <a:ln w="0">
            <a:noFill/>
          </a:ln>
        </p:spPr>
        <p:txBody>
          <a:bodyPr lIns="0" tIns="0" rIns="0" bIns="0"/>
          <a:lstStyle>
            <a:defPPr>
              <a:defRPr sz="1875" b="1">
                <a:solidFill>
                  <a:srgbClr val="C55A11"/>
                </a:solidFill>
                <a:latin typeface="Times New Roman"/>
                <a:ea typeface="Times New Roman"/>
                <a:cs typeface="Times New Roman"/>
              </a:defRPr>
            </a:defPPr>
          </a:lstStyle>
          <a:p>
            <a:pPr>
              <a:defRPr sz="1875" b="1">
                <a:solidFill>
                  <a:srgbClr val="C55A11"/>
                </a:solidFill>
                <a:latin typeface="Times New Roman"/>
                <a:ea typeface="Times New Roman"/>
                <a:cs typeface="Times New Roman"/>
              </a:defRPr>
            </a:pPr>
            <a:r>
              <a:rPr sz="1875" b="1">
                <a:solidFill>
                  <a:srgbClr val="C55A11"/>
                </a:solidFill>
                <a:latin typeface="Times New Roman"/>
                <a:ea typeface="Times New Roman"/>
                <a:cs typeface="Times New Roman"/>
              </a:rPr>
              <a:t>Confirmed checkout</a:t>
            </a:r>
          </a:p>
        </p:txBody>
      </p:sp>
      <p:sp>
        <p:nvSpPr>
          <p:cNvPr id="6" name="Rectangle 5">
            <a:extLst>
              <a:ext uri="{FF2B5EF4-FFF2-40B4-BE49-F238E27FC236}">
                <a16:creationId xmlns:a16="http://schemas.microsoft.com/office/drawing/2014/main" id="{72754EAD-93EA-4017-82AB-53E50093CDC4}"/>
              </a:ext>
            </a:extLst>
          </p:cNvPr>
          <p:cNvSpPr>
            <a:spLocks noGrp="1"/>
          </p:cNvSpPr>
          <p:nvPr/>
        </p:nvSpPr>
        <p:spPr>
          <a:xfrm>
            <a:off x="638175" y="1409700"/>
            <a:ext cx="7858125" cy="266700"/>
          </a:xfrm>
          <a:prstGeom prst="rect">
            <a:avLst/>
          </a:prstGeom>
          <a:noFill/>
          <a:ln w="0">
            <a:noFill/>
          </a:ln>
        </p:spPr>
        <p:txBody>
          <a:bodyPr lIns="0" tIns="0" rIns="0" bIns="0"/>
          <a:lstStyle>
            <a:defPPr>
              <a:defRPr sz="1425" b="0">
                <a:solidFill>
                  <a:srgbClr val="555555"/>
                </a:solidFill>
                <a:latin typeface="Times New Roman"/>
                <a:ea typeface="Times New Roman"/>
                <a:cs typeface="Times New Roman"/>
              </a:defRPr>
            </a:defPPr>
          </a:lstStyle>
          <a:p>
            <a:pPr>
              <a:defRPr sz="1425" b="0">
                <a:solidFill>
                  <a:srgbClr val="555555"/>
                </a:solidFill>
                <a:latin typeface="Times New Roman"/>
                <a:ea typeface="Times New Roman"/>
                <a:cs typeface="Times New Roman"/>
              </a:defRPr>
            </a:pPr>
            <a:r>
              <a:rPr sz="1425" b="0">
                <a:solidFill>
                  <a:srgbClr val="555555"/>
                </a:solidFill>
                <a:latin typeface="Times New Roman"/>
                <a:ea typeface="Times New Roman"/>
                <a:cs typeface="Times New Roman"/>
              </a:rPr>
              <a:t>Recorded API result from the project verification on 5 October 2026</a:t>
            </a:r>
          </a:p>
        </p:txBody>
      </p:sp>
      <p:graphicFrame>
        <p:nvGraphicFramePr>
          <p:cNvPr id="7" name="Table 6">
            <a:extLst>
              <a:ext uri="{FF2B5EF4-FFF2-40B4-BE49-F238E27FC236}">
                <a16:creationId xmlns:a16="http://schemas.microsoft.com/office/drawing/2014/main" id="{146C15B5-9E0E-4E5F-BBEB-C21DB61058B0}"/>
              </a:ext>
            </a:extLst>
          </p:cNvPr>
          <p:cNvGraphicFramePr/>
          <p:nvPr/>
        </p:nvGraphicFramePr>
        <p:xfrm>
          <a:off x="638175" y="1762125"/>
          <a:ext cx="7867650" cy="2409827"/>
        </p:xfrm>
        <a:graphic>
          <a:graphicData uri="http://schemas.openxmlformats.org/drawingml/2006/table">
            <a:tbl>
              <a:tblPr/>
              <a:tblGrid>
                <a:gridCol w="2333625">
                  <a:extLst>
                    <a:ext uri="{9D8B030D-6E8A-4147-A177-3AD203B41FA5}">
                      <a16:colId xmlns:a16="http://schemas.microsoft.com/office/drawing/2014/main" val="20000"/>
                    </a:ext>
                  </a:extLst>
                </a:gridCol>
                <a:gridCol w="5534025">
                  <a:extLst>
                    <a:ext uri="{9D8B030D-6E8A-4147-A177-3AD203B41FA5}">
                      <a16:colId xmlns:a16="http://schemas.microsoft.com/office/drawing/2014/main" val="20001"/>
                    </a:ext>
                  </a:extLst>
                </a:gridCol>
              </a:tblGrid>
              <a:tr h="344261">
                <a:tc>
                  <a:txBody>
                    <a:bodyPr/>
                    <a:lstStyle/>
                    <a:p>
                      <a:r>
                        <a:rPr sz="1425" b="1">
                          <a:solidFill>
                            <a:srgbClr val="FFFFFF"/>
                          </a:solidFill>
                          <a:latin typeface="Times New Roman"/>
                          <a:ea typeface="Times New Roman"/>
                          <a:cs typeface="Times New Roman"/>
                        </a:rPr>
                        <a:t>Field</a:t>
                      </a:r>
                    </a:p>
                  </a:txBody>
                  <a:tcPr>
                    <a:solidFill>
                      <a:srgbClr val="C55A11"/>
                    </a:solidFill>
                  </a:tcPr>
                </a:tc>
                <a:tc>
                  <a:txBody>
                    <a:bodyPr/>
                    <a:lstStyle/>
                    <a:p>
                      <a:r>
                        <a:rPr sz="1425" b="1">
                          <a:solidFill>
                            <a:srgbClr val="FFFFFF"/>
                          </a:solidFill>
                          <a:latin typeface="Times New Roman"/>
                          <a:ea typeface="Times New Roman"/>
                          <a:cs typeface="Times New Roman"/>
                        </a:rPr>
                        <a:t>Recorded value</a:t>
                      </a:r>
                    </a:p>
                  </a:txBody>
                  <a:tcPr>
                    <a:solidFill>
                      <a:srgbClr val="C55A11"/>
                    </a:solidFill>
                  </a:tcPr>
                </a:tc>
                <a:extLst>
                  <a:ext uri="{0D108BD9-81ED-4DB2-BD59-A6C34878D82A}">
                    <a16:rowId xmlns:a16="http://schemas.microsoft.com/office/drawing/2014/main" val="10000"/>
                  </a:ext>
                </a:extLst>
              </a:tr>
              <a:tr h="344261">
                <a:tc>
                  <a:txBody>
                    <a:bodyPr/>
                    <a:lstStyle/>
                    <a:p>
                      <a:r>
                        <a:rPr sz="1425" b="0">
                          <a:solidFill>
                            <a:srgbClr val="002060"/>
                          </a:solidFill>
                          <a:latin typeface="Times New Roman"/>
                          <a:ea typeface="Times New Roman"/>
                          <a:cs typeface="Times New Roman"/>
                        </a:rPr>
                        <a:t>Order status</a:t>
                      </a:r>
                    </a:p>
                  </a:txBody>
                  <a:tcPr>
                    <a:solidFill>
                      <a:srgbClr val="FFF6EF"/>
                    </a:solidFill>
                  </a:tcPr>
                </a:tc>
                <a:tc>
                  <a:txBody>
                    <a:bodyPr/>
                    <a:lstStyle/>
                    <a:p>
                      <a:r>
                        <a:rPr sz="1425" b="0">
                          <a:solidFill>
                            <a:srgbClr val="002060"/>
                          </a:solidFill>
                          <a:latin typeface="Times New Roman"/>
                          <a:ea typeface="Times New Roman"/>
                          <a:cs typeface="Times New Roman"/>
                        </a:rPr>
                        <a:t>CONFIRMED</a:t>
                      </a:r>
                    </a:p>
                  </a:txBody>
                  <a:tcPr>
                    <a:solidFill>
                      <a:srgbClr val="FFF6EF"/>
                    </a:solidFill>
                  </a:tcPr>
                </a:tc>
                <a:extLst>
                  <a:ext uri="{0D108BD9-81ED-4DB2-BD59-A6C34878D82A}">
                    <a16:rowId xmlns:a16="http://schemas.microsoft.com/office/drawing/2014/main" val="10001"/>
                  </a:ext>
                </a:extLst>
              </a:tr>
              <a:tr h="344261">
                <a:tc>
                  <a:txBody>
                    <a:bodyPr/>
                    <a:lstStyle/>
                    <a:p>
                      <a:r>
                        <a:rPr sz="1425" b="0">
                          <a:solidFill>
                            <a:srgbClr val="002060"/>
                          </a:solidFill>
                          <a:latin typeface="Times New Roman"/>
                          <a:ea typeface="Times New Roman"/>
                          <a:cs typeface="Times New Roman"/>
                        </a:rPr>
                        <a:t>Customer</a:t>
                      </a:r>
                    </a:p>
                  </a:txBody>
                  <a:tcPr>
                    <a:solidFill>
                      <a:srgbClr val="FFFFFF"/>
                    </a:solidFill>
                  </a:tcPr>
                </a:tc>
                <a:tc>
                  <a:txBody>
                    <a:bodyPr/>
                    <a:lstStyle/>
                    <a:p>
                      <a:r>
                        <a:rPr sz="1425" b="0">
                          <a:solidFill>
                            <a:srgbClr val="002060"/>
                          </a:solidFill>
                          <a:latin typeface="Times New Roman"/>
                          <a:ea typeface="Times New Roman"/>
                          <a:cs typeface="Times New Roman"/>
                        </a:rPr>
                        <a:t>Demo Customer</a:t>
                      </a:r>
                    </a:p>
                  </a:txBody>
                  <a:tcPr>
                    <a:solidFill>
                      <a:srgbClr val="FFFFFF"/>
                    </a:solidFill>
                  </a:tcPr>
                </a:tc>
                <a:extLst>
                  <a:ext uri="{0D108BD9-81ED-4DB2-BD59-A6C34878D82A}">
                    <a16:rowId xmlns:a16="http://schemas.microsoft.com/office/drawing/2014/main" val="10002"/>
                  </a:ext>
                </a:extLst>
              </a:tr>
              <a:tr h="344261">
                <a:tc>
                  <a:txBody>
                    <a:bodyPr/>
                    <a:lstStyle/>
                    <a:p>
                      <a:r>
                        <a:rPr sz="1425" b="0">
                          <a:solidFill>
                            <a:srgbClr val="002060"/>
                          </a:solidFill>
                          <a:latin typeface="Times New Roman"/>
                          <a:ea typeface="Times New Roman"/>
                          <a:cs typeface="Times New Roman"/>
                        </a:rPr>
                        <a:t>Product</a:t>
                      </a:r>
                    </a:p>
                  </a:txBody>
                  <a:tcPr>
                    <a:solidFill>
                      <a:srgbClr val="FFF6EF"/>
                    </a:solidFill>
                  </a:tcPr>
                </a:tc>
                <a:tc>
                  <a:txBody>
                    <a:bodyPr/>
                    <a:lstStyle/>
                    <a:p>
                      <a:r>
                        <a:rPr sz="1425" b="0">
                          <a:solidFill>
                            <a:srgbClr val="002060"/>
                          </a:solidFill>
                          <a:latin typeface="Times New Roman"/>
                          <a:ea typeface="Times New Roman"/>
                          <a:cs typeface="Times New Roman"/>
                        </a:rPr>
                        <a:t>Academic Demo Keyboard - Admin Reviewed</a:t>
                      </a:r>
                    </a:p>
                  </a:txBody>
                  <a:tcPr>
                    <a:solidFill>
                      <a:srgbClr val="FFF6EF"/>
                    </a:solidFill>
                  </a:tcPr>
                </a:tc>
                <a:extLst>
                  <a:ext uri="{0D108BD9-81ED-4DB2-BD59-A6C34878D82A}">
                    <a16:rowId xmlns:a16="http://schemas.microsoft.com/office/drawing/2014/main" val="10003"/>
                  </a:ext>
                </a:extLst>
              </a:tr>
              <a:tr h="344261">
                <a:tc>
                  <a:txBody>
                    <a:bodyPr/>
                    <a:lstStyle/>
                    <a:p>
                      <a:r>
                        <a:rPr sz="1425" b="0">
                          <a:solidFill>
                            <a:srgbClr val="002060"/>
                          </a:solidFill>
                          <a:latin typeface="Times New Roman"/>
                          <a:ea typeface="Times New Roman"/>
                          <a:cs typeface="Times New Roman"/>
                        </a:rPr>
                        <a:t>Quantity</a:t>
                      </a:r>
                    </a:p>
                  </a:txBody>
                  <a:tcPr>
                    <a:solidFill>
                      <a:srgbClr val="FFFFFF"/>
                    </a:solidFill>
                  </a:tcPr>
                </a:tc>
                <a:tc>
                  <a:txBody>
                    <a:bodyPr/>
                    <a:lstStyle/>
                    <a:p>
                      <a:r>
                        <a:rPr sz="1425" b="0">
                          <a:solidFill>
                            <a:srgbClr val="002060"/>
                          </a:solidFill>
                          <a:latin typeface="Times New Roman"/>
                          <a:ea typeface="Times New Roman"/>
                          <a:cs typeface="Times New Roman"/>
                        </a:rPr>
                        <a:t>2</a:t>
                      </a:r>
                    </a:p>
                  </a:txBody>
                  <a:tcPr>
                    <a:solidFill>
                      <a:srgbClr val="FFFFFF"/>
                    </a:solidFill>
                  </a:tcPr>
                </a:tc>
                <a:extLst>
                  <a:ext uri="{0D108BD9-81ED-4DB2-BD59-A6C34878D82A}">
                    <a16:rowId xmlns:a16="http://schemas.microsoft.com/office/drawing/2014/main" val="10004"/>
                  </a:ext>
                </a:extLst>
              </a:tr>
              <a:tr h="344261">
                <a:tc>
                  <a:txBody>
                    <a:bodyPr/>
                    <a:lstStyle/>
                    <a:p>
                      <a:r>
                        <a:rPr sz="1425" b="0">
                          <a:solidFill>
                            <a:srgbClr val="002060"/>
                          </a:solidFill>
                          <a:latin typeface="Times New Roman"/>
                          <a:ea typeface="Times New Roman"/>
                          <a:cs typeface="Times New Roman"/>
                        </a:rPr>
                        <a:t>Unit price</a:t>
                      </a:r>
                    </a:p>
                  </a:txBody>
                  <a:tcPr>
                    <a:solidFill>
                      <a:srgbClr val="FFF6EF"/>
                    </a:solidFill>
                  </a:tcPr>
                </a:tc>
                <a:tc>
                  <a:txBody>
                    <a:bodyPr/>
                    <a:lstStyle/>
                    <a:p>
                      <a:r>
                        <a:rPr sz="1425" b="0">
                          <a:solidFill>
                            <a:srgbClr val="002060"/>
                          </a:solidFill>
                          <a:latin typeface="Times New Roman"/>
                          <a:ea typeface="Times New Roman"/>
                          <a:cs typeface="Times New Roman"/>
                        </a:rPr>
                        <a:t>INR 499.50</a:t>
                      </a:r>
                    </a:p>
                  </a:txBody>
                  <a:tcPr>
                    <a:solidFill>
                      <a:srgbClr val="FFF6EF"/>
                    </a:solidFill>
                  </a:tcPr>
                </a:tc>
                <a:extLst>
                  <a:ext uri="{0D108BD9-81ED-4DB2-BD59-A6C34878D82A}">
                    <a16:rowId xmlns:a16="http://schemas.microsoft.com/office/drawing/2014/main" val="10005"/>
                  </a:ext>
                </a:extLst>
              </a:tr>
              <a:tr h="344261">
                <a:tc>
                  <a:txBody>
                    <a:bodyPr/>
                    <a:lstStyle/>
                    <a:p>
                      <a:r>
                        <a:rPr sz="1425" b="0">
                          <a:solidFill>
                            <a:srgbClr val="002060"/>
                          </a:solidFill>
                          <a:latin typeface="Times New Roman"/>
                          <a:ea typeface="Times New Roman"/>
                          <a:cs typeface="Times New Roman"/>
                        </a:rPr>
                        <a:t>Order total</a:t>
                      </a:r>
                    </a:p>
                  </a:txBody>
                  <a:tcPr>
                    <a:solidFill>
                      <a:srgbClr val="FFFFFF"/>
                    </a:solidFill>
                  </a:tcPr>
                </a:tc>
                <a:tc>
                  <a:txBody>
                    <a:bodyPr/>
                    <a:lstStyle/>
                    <a:p>
                      <a:r>
                        <a:rPr sz="1425" b="0">
                          <a:solidFill>
                            <a:srgbClr val="002060"/>
                          </a:solidFill>
                          <a:latin typeface="Times New Roman"/>
                          <a:ea typeface="Times New Roman"/>
                          <a:cs typeface="Times New Roman"/>
                        </a:rPr>
                        <a:t>INR 999.00</a:t>
                      </a:r>
                    </a:p>
                  </a:txBody>
                  <a:tcPr>
                    <a:solidFill>
                      <a:srgbClr val="FFFFFF"/>
                    </a:solidFill>
                  </a:tcPr>
                </a:tc>
                <a:extLst>
                  <a:ext uri="{0D108BD9-81ED-4DB2-BD59-A6C34878D82A}">
                    <a16:rowId xmlns:a16="http://schemas.microsoft.com/office/drawing/2014/main" val="10006"/>
                  </a:ext>
                </a:extLst>
              </a:tr>
            </a:tbl>
          </a:graphicData>
        </a:graphic>
      </p:graphicFrame>
      <p:sp>
        <p:nvSpPr>
          <p:cNvPr id="8" name="Rectangle 7">
            <a:extLst>
              <a:ext uri="{FF2B5EF4-FFF2-40B4-BE49-F238E27FC236}">
                <a16:creationId xmlns:a16="http://schemas.microsoft.com/office/drawing/2014/main" id="{2B9D8FFE-D4A2-46C1-BB7C-2B75152B3CE4}"/>
              </a:ext>
            </a:extLst>
          </p:cNvPr>
          <p:cNvSpPr>
            <a:spLocks noGrp="1"/>
          </p:cNvSpPr>
          <p:nvPr/>
        </p:nvSpPr>
        <p:spPr>
          <a:xfrm>
            <a:off x="638175" y="4429125"/>
            <a:ext cx="7867650" cy="504825"/>
          </a:xfrm>
          <a:prstGeom prst="rect">
            <a:avLst/>
          </a:prstGeom>
          <a:noFill/>
          <a:ln w="0">
            <a:noFill/>
          </a:ln>
        </p:spPr>
        <p:txBody>
          <a:bodyPr lIns="0" tIns="0" rIns="0" bIns="0"/>
          <a:lstStyle>
            <a:defPPr>
              <a:defRPr sz="1500" b="0">
                <a:solidFill>
                  <a:srgbClr val="002060"/>
                </a:solidFill>
                <a:latin typeface="Times New Roman"/>
                <a:ea typeface="Times New Roman"/>
                <a:cs typeface="Times New Roman"/>
              </a:defRPr>
            </a:defPPr>
          </a:lstStyle>
          <a:p>
            <a:pPr>
              <a:defRPr sz="1500" b="0">
                <a:solidFill>
                  <a:srgbClr val="002060"/>
                </a:solidFill>
                <a:latin typeface="Times New Roman"/>
                <a:ea typeface="Times New Roman"/>
                <a:cs typeface="Times New Roman"/>
              </a:defRPr>
            </a:pPr>
            <a:r>
              <a:rPr sz="1500" b="0">
                <a:solidFill>
                  <a:srgbClr val="002060"/>
                </a:solidFill>
                <a:latin typeface="Times New Roman"/>
                <a:ea typeface="Times New Roman"/>
                <a:cs typeface="Times New Roman"/>
              </a:rPr>
              <a:t>Verification also confirmed that repeated checkout returned the same order and deducted stock only once.</a:t>
            </a:r>
          </a:p>
        </p:txBody>
      </p:sp>
    </p:spTree>
    <p:extLst>
      <p:ext uri="{BB962C8B-B14F-4D97-AF65-F5344CB8AC3E}">
        <p14:creationId xmlns:p14="http://schemas.microsoft.com/office/powerpoint/2010/main" val="155676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F3358D5F-8EC9-4ACE-BB39-07D40BBE6D73}"/>
              </a:ext>
            </a:extLst>
          </p:cNvPr>
          <p:cNvPicPr>
            <a:picLocks noChangeAspect="1"/>
          </p:cNvPicPr>
          <p:nvPr/>
        </p:nvPicPr>
        <p:blipFill>
          <a:blip r:embed="rId3"/>
          <a:stretch>
            <a:fillRect/>
          </a:stretch>
        </p:blipFill>
        <p:spPr>
          <a:xfrm>
            <a:off x="274320" y="182880"/>
            <a:ext cx="1097280" cy="402336"/>
          </a:xfrm>
          <a:prstGeom prst="rect">
            <a:avLst/>
          </a:prstGeom>
        </p:spPr>
      </p:pic>
      <p:sp>
        <p:nvSpPr>
          <p:cNvPr id="3" name="Shape 0">
            <a:extLst>
              <a:ext uri="{FF2B5EF4-FFF2-40B4-BE49-F238E27FC236}">
                <a16:creationId xmlns:a16="http://schemas.microsoft.com/office/drawing/2014/main" id="{91AA9D33-0BF8-442F-92BB-8FE8268710DD}"/>
              </a:ext>
            </a:extLst>
          </p:cNvPr>
          <p:cNvSpPr>
            <a:spLocks noGrp="1"/>
          </p:cNvSpPr>
          <p:nvPr/>
        </p:nvSpPr>
        <p:spPr>
          <a:xfrm>
            <a:off x="1645920" y="164592"/>
            <a:ext cx="6858000" cy="475488"/>
          </a:xfrm>
          <a:prstGeom prst="roundRect">
            <a:avLst>
              <a:gd name="adj" fmla="val 23077"/>
            </a:avLst>
          </a:prstGeom>
          <a:solidFill>
            <a:srgbClr val="FF6600"/>
          </a:solidFill>
          <a:ln w="12700">
            <a:solidFill>
              <a:srgbClr val="FF6600"/>
            </a:solidFill>
            <a:prstDash val="solid"/>
          </a:ln>
          <a:effectLst>
            <a:outerShdw blurRad="76200" dist="38100" dir="5400000" algn="bl" rotWithShape="0">
              <a:srgbClr val="000000">
                <a:alpha val="35000"/>
              </a:srgbClr>
            </a:outerShdw>
          </a:effectLst>
        </p:spPr>
      </p:sp>
      <p:sp>
        <p:nvSpPr>
          <p:cNvPr id="4" name="Text 1">
            <a:extLst>
              <a:ext uri="{FF2B5EF4-FFF2-40B4-BE49-F238E27FC236}">
                <a16:creationId xmlns:a16="http://schemas.microsoft.com/office/drawing/2014/main" id="{D4DAB80D-E3A0-4DF7-AA0E-9E97C820D78B}"/>
              </a:ext>
            </a:extLst>
          </p:cNvPr>
          <p:cNvSpPr>
            <a:spLocks noGrp="1"/>
          </p:cNvSpPr>
          <p:nvPr/>
        </p:nvSpPr>
        <p:spPr>
          <a:xfrm>
            <a:off x="1645920" y="164592"/>
            <a:ext cx="6858000" cy="475488"/>
          </a:xfrm>
          <a:prstGeom prst="rect">
            <a:avLst/>
          </a:prstGeom>
          <a:noFill/>
        </p:spPr>
        <p:txBody>
          <a:bodyPr wrap="square" lIns="0" tIns="0" rIns="0" bIns="0" anchor="ctr"/>
          <a:lstStyle/>
          <a:p>
            <a:pPr marL="0" indent="0" algn="ctr">
              <a:buNone/>
            </a:pPr>
            <a:r>
              <a:rPr sz="1800" b="1">
                <a:solidFill>
                  <a:srgbClr val="FFFFFF"/>
                </a:solidFill>
                <a:latin typeface="Times New Roman"/>
                <a:ea typeface="Times New Roman"/>
                <a:cs typeface="Times New Roman"/>
              </a:rPr>
              <a:t>Module 4: SOAP Invoice Generation</a:t>
            </a:r>
            <a:endParaRPr sz="1800"/>
          </a:p>
        </p:txBody>
      </p:sp>
      <p:sp>
        <p:nvSpPr>
          <p:cNvPr id="5" name="Text 2">
            <a:extLst>
              <a:ext uri="{FF2B5EF4-FFF2-40B4-BE49-F238E27FC236}">
                <a16:creationId xmlns:a16="http://schemas.microsoft.com/office/drawing/2014/main" id="{FC196FD4-2A72-44CB-B49F-5FAC4638A646}"/>
              </a:ext>
            </a:extLst>
          </p:cNvPr>
          <p:cNvSpPr>
            <a:spLocks noGrp="1"/>
          </p:cNvSpPr>
          <p:nvPr/>
        </p:nvSpPr>
        <p:spPr>
          <a:xfrm>
            <a:off x="548640" y="1005840"/>
            <a:ext cx="3749040" cy="320040"/>
          </a:xfrm>
          <a:prstGeom prst="rect">
            <a:avLst/>
          </a:prstGeom>
          <a:noFill/>
        </p:spPr>
        <p:txBody>
          <a:bodyPr wrap="square" lIns="0" tIns="0" rIns="0" bIns="0" anchor="ctr"/>
          <a:lstStyle/>
          <a:p>
            <a:pPr marL="0" indent="0">
              <a:buNone/>
            </a:pPr>
            <a:r>
              <a:rPr sz="1600" b="1">
                <a:solidFill>
                  <a:srgbClr val="C55A11"/>
                </a:solidFill>
                <a:latin typeface="Times New Roman"/>
                <a:ea typeface="Times New Roman"/>
                <a:cs typeface="Times New Roman"/>
              </a:rPr>
              <a:t>Key functionalities</a:t>
            </a:r>
            <a:endParaRPr sz="1600"/>
          </a:p>
        </p:txBody>
      </p:sp>
      <p:sp>
        <p:nvSpPr>
          <p:cNvPr id="6" name="Text 3">
            <a:extLst>
              <a:ext uri="{FF2B5EF4-FFF2-40B4-BE49-F238E27FC236}">
                <a16:creationId xmlns:a16="http://schemas.microsoft.com/office/drawing/2014/main" id="{26ACAC3C-BCD4-4BDA-9B25-A1F643F0D839}"/>
              </a:ext>
            </a:extLst>
          </p:cNvPr>
          <p:cNvSpPr>
            <a:spLocks noGrp="1"/>
          </p:cNvSpPr>
          <p:nvPr/>
        </p:nvSpPr>
        <p:spPr>
          <a:xfrm>
            <a:off x="548640" y="1417320"/>
            <a:ext cx="3749040" cy="3200400"/>
          </a:xfrm>
          <a:prstGeom prst="rect">
            <a:avLst/>
          </a:prstGeom>
          <a:noFill/>
        </p:spPr>
        <p:txBody>
          <a:bodyPr wrap="square" lIns="0" tIns="0" rIns="0" bIns="0" anchor="t"/>
          <a:lstStyle/>
          <a:p>
            <a:pPr marL="342900" indent="-342900">
              <a:spcAft>
                <a:spcPts val="800"/>
              </a:spcAft>
              <a:buSzPct val="100000"/>
              <a:buChar char="•"/>
            </a:pPr>
            <a:r>
              <a:rPr sz="1400">
                <a:solidFill>
                  <a:srgbClr val="002060"/>
                </a:solidFill>
                <a:latin typeface="Times New Roman"/>
                <a:ea typeface="Times New Roman"/>
                <a:cs typeface="Times New Roman"/>
              </a:rPr>
              <a:t>Generate a bill for a confirmed order</a:t>
            </a:r>
            <a:endParaRPr sz="1400"/>
          </a:p>
          <a:p>
            <a:pPr marL="342900" indent="-342900">
              <a:spcAft>
                <a:spcPts val="800"/>
              </a:spcAft>
              <a:buSzPct val="100000"/>
              <a:buChar char="•"/>
            </a:pPr>
            <a:r>
              <a:rPr sz="1400">
                <a:solidFill>
                  <a:srgbClr val="002060"/>
                </a:solidFill>
                <a:latin typeface="Times New Roman"/>
                <a:ea typeface="Times New Roman"/>
                <a:cs typeface="Times New Roman"/>
              </a:rPr>
              <a:t>SOAP request and response in XML</a:t>
            </a:r>
            <a:endParaRPr sz="1400"/>
          </a:p>
          <a:p>
            <a:pPr marL="342900" indent="-342900">
              <a:spcAft>
                <a:spcPts val="800"/>
              </a:spcAft>
              <a:buSzPct val="100000"/>
              <a:buChar char="•"/>
            </a:pPr>
            <a:r>
              <a:rPr sz="1400">
                <a:solidFill>
                  <a:srgbClr val="002060"/>
                </a:solidFill>
                <a:latin typeface="Times New Roman"/>
                <a:ea typeface="Times New Roman"/>
                <a:cs typeface="Times New Roman"/>
              </a:rPr>
              <a:t>WSDL describes service operations</a:t>
            </a:r>
            <a:endParaRPr sz="1400"/>
          </a:p>
          <a:p>
            <a:pPr marL="342900" indent="-342900">
              <a:spcAft>
                <a:spcPts val="800"/>
              </a:spcAft>
              <a:buSzPct val="100000"/>
              <a:buChar char="•"/>
            </a:pPr>
            <a:r>
              <a:rPr sz="1400">
                <a:solidFill>
                  <a:srgbClr val="002060"/>
                </a:solidFill>
                <a:latin typeface="Times New Roman"/>
                <a:ea typeface="Times New Roman"/>
                <a:cs typeface="Times New Roman"/>
              </a:rPr>
              <a:t>XSD validates message structure</a:t>
            </a:r>
            <a:endParaRPr sz="1400"/>
          </a:p>
          <a:p>
            <a:pPr marL="342900" indent="-342900">
              <a:spcAft>
                <a:spcPts val="800"/>
              </a:spcAft>
              <a:buSzPct val="100000"/>
              <a:buChar char="•"/>
            </a:pPr>
            <a:r>
              <a:rPr sz="1400">
                <a:solidFill>
                  <a:srgbClr val="002060"/>
                </a:solidFill>
                <a:latin typeface="Times New Roman"/>
                <a:ea typeface="Times New Roman"/>
                <a:cs typeface="Times New Roman"/>
              </a:rPr>
              <a:t>Stable invoice identity on repeated calls</a:t>
            </a:r>
            <a:endParaRPr sz="1400"/>
          </a:p>
          <a:p>
            <a:pPr marL="342900" indent="-342900">
              <a:spcAft>
                <a:spcPts val="800"/>
              </a:spcAft>
              <a:buSzPct val="100000"/>
              <a:buChar char="•"/>
            </a:pPr>
            <a:r>
              <a:rPr sz="1400">
                <a:solidFill>
                  <a:srgbClr val="002060"/>
                </a:solidFill>
                <a:latin typeface="Times New Roman"/>
                <a:ea typeface="Times New Roman"/>
                <a:cs typeface="Times New Roman"/>
              </a:rPr>
              <a:t>Display and print invoice details</a:t>
            </a:r>
            <a:endParaRPr sz="1400"/>
          </a:p>
        </p:txBody>
      </p:sp>
      <p:sp>
        <p:nvSpPr>
          <p:cNvPr id="7" name="Shape 4">
            <a:extLst>
              <a:ext uri="{FF2B5EF4-FFF2-40B4-BE49-F238E27FC236}">
                <a16:creationId xmlns:a16="http://schemas.microsoft.com/office/drawing/2014/main" id="{500FB809-BBEF-4E49-B5E3-3FBE8F2C5484}"/>
              </a:ext>
            </a:extLst>
          </p:cNvPr>
          <p:cNvSpPr>
            <a:spLocks noGrp="1"/>
          </p:cNvSpPr>
          <p:nvPr/>
        </p:nvSpPr>
        <p:spPr>
          <a:xfrm>
            <a:off x="4663440" y="1005840"/>
            <a:ext cx="4023360" cy="3611880"/>
          </a:xfrm>
          <a:prstGeom prst="rect">
            <a:avLst/>
          </a:prstGeom>
          <a:solidFill>
            <a:srgbClr val="FFF6EF"/>
          </a:solidFill>
          <a:ln w="12700">
            <a:solidFill>
              <a:srgbClr val="F2D3BE"/>
            </a:solidFill>
            <a:prstDash val="solid"/>
          </a:ln>
        </p:spPr>
      </p:sp>
      <p:sp>
        <p:nvSpPr>
          <p:cNvPr id="8" name="Shape 5">
            <a:extLst>
              <a:ext uri="{FF2B5EF4-FFF2-40B4-BE49-F238E27FC236}">
                <a16:creationId xmlns:a16="http://schemas.microsoft.com/office/drawing/2014/main" id="{6119838C-290A-491F-8C79-619BE2B87C2D}"/>
              </a:ext>
            </a:extLst>
          </p:cNvPr>
          <p:cNvSpPr>
            <a:spLocks noGrp="1"/>
          </p:cNvSpPr>
          <p:nvPr/>
        </p:nvSpPr>
        <p:spPr>
          <a:xfrm>
            <a:off x="4663440" y="1005840"/>
            <a:ext cx="4023360" cy="73152"/>
          </a:xfrm>
          <a:prstGeom prst="rect">
            <a:avLst/>
          </a:prstGeom>
          <a:solidFill>
            <a:srgbClr val="C55A11"/>
          </a:solidFill>
          <a:ln w="12700">
            <a:solidFill>
              <a:srgbClr val="C55A11"/>
            </a:solidFill>
            <a:prstDash val="solid"/>
          </a:ln>
        </p:spPr>
      </p:sp>
      <p:sp>
        <p:nvSpPr>
          <p:cNvPr id="9" name="Text 6">
            <a:extLst>
              <a:ext uri="{FF2B5EF4-FFF2-40B4-BE49-F238E27FC236}">
                <a16:creationId xmlns:a16="http://schemas.microsoft.com/office/drawing/2014/main" id="{A1846DEB-3A69-462A-85FD-E7DB9AED9110}"/>
              </a:ext>
            </a:extLst>
          </p:cNvPr>
          <p:cNvSpPr>
            <a:spLocks noGrp="1"/>
          </p:cNvSpPr>
          <p:nvPr/>
        </p:nvSpPr>
        <p:spPr>
          <a:xfrm>
            <a:off x="4846320" y="1188720"/>
            <a:ext cx="3657600" cy="320040"/>
          </a:xfrm>
          <a:prstGeom prst="rect">
            <a:avLst/>
          </a:prstGeom>
          <a:noFill/>
        </p:spPr>
        <p:txBody>
          <a:bodyPr wrap="square" lIns="0" tIns="0" rIns="0" bIns="0" anchor="ctr"/>
          <a:lstStyle/>
          <a:p>
            <a:pPr marL="0" indent="0">
              <a:buNone/>
            </a:pPr>
            <a:r>
              <a:rPr sz="1600" b="1">
                <a:solidFill>
                  <a:srgbClr val="002060"/>
                </a:solidFill>
                <a:latin typeface="Times New Roman"/>
                <a:ea typeface="Times New Roman"/>
                <a:cs typeface="Times New Roman"/>
              </a:rPr>
              <a:t>How it works</a:t>
            </a:r>
            <a:endParaRPr sz="1600"/>
          </a:p>
        </p:txBody>
      </p:sp>
      <p:sp>
        <p:nvSpPr>
          <p:cNvPr id="10" name="Text 7">
            <a:extLst>
              <a:ext uri="{FF2B5EF4-FFF2-40B4-BE49-F238E27FC236}">
                <a16:creationId xmlns:a16="http://schemas.microsoft.com/office/drawing/2014/main" id="{53E4B966-D956-4CA0-9DF6-F459632228A7}"/>
              </a:ext>
            </a:extLst>
          </p:cNvPr>
          <p:cNvSpPr>
            <a:spLocks noGrp="1"/>
          </p:cNvSpPr>
          <p:nvPr/>
        </p:nvSpPr>
        <p:spPr>
          <a:xfrm>
            <a:off x="4846320" y="1600200"/>
            <a:ext cx="3657600" cy="2926080"/>
          </a:xfrm>
          <a:prstGeom prst="rect">
            <a:avLst/>
          </a:prstGeom>
          <a:noFill/>
        </p:spPr>
        <p:txBody>
          <a:bodyPr wrap="square" lIns="0" tIns="0" rIns="0" bIns="0" anchor="t"/>
          <a:lstStyle/>
          <a:p>
            <a:pPr marL="0" indent="0">
              <a:buNone/>
            </a:pPr>
            <a:r>
              <a:rPr sz="1300">
                <a:solidFill>
                  <a:srgbClr val="333333"/>
                </a:solidFill>
                <a:latin typeface="Times New Roman"/>
                <a:ea typeface="Times New Roman"/>
                <a:cs typeface="Times New Roman"/>
              </a:rPr>
              <a:t>When the user requests a bill, Order Service sends a SOAP XML request to Invoice Service. The invoice contains the customer and item details with the total. Invoice Service stores one invoice per order. Repeated requests return the same invoice.</a:t>
            </a:r>
            <a:endParaRPr sz="1300"/>
          </a:p>
        </p:txBody>
      </p:sp>
    </p:spTree>
    <p:extLst>
      <p:ext uri="{BB962C8B-B14F-4D97-AF65-F5344CB8AC3E}">
        <p14:creationId xmlns:p14="http://schemas.microsoft.com/office/powerpoint/2010/main" val="13230090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69E292A8-E365-43DB-BD4B-724CDC56EEF4}"/>
              </a:ext>
            </a:extLst>
          </p:cNvPr>
          <p:cNvPicPr>
            <a:picLocks noChangeAspect="1"/>
          </p:cNvPicPr>
          <p:nvPr/>
        </p:nvPicPr>
        <p:blipFill>
          <a:blip r:embed="rId3"/>
          <a:stretch>
            <a:fillRect/>
          </a:stretch>
        </p:blipFill>
        <p:spPr>
          <a:xfrm>
            <a:off x="274320" y="182880"/>
            <a:ext cx="1097280" cy="402336"/>
          </a:xfrm>
          <a:prstGeom prst="rect">
            <a:avLst/>
          </a:prstGeom>
        </p:spPr>
      </p:pic>
      <p:sp>
        <p:nvSpPr>
          <p:cNvPr id="3" name="Shape 0">
            <a:extLst>
              <a:ext uri="{FF2B5EF4-FFF2-40B4-BE49-F238E27FC236}">
                <a16:creationId xmlns:a16="http://schemas.microsoft.com/office/drawing/2014/main" id="{60E58ECE-BED7-49DA-AF35-D47A9DDB2B7B}"/>
              </a:ext>
            </a:extLst>
          </p:cNvPr>
          <p:cNvSpPr>
            <a:spLocks noGrp="1"/>
          </p:cNvSpPr>
          <p:nvPr/>
        </p:nvSpPr>
        <p:spPr>
          <a:xfrm>
            <a:off x="1645920" y="164592"/>
            <a:ext cx="6858000" cy="475488"/>
          </a:xfrm>
          <a:prstGeom prst="roundRect">
            <a:avLst>
              <a:gd name="adj" fmla="val 23077"/>
            </a:avLst>
          </a:prstGeom>
          <a:solidFill>
            <a:srgbClr val="FF6600"/>
          </a:solidFill>
          <a:ln w="12700">
            <a:solidFill>
              <a:srgbClr val="FF6600"/>
            </a:solidFill>
            <a:prstDash val="solid"/>
          </a:ln>
          <a:effectLst>
            <a:outerShdw blurRad="76200" dist="38100" dir="5400000" algn="bl" rotWithShape="0">
              <a:srgbClr val="000000">
                <a:alpha val="35000"/>
              </a:srgbClr>
            </a:outerShdw>
          </a:effectLst>
        </p:spPr>
      </p:sp>
      <p:sp>
        <p:nvSpPr>
          <p:cNvPr id="4" name="Text 1">
            <a:extLst>
              <a:ext uri="{FF2B5EF4-FFF2-40B4-BE49-F238E27FC236}">
                <a16:creationId xmlns:a16="http://schemas.microsoft.com/office/drawing/2014/main" id="{64D0D653-BF70-4BF9-8988-1D882EAC7398}"/>
              </a:ext>
            </a:extLst>
          </p:cNvPr>
          <p:cNvSpPr>
            <a:spLocks noGrp="1"/>
          </p:cNvSpPr>
          <p:nvPr/>
        </p:nvSpPr>
        <p:spPr>
          <a:xfrm>
            <a:off x="1645920" y="164592"/>
            <a:ext cx="6858000" cy="475488"/>
          </a:xfrm>
          <a:prstGeom prst="rect">
            <a:avLst/>
          </a:prstGeom>
          <a:noFill/>
        </p:spPr>
        <p:txBody>
          <a:bodyPr wrap="square" lIns="0" tIns="0" rIns="0" bIns="0" anchor="ctr"/>
          <a:lstStyle/>
          <a:p>
            <a:pPr marL="0" indent="0" algn="ctr">
              <a:buNone/>
            </a:pPr>
            <a:r>
              <a:rPr sz="1800" b="1">
                <a:solidFill>
                  <a:srgbClr val="FFFFFF"/>
                </a:solidFill>
                <a:latin typeface="Times New Roman"/>
                <a:ea typeface="Times New Roman"/>
                <a:cs typeface="Times New Roman"/>
              </a:rPr>
              <a:t>Module 4: Recorded Invoice Output</a:t>
            </a:r>
            <a:endParaRPr sz="1800"/>
          </a:p>
        </p:txBody>
      </p:sp>
      <p:sp>
        <p:nvSpPr>
          <p:cNvPr id="5" name="Rectangle 4">
            <a:extLst>
              <a:ext uri="{FF2B5EF4-FFF2-40B4-BE49-F238E27FC236}">
                <a16:creationId xmlns:a16="http://schemas.microsoft.com/office/drawing/2014/main" id="{4D169113-8C8B-46D7-BE9B-92E083F3E7EB}"/>
              </a:ext>
            </a:extLst>
          </p:cNvPr>
          <p:cNvSpPr>
            <a:spLocks noGrp="1"/>
          </p:cNvSpPr>
          <p:nvPr/>
        </p:nvSpPr>
        <p:spPr>
          <a:xfrm>
            <a:off x="638175" y="1019175"/>
            <a:ext cx="7858125" cy="333375"/>
          </a:xfrm>
          <a:prstGeom prst="rect">
            <a:avLst/>
          </a:prstGeom>
          <a:noFill/>
          <a:ln w="0">
            <a:noFill/>
          </a:ln>
        </p:spPr>
        <p:txBody>
          <a:bodyPr lIns="0" tIns="0" rIns="0" bIns="0"/>
          <a:lstStyle>
            <a:defPPr>
              <a:defRPr sz="1875" b="1">
                <a:solidFill>
                  <a:srgbClr val="C55A11"/>
                </a:solidFill>
                <a:latin typeface="Times New Roman"/>
                <a:ea typeface="Times New Roman"/>
                <a:cs typeface="Times New Roman"/>
              </a:defRPr>
            </a:defPPr>
          </a:lstStyle>
          <a:p>
            <a:pPr>
              <a:defRPr sz="1875" b="1">
                <a:solidFill>
                  <a:srgbClr val="C55A11"/>
                </a:solidFill>
                <a:latin typeface="Times New Roman"/>
                <a:ea typeface="Times New Roman"/>
                <a:cs typeface="Times New Roman"/>
              </a:defRPr>
            </a:pPr>
            <a:r>
              <a:rPr sz="1875" b="1">
                <a:solidFill>
                  <a:srgbClr val="C55A11"/>
                </a:solidFill>
                <a:latin typeface="Times New Roman"/>
                <a:ea typeface="Times New Roman"/>
                <a:cs typeface="Times New Roman"/>
              </a:rPr>
              <a:t>Invoice generated through SOAP</a:t>
            </a:r>
          </a:p>
        </p:txBody>
      </p:sp>
      <p:sp>
        <p:nvSpPr>
          <p:cNvPr id="6" name="Rectangle 5">
            <a:extLst>
              <a:ext uri="{FF2B5EF4-FFF2-40B4-BE49-F238E27FC236}">
                <a16:creationId xmlns:a16="http://schemas.microsoft.com/office/drawing/2014/main" id="{F330F940-07C7-43EA-BEC7-D46A19C6B3E4}"/>
              </a:ext>
            </a:extLst>
          </p:cNvPr>
          <p:cNvSpPr>
            <a:spLocks noGrp="1"/>
          </p:cNvSpPr>
          <p:nvPr/>
        </p:nvSpPr>
        <p:spPr>
          <a:xfrm>
            <a:off x="638175" y="1524000"/>
            <a:ext cx="7867650" cy="619125"/>
          </a:xfrm>
          <a:prstGeom prst="rect">
            <a:avLst/>
          </a:prstGeom>
          <a:noFill/>
          <a:ln w="0">
            <a:noFill/>
          </a:ln>
        </p:spPr>
        <p:txBody>
          <a:bodyPr lIns="0" tIns="0" rIns="0" bIns="0"/>
          <a:lstStyle>
            <a:defPPr>
              <a:defRPr sz="1575" b="0">
                <a:solidFill>
                  <a:srgbClr val="002060"/>
                </a:solidFill>
                <a:latin typeface="Times New Roman"/>
                <a:ea typeface="Times New Roman"/>
                <a:cs typeface="Times New Roman"/>
              </a:defRPr>
            </a:defPPr>
          </a:lstStyle>
          <a:p>
            <a:pPr>
              <a:defRPr sz="1575" b="0">
                <a:solidFill>
                  <a:srgbClr val="002060"/>
                </a:solidFill>
                <a:latin typeface="Times New Roman"/>
                <a:ea typeface="Times New Roman"/>
                <a:cs typeface="Times New Roman"/>
              </a:defRPr>
            </a:pPr>
            <a:r>
              <a:rPr sz="1575" b="0">
                <a:solidFill>
                  <a:srgbClr val="002060"/>
                </a:solidFill>
                <a:latin typeface="Times New Roman"/>
                <a:ea typeface="Times New Roman"/>
                <a:cs typeface="Times New Roman"/>
              </a:rPr>
              <a:t>Customer: Demo Customer</a:t>
            </a:r>
          </a:p>
          <a:p>
            <a:pPr>
              <a:defRPr sz="1575" b="0">
                <a:solidFill>
                  <a:srgbClr val="002060"/>
                </a:solidFill>
                <a:latin typeface="Times New Roman"/>
                <a:ea typeface="Times New Roman"/>
                <a:cs typeface="Times New Roman"/>
              </a:defRPr>
            </a:pPr>
            <a:r>
              <a:rPr sz="1575" b="0">
                <a:solidFill>
                  <a:srgbClr val="002060"/>
                </a:solidFill>
                <a:latin typeface="Times New Roman"/>
                <a:ea typeface="Times New Roman"/>
                <a:cs typeface="Times New Roman"/>
              </a:rPr>
              <a:t>Currency: INR     Issued: 5 October 2026</a:t>
            </a:r>
          </a:p>
        </p:txBody>
      </p:sp>
      <p:graphicFrame>
        <p:nvGraphicFramePr>
          <p:cNvPr id="7" name="Table 6">
            <a:extLst>
              <a:ext uri="{FF2B5EF4-FFF2-40B4-BE49-F238E27FC236}">
                <a16:creationId xmlns:a16="http://schemas.microsoft.com/office/drawing/2014/main" id="{6341BD3A-1AD9-4361-8C83-8BC87C4699B0}"/>
              </a:ext>
            </a:extLst>
          </p:cNvPr>
          <p:cNvGraphicFramePr/>
          <p:nvPr/>
        </p:nvGraphicFramePr>
        <p:xfrm>
          <a:off x="638175" y="2343150"/>
          <a:ext cx="7867650" cy="1325880"/>
        </p:xfrm>
        <a:graphic>
          <a:graphicData uri="http://schemas.openxmlformats.org/drawingml/2006/table">
            <a:tbl>
              <a:tblPr/>
              <a:tblGrid>
                <a:gridCol w="3781425">
                  <a:extLst>
                    <a:ext uri="{9D8B030D-6E8A-4147-A177-3AD203B41FA5}">
                      <a16:colId xmlns:a16="http://schemas.microsoft.com/office/drawing/2014/main" val="20000"/>
                    </a:ext>
                  </a:extLst>
                </a:gridCol>
                <a:gridCol w="95250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gridCol w="1562100">
                  <a:extLst>
                    <a:ext uri="{9D8B030D-6E8A-4147-A177-3AD203B41FA5}">
                      <a16:colId xmlns:a16="http://schemas.microsoft.com/office/drawing/2014/main" val="20003"/>
                    </a:ext>
                  </a:extLst>
                </a:gridCol>
              </a:tblGrid>
              <a:tr h="400050">
                <a:tc>
                  <a:txBody>
                    <a:bodyPr/>
                    <a:lstStyle/>
                    <a:p>
                      <a:r>
                        <a:rPr sz="1425" b="1">
                          <a:solidFill>
                            <a:srgbClr val="FFFFFF"/>
                          </a:solidFill>
                          <a:latin typeface="Times New Roman"/>
                          <a:ea typeface="Times New Roman"/>
                          <a:cs typeface="Times New Roman"/>
                        </a:rPr>
                        <a:t>Item</a:t>
                      </a:r>
                    </a:p>
                  </a:txBody>
                  <a:tcPr>
                    <a:solidFill>
                      <a:srgbClr val="C55A11"/>
                    </a:solidFill>
                  </a:tcPr>
                </a:tc>
                <a:tc>
                  <a:txBody>
                    <a:bodyPr/>
                    <a:lstStyle/>
                    <a:p>
                      <a:r>
                        <a:rPr sz="1425" b="1">
                          <a:solidFill>
                            <a:srgbClr val="FFFFFF"/>
                          </a:solidFill>
                          <a:latin typeface="Times New Roman"/>
                          <a:ea typeface="Times New Roman"/>
                          <a:cs typeface="Times New Roman"/>
                        </a:rPr>
                        <a:t>Quantity</a:t>
                      </a:r>
                    </a:p>
                  </a:txBody>
                  <a:tcPr>
                    <a:solidFill>
                      <a:srgbClr val="C55A11"/>
                    </a:solidFill>
                  </a:tcPr>
                </a:tc>
                <a:tc>
                  <a:txBody>
                    <a:bodyPr/>
                    <a:lstStyle/>
                    <a:p>
                      <a:r>
                        <a:rPr sz="1425" b="1">
                          <a:solidFill>
                            <a:srgbClr val="FFFFFF"/>
                          </a:solidFill>
                          <a:latin typeface="Times New Roman"/>
                          <a:ea typeface="Times New Roman"/>
                          <a:cs typeface="Times New Roman"/>
                        </a:rPr>
                        <a:t>Unit price</a:t>
                      </a:r>
                    </a:p>
                  </a:txBody>
                  <a:tcPr>
                    <a:solidFill>
                      <a:srgbClr val="C55A11"/>
                    </a:solidFill>
                  </a:tcPr>
                </a:tc>
                <a:tc>
                  <a:txBody>
                    <a:bodyPr/>
                    <a:lstStyle/>
                    <a:p>
                      <a:r>
                        <a:rPr sz="1425" b="1">
                          <a:solidFill>
                            <a:srgbClr val="FFFFFF"/>
                          </a:solidFill>
                          <a:latin typeface="Times New Roman"/>
                          <a:ea typeface="Times New Roman"/>
                          <a:cs typeface="Times New Roman"/>
                        </a:rPr>
                        <a:t>Amount</a:t>
                      </a:r>
                    </a:p>
                  </a:txBody>
                  <a:tcPr>
                    <a:solidFill>
                      <a:srgbClr val="C55A11"/>
                    </a:solidFill>
                  </a:tcPr>
                </a:tc>
                <a:extLst>
                  <a:ext uri="{0D108BD9-81ED-4DB2-BD59-A6C34878D82A}">
                    <a16:rowId xmlns:a16="http://schemas.microsoft.com/office/drawing/2014/main" val="10000"/>
                  </a:ext>
                </a:extLst>
              </a:tr>
              <a:tr h="400050">
                <a:tc>
                  <a:txBody>
                    <a:bodyPr/>
                    <a:lstStyle/>
                    <a:p>
                      <a:r>
                        <a:rPr sz="1425" b="0">
                          <a:solidFill>
                            <a:srgbClr val="002060"/>
                          </a:solidFill>
                          <a:latin typeface="Times New Roman"/>
                          <a:ea typeface="Times New Roman"/>
                          <a:cs typeface="Times New Roman"/>
                        </a:rPr>
                        <a:t>Academic Demo Keyboard</a:t>
                      </a:r>
                    </a:p>
                    <a:p>
                      <a:r>
                        <a:rPr sz="1425" b="0">
                          <a:solidFill>
                            <a:srgbClr val="002060"/>
                          </a:solidFill>
                          <a:latin typeface="Times New Roman"/>
                          <a:ea typeface="Times New Roman"/>
                          <a:cs typeface="Times New Roman"/>
                        </a:rPr>
                        <a:t>Admin Reviewed</a:t>
                      </a:r>
                    </a:p>
                  </a:txBody>
                  <a:tcPr>
                    <a:solidFill>
                      <a:srgbClr val="FFF6EF"/>
                    </a:solidFill>
                  </a:tcPr>
                </a:tc>
                <a:tc>
                  <a:txBody>
                    <a:bodyPr/>
                    <a:lstStyle/>
                    <a:p>
                      <a:r>
                        <a:rPr sz="1425" b="0">
                          <a:solidFill>
                            <a:srgbClr val="002060"/>
                          </a:solidFill>
                          <a:latin typeface="Times New Roman"/>
                          <a:ea typeface="Times New Roman"/>
                          <a:cs typeface="Times New Roman"/>
                        </a:rPr>
                        <a:t>2</a:t>
                      </a:r>
                    </a:p>
                  </a:txBody>
                  <a:tcPr>
                    <a:solidFill>
                      <a:srgbClr val="FFF6EF"/>
                    </a:solidFill>
                  </a:tcPr>
                </a:tc>
                <a:tc>
                  <a:txBody>
                    <a:bodyPr/>
                    <a:lstStyle/>
                    <a:p>
                      <a:r>
                        <a:rPr sz="1425" b="0">
                          <a:solidFill>
                            <a:srgbClr val="002060"/>
                          </a:solidFill>
                          <a:latin typeface="Times New Roman"/>
                          <a:ea typeface="Times New Roman"/>
                          <a:cs typeface="Times New Roman"/>
                        </a:rPr>
                        <a:t>INR 499.50</a:t>
                      </a:r>
                    </a:p>
                  </a:txBody>
                  <a:tcPr>
                    <a:solidFill>
                      <a:srgbClr val="FFF6EF"/>
                    </a:solidFill>
                  </a:tcPr>
                </a:tc>
                <a:tc>
                  <a:txBody>
                    <a:bodyPr/>
                    <a:lstStyle/>
                    <a:p>
                      <a:r>
                        <a:rPr sz="1425" b="0">
                          <a:solidFill>
                            <a:srgbClr val="002060"/>
                          </a:solidFill>
                          <a:latin typeface="Times New Roman"/>
                          <a:ea typeface="Times New Roman"/>
                          <a:cs typeface="Times New Roman"/>
                        </a:rPr>
                        <a:t>INR 999.00</a:t>
                      </a:r>
                    </a:p>
                  </a:txBody>
                  <a:tcPr>
                    <a:solidFill>
                      <a:srgbClr val="FFF6EF"/>
                    </a:solidFill>
                  </a:tcPr>
                </a:tc>
                <a:extLst>
                  <a:ext uri="{0D108BD9-81ED-4DB2-BD59-A6C34878D82A}">
                    <a16:rowId xmlns:a16="http://schemas.microsoft.com/office/drawing/2014/main" val="10001"/>
                  </a:ext>
                </a:extLst>
              </a:tr>
              <a:tr h="400050">
                <a:tc>
                  <a:txBody>
                    <a:bodyPr/>
                    <a:lstStyle/>
                    <a:p>
                      <a:r>
                        <a:rPr sz="1425" b="0">
                          <a:solidFill>
                            <a:srgbClr val="002060"/>
                          </a:solidFill>
                          <a:latin typeface="Times New Roman"/>
                          <a:ea typeface="Times New Roman"/>
                          <a:cs typeface="Times New Roman"/>
                        </a:rPr>
                        <a:t>Total</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r>
                        <a:rPr sz="1425" b="0">
                          <a:solidFill>
                            <a:srgbClr val="002060"/>
                          </a:solidFill>
                          <a:latin typeface="Times New Roman"/>
                          <a:ea typeface="Times New Roman"/>
                          <a:cs typeface="Times New Roman"/>
                        </a:rPr>
                        <a:t>INR 999.00</a:t>
                      </a:r>
                    </a:p>
                  </a:txBody>
                  <a:tcPr>
                    <a:solidFill>
                      <a:srgbClr val="FFFFFF"/>
                    </a:solidFill>
                  </a:tcPr>
                </a:tc>
                <a:extLst>
                  <a:ext uri="{0D108BD9-81ED-4DB2-BD59-A6C34878D82A}">
                    <a16:rowId xmlns:a16="http://schemas.microsoft.com/office/drawing/2014/main" val="10002"/>
                  </a:ext>
                </a:extLst>
              </a:tr>
            </a:tbl>
          </a:graphicData>
        </a:graphic>
      </p:graphicFrame>
      <p:sp>
        <p:nvSpPr>
          <p:cNvPr id="8" name="Rectangle 7">
            <a:extLst>
              <a:ext uri="{FF2B5EF4-FFF2-40B4-BE49-F238E27FC236}">
                <a16:creationId xmlns:a16="http://schemas.microsoft.com/office/drawing/2014/main" id="{118F33E6-1F73-4CAA-B5C8-F122A3B06CAE}"/>
              </a:ext>
            </a:extLst>
          </p:cNvPr>
          <p:cNvSpPr>
            <a:spLocks noGrp="1"/>
          </p:cNvSpPr>
          <p:nvPr/>
        </p:nvSpPr>
        <p:spPr>
          <a:xfrm>
            <a:off x="638175" y="3886200"/>
            <a:ext cx="7867650" cy="533400"/>
          </a:xfrm>
          <a:prstGeom prst="rect">
            <a:avLst/>
          </a:prstGeom>
          <a:noFill/>
          <a:ln w="0">
            <a:noFill/>
          </a:ln>
        </p:spPr>
        <p:txBody>
          <a:bodyPr lIns="0" tIns="0" rIns="0" bIns="0"/>
          <a:lstStyle>
            <a:defPPr>
              <a:defRPr sz="1575" b="0">
                <a:solidFill>
                  <a:srgbClr val="002060"/>
                </a:solidFill>
                <a:latin typeface="Times New Roman"/>
                <a:ea typeface="Times New Roman"/>
                <a:cs typeface="Times New Roman"/>
              </a:defRPr>
            </a:defPPr>
          </a:lstStyle>
          <a:p>
            <a:pPr>
              <a:defRPr sz="1575" b="0">
                <a:solidFill>
                  <a:srgbClr val="002060"/>
                </a:solidFill>
                <a:latin typeface="Times New Roman"/>
                <a:ea typeface="Times New Roman"/>
                <a:cs typeface="Times New Roman"/>
              </a:defRPr>
            </a:pPr>
            <a:r>
              <a:rPr sz="1575" b="0">
                <a:solidFill>
                  <a:srgbClr val="002060"/>
                </a:solidFill>
                <a:latin typeface="Times New Roman"/>
                <a:ea typeface="Times New Roman"/>
                <a:cs typeface="Times New Roman"/>
              </a:rPr>
              <a:t>The recorded invoice matches the order total. Repeated generation returned the same invoice.</a:t>
            </a:r>
          </a:p>
        </p:txBody>
      </p:sp>
      <p:sp>
        <p:nvSpPr>
          <p:cNvPr id="9" name="Rectangle 8">
            <a:extLst>
              <a:ext uri="{FF2B5EF4-FFF2-40B4-BE49-F238E27FC236}">
                <a16:creationId xmlns:a16="http://schemas.microsoft.com/office/drawing/2014/main" id="{1923B9D8-24F8-4C5E-9B1B-290CDD7D00E0}"/>
              </a:ext>
            </a:extLst>
          </p:cNvPr>
          <p:cNvSpPr>
            <a:spLocks noGrp="1"/>
          </p:cNvSpPr>
          <p:nvPr/>
        </p:nvSpPr>
        <p:spPr>
          <a:xfrm>
            <a:off x="638175" y="4638675"/>
            <a:ext cx="7867650" cy="266700"/>
          </a:xfrm>
          <a:prstGeom prst="rect">
            <a:avLst/>
          </a:prstGeom>
          <a:noFill/>
          <a:ln w="0">
            <a:noFill/>
          </a:ln>
        </p:spPr>
        <p:txBody>
          <a:bodyPr lIns="0" tIns="0" rIns="0" bIns="0"/>
          <a:lstStyle>
            <a:defPPr>
              <a:defRPr sz="1425" b="0">
                <a:solidFill>
                  <a:srgbClr val="555555"/>
                </a:solidFill>
                <a:latin typeface="Times New Roman"/>
                <a:ea typeface="Times New Roman"/>
                <a:cs typeface="Times New Roman"/>
              </a:defRPr>
            </a:defPPr>
          </a:lstStyle>
          <a:p>
            <a:pPr>
              <a:defRPr sz="1425" b="0">
                <a:solidFill>
                  <a:srgbClr val="555555"/>
                </a:solidFill>
                <a:latin typeface="Times New Roman"/>
                <a:ea typeface="Times New Roman"/>
                <a:cs typeface="Times New Roman"/>
              </a:defRPr>
            </a:pPr>
            <a:r>
              <a:rPr sz="1425" b="0">
                <a:solidFill>
                  <a:srgbClr val="555555"/>
                </a:solidFill>
                <a:latin typeface="Times New Roman"/>
                <a:ea typeface="Times New Roman"/>
                <a:cs typeface="Times New Roman"/>
              </a:rPr>
              <a:t>SOAP endpoint: http://localhost:8084/ws</a:t>
            </a:r>
          </a:p>
        </p:txBody>
      </p:sp>
    </p:spTree>
    <p:extLst>
      <p:ext uri="{BB962C8B-B14F-4D97-AF65-F5344CB8AC3E}">
        <p14:creationId xmlns:p14="http://schemas.microsoft.com/office/powerpoint/2010/main" val="995435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F730D106-58DE-40D4-A385-5D6B003D5B97}"/>
              </a:ext>
            </a:extLst>
          </p:cNvPr>
          <p:cNvPicPr>
            <a:picLocks noChangeAspect="1"/>
          </p:cNvPicPr>
          <p:nvPr/>
        </p:nvPicPr>
        <p:blipFill>
          <a:blip r:embed="rId3"/>
          <a:stretch>
            <a:fillRect/>
          </a:stretch>
        </p:blipFill>
        <p:spPr>
          <a:xfrm>
            <a:off x="274320" y="182880"/>
            <a:ext cx="1097280" cy="402336"/>
          </a:xfrm>
          <a:prstGeom prst="rect">
            <a:avLst/>
          </a:prstGeom>
        </p:spPr>
      </p:pic>
      <p:sp>
        <p:nvSpPr>
          <p:cNvPr id="3" name="Shape 0">
            <a:extLst>
              <a:ext uri="{FF2B5EF4-FFF2-40B4-BE49-F238E27FC236}">
                <a16:creationId xmlns:a16="http://schemas.microsoft.com/office/drawing/2014/main" id="{25ACEA19-C1AA-4319-9FC4-8EF7D28C8DB1}"/>
              </a:ext>
            </a:extLst>
          </p:cNvPr>
          <p:cNvSpPr>
            <a:spLocks noGrp="1"/>
          </p:cNvSpPr>
          <p:nvPr/>
        </p:nvSpPr>
        <p:spPr>
          <a:xfrm>
            <a:off x="1645920" y="164592"/>
            <a:ext cx="6858000" cy="475488"/>
          </a:xfrm>
          <a:prstGeom prst="roundRect">
            <a:avLst>
              <a:gd name="adj" fmla="val 23077"/>
            </a:avLst>
          </a:prstGeom>
          <a:solidFill>
            <a:srgbClr val="FF6600"/>
          </a:solidFill>
          <a:ln w="12700">
            <a:solidFill>
              <a:srgbClr val="FF6600"/>
            </a:solidFill>
            <a:prstDash val="solid"/>
          </a:ln>
          <a:effectLst>
            <a:outerShdw blurRad="76200" dist="38100" dir="5400000" algn="bl" rotWithShape="0">
              <a:srgbClr val="000000">
                <a:alpha val="35000"/>
              </a:srgbClr>
            </a:outerShdw>
          </a:effectLst>
        </p:spPr>
      </p:sp>
      <p:sp>
        <p:nvSpPr>
          <p:cNvPr id="4" name="Text 1">
            <a:extLst>
              <a:ext uri="{FF2B5EF4-FFF2-40B4-BE49-F238E27FC236}">
                <a16:creationId xmlns:a16="http://schemas.microsoft.com/office/drawing/2014/main" id="{6283949F-EC1F-44AB-9B6F-7A834FA2BC59}"/>
              </a:ext>
            </a:extLst>
          </p:cNvPr>
          <p:cNvSpPr>
            <a:spLocks noGrp="1"/>
          </p:cNvSpPr>
          <p:nvPr/>
        </p:nvSpPr>
        <p:spPr>
          <a:xfrm>
            <a:off x="1645920" y="164592"/>
            <a:ext cx="6858000" cy="475488"/>
          </a:xfrm>
          <a:prstGeom prst="rect">
            <a:avLst/>
          </a:prstGeom>
          <a:noFill/>
        </p:spPr>
        <p:txBody>
          <a:bodyPr wrap="square" lIns="0" tIns="0" rIns="0" bIns="0" anchor="ctr"/>
          <a:lstStyle/>
          <a:p>
            <a:pPr marL="0" indent="0" algn="ctr">
              <a:buNone/>
            </a:pPr>
            <a:r>
              <a:rPr sz="1800" b="1">
                <a:solidFill>
                  <a:srgbClr val="FFFFFF"/>
                </a:solidFill>
                <a:latin typeface="Times New Roman"/>
                <a:ea typeface="Times New Roman"/>
                <a:cs typeface="Times New Roman"/>
              </a:rPr>
              <a:t>Module 5: Gateway &amp; AOP Logging</a:t>
            </a:r>
            <a:endParaRPr sz="1800"/>
          </a:p>
        </p:txBody>
      </p:sp>
      <p:sp>
        <p:nvSpPr>
          <p:cNvPr id="5" name="Text 2">
            <a:extLst>
              <a:ext uri="{FF2B5EF4-FFF2-40B4-BE49-F238E27FC236}">
                <a16:creationId xmlns:a16="http://schemas.microsoft.com/office/drawing/2014/main" id="{A5D290DB-3B5E-4A4C-A237-32AADB4FC0AF}"/>
              </a:ext>
            </a:extLst>
          </p:cNvPr>
          <p:cNvSpPr>
            <a:spLocks noGrp="1"/>
          </p:cNvSpPr>
          <p:nvPr/>
        </p:nvSpPr>
        <p:spPr>
          <a:xfrm>
            <a:off x="548640" y="1005840"/>
            <a:ext cx="3749040" cy="320040"/>
          </a:xfrm>
          <a:prstGeom prst="rect">
            <a:avLst/>
          </a:prstGeom>
          <a:noFill/>
        </p:spPr>
        <p:txBody>
          <a:bodyPr wrap="square" lIns="0" tIns="0" rIns="0" bIns="0" anchor="ctr"/>
          <a:lstStyle/>
          <a:p>
            <a:pPr marL="0" indent="0">
              <a:buNone/>
            </a:pPr>
            <a:r>
              <a:rPr sz="1600" b="1">
                <a:solidFill>
                  <a:srgbClr val="C55A11"/>
                </a:solidFill>
                <a:latin typeface="Times New Roman"/>
                <a:ea typeface="Times New Roman"/>
                <a:cs typeface="Times New Roman"/>
              </a:rPr>
              <a:t>Key functionalities</a:t>
            </a:r>
            <a:endParaRPr sz="1600"/>
          </a:p>
        </p:txBody>
      </p:sp>
      <p:sp>
        <p:nvSpPr>
          <p:cNvPr id="6" name="Text 3">
            <a:extLst>
              <a:ext uri="{FF2B5EF4-FFF2-40B4-BE49-F238E27FC236}">
                <a16:creationId xmlns:a16="http://schemas.microsoft.com/office/drawing/2014/main" id="{D074C836-0546-4D5F-A9B9-1FE44D685CE6}"/>
              </a:ext>
            </a:extLst>
          </p:cNvPr>
          <p:cNvSpPr>
            <a:spLocks noGrp="1"/>
          </p:cNvSpPr>
          <p:nvPr/>
        </p:nvSpPr>
        <p:spPr>
          <a:xfrm>
            <a:off x="548640" y="1417320"/>
            <a:ext cx="3749040" cy="3200400"/>
          </a:xfrm>
          <a:prstGeom prst="rect">
            <a:avLst/>
          </a:prstGeom>
          <a:noFill/>
        </p:spPr>
        <p:txBody>
          <a:bodyPr wrap="square" lIns="0" tIns="0" rIns="0" bIns="0" anchor="t"/>
          <a:lstStyle/>
          <a:p>
            <a:pPr marL="342900" indent="-342900">
              <a:spcAft>
                <a:spcPts val="800"/>
              </a:spcAft>
              <a:buSzPct val="100000"/>
              <a:buChar char="•"/>
            </a:pPr>
            <a:r>
              <a:rPr sz="1400">
                <a:solidFill>
                  <a:srgbClr val="002060"/>
                </a:solidFill>
                <a:latin typeface="Times New Roman"/>
                <a:ea typeface="Times New Roman"/>
                <a:cs typeface="Times New Roman"/>
              </a:rPr>
              <a:t>One frontend API address on port 8080</a:t>
            </a:r>
            <a:endParaRPr sz="1400"/>
          </a:p>
          <a:p>
            <a:pPr marL="342900" indent="-342900">
              <a:spcAft>
                <a:spcPts val="800"/>
              </a:spcAft>
              <a:buSzPct val="100000"/>
              <a:buChar char="•"/>
            </a:pPr>
            <a:r>
              <a:rPr sz="1400">
                <a:solidFill>
                  <a:srgbClr val="002060"/>
                </a:solidFill>
                <a:latin typeface="Times New Roman"/>
                <a:ea typeface="Times New Roman"/>
                <a:cs typeface="Times New Roman"/>
              </a:rPr>
              <a:t>REST calls for inventory coordination</a:t>
            </a:r>
            <a:endParaRPr sz="1400"/>
          </a:p>
          <a:p>
            <a:pPr marL="342900" indent="-342900">
              <a:spcAft>
                <a:spcPts val="800"/>
              </a:spcAft>
              <a:buSzPct val="100000"/>
              <a:buChar char="•"/>
            </a:pPr>
            <a:r>
              <a:rPr sz="1400">
                <a:solidFill>
                  <a:srgbClr val="002060"/>
                </a:solidFill>
                <a:latin typeface="Times New Roman"/>
                <a:ea typeface="Times New Roman"/>
                <a:cs typeface="Times New Roman"/>
              </a:rPr>
              <a:t>AOP logs operation, duration and outcome</a:t>
            </a:r>
            <a:endParaRPr sz="1400"/>
          </a:p>
          <a:p>
            <a:pPr marL="342900" indent="-342900">
              <a:spcAft>
                <a:spcPts val="800"/>
              </a:spcAft>
              <a:buSzPct val="100000"/>
              <a:buChar char="•"/>
            </a:pPr>
            <a:r>
              <a:rPr sz="1400">
                <a:solidFill>
                  <a:srgbClr val="002060"/>
                </a:solidFill>
                <a:latin typeface="Times New Roman"/>
                <a:ea typeface="Times New Roman"/>
                <a:cs typeface="Times New Roman"/>
              </a:rPr>
              <a:t>Trace IDs connect related service logs</a:t>
            </a:r>
            <a:endParaRPr sz="1400"/>
          </a:p>
        </p:txBody>
      </p:sp>
      <p:sp>
        <p:nvSpPr>
          <p:cNvPr id="7" name="Shape 4">
            <a:extLst>
              <a:ext uri="{FF2B5EF4-FFF2-40B4-BE49-F238E27FC236}">
                <a16:creationId xmlns:a16="http://schemas.microsoft.com/office/drawing/2014/main" id="{F642B510-C3CA-4232-9D59-762A117DCC4B}"/>
              </a:ext>
            </a:extLst>
          </p:cNvPr>
          <p:cNvSpPr>
            <a:spLocks noGrp="1"/>
          </p:cNvSpPr>
          <p:nvPr/>
        </p:nvSpPr>
        <p:spPr>
          <a:xfrm>
            <a:off x="4663440" y="1005840"/>
            <a:ext cx="4023360" cy="3611880"/>
          </a:xfrm>
          <a:prstGeom prst="rect">
            <a:avLst/>
          </a:prstGeom>
          <a:solidFill>
            <a:srgbClr val="FFF6EF"/>
          </a:solidFill>
          <a:ln w="12700">
            <a:solidFill>
              <a:srgbClr val="F2D3BE"/>
            </a:solidFill>
            <a:prstDash val="solid"/>
          </a:ln>
        </p:spPr>
      </p:sp>
      <p:sp>
        <p:nvSpPr>
          <p:cNvPr id="8" name="Shape 5">
            <a:extLst>
              <a:ext uri="{FF2B5EF4-FFF2-40B4-BE49-F238E27FC236}">
                <a16:creationId xmlns:a16="http://schemas.microsoft.com/office/drawing/2014/main" id="{93C7EF05-2384-453D-B7BC-450F413CE870}"/>
              </a:ext>
            </a:extLst>
          </p:cNvPr>
          <p:cNvSpPr>
            <a:spLocks noGrp="1"/>
          </p:cNvSpPr>
          <p:nvPr/>
        </p:nvSpPr>
        <p:spPr>
          <a:xfrm>
            <a:off x="4663440" y="1005840"/>
            <a:ext cx="4023360" cy="73152"/>
          </a:xfrm>
          <a:prstGeom prst="rect">
            <a:avLst/>
          </a:prstGeom>
          <a:solidFill>
            <a:srgbClr val="C55A11"/>
          </a:solidFill>
          <a:ln w="12700">
            <a:solidFill>
              <a:srgbClr val="C55A11"/>
            </a:solidFill>
            <a:prstDash val="solid"/>
          </a:ln>
        </p:spPr>
      </p:sp>
      <p:sp>
        <p:nvSpPr>
          <p:cNvPr id="9" name="Text 6">
            <a:extLst>
              <a:ext uri="{FF2B5EF4-FFF2-40B4-BE49-F238E27FC236}">
                <a16:creationId xmlns:a16="http://schemas.microsoft.com/office/drawing/2014/main" id="{FF468C0D-1E77-4156-8590-7D70ADD7716E}"/>
              </a:ext>
            </a:extLst>
          </p:cNvPr>
          <p:cNvSpPr>
            <a:spLocks noGrp="1"/>
          </p:cNvSpPr>
          <p:nvPr/>
        </p:nvSpPr>
        <p:spPr>
          <a:xfrm>
            <a:off x="4846320" y="1188720"/>
            <a:ext cx="3657600" cy="320040"/>
          </a:xfrm>
          <a:prstGeom prst="rect">
            <a:avLst/>
          </a:prstGeom>
          <a:noFill/>
        </p:spPr>
        <p:txBody>
          <a:bodyPr wrap="square" lIns="0" tIns="0" rIns="0" bIns="0" anchor="ctr"/>
          <a:lstStyle/>
          <a:p>
            <a:pPr marL="0" indent="0">
              <a:buNone/>
            </a:pPr>
            <a:r>
              <a:rPr sz="1600" b="1">
                <a:solidFill>
                  <a:srgbClr val="002060"/>
                </a:solidFill>
                <a:latin typeface="Times New Roman"/>
                <a:ea typeface="Times New Roman"/>
                <a:cs typeface="Times New Roman"/>
              </a:rPr>
              <a:t>How it works</a:t>
            </a:r>
            <a:endParaRPr sz="1600"/>
          </a:p>
        </p:txBody>
      </p:sp>
      <p:sp>
        <p:nvSpPr>
          <p:cNvPr id="10" name="Text 7">
            <a:extLst>
              <a:ext uri="{FF2B5EF4-FFF2-40B4-BE49-F238E27FC236}">
                <a16:creationId xmlns:a16="http://schemas.microsoft.com/office/drawing/2014/main" id="{0AF12DBF-89ED-4AD6-8C03-FD65F403C158}"/>
              </a:ext>
            </a:extLst>
          </p:cNvPr>
          <p:cNvSpPr>
            <a:spLocks noGrp="1"/>
          </p:cNvSpPr>
          <p:nvPr/>
        </p:nvSpPr>
        <p:spPr>
          <a:xfrm>
            <a:off x="4846320" y="1600200"/>
            <a:ext cx="3657600" cy="2926080"/>
          </a:xfrm>
          <a:prstGeom prst="rect">
            <a:avLst/>
          </a:prstGeom>
          <a:noFill/>
        </p:spPr>
        <p:txBody>
          <a:bodyPr wrap="square" lIns="0" tIns="0" rIns="0" bIns="0" anchor="t"/>
          <a:lstStyle/>
          <a:p>
            <a:pPr marL="0" indent="0">
              <a:buNone/>
            </a:pPr>
            <a:r>
              <a:rPr sz="1300">
                <a:solidFill>
                  <a:srgbClr val="333333"/>
                </a:solidFill>
                <a:latin typeface="Times New Roman"/>
                <a:ea typeface="Times New Roman"/>
                <a:cs typeface="Times New Roman"/>
              </a:rPr>
              <a:t>The gateway routes requests by URL path. Order Service calls Product Service using REST and Invoice Service using SOAP. A shared @Aspect uses @Around advice to time public service methods and record success or failure, without repeating logging code.</a:t>
            </a:r>
            <a:endParaRPr sz="1300"/>
          </a:p>
        </p:txBody>
      </p:sp>
    </p:spTree>
    <p:extLst>
      <p:ext uri="{BB962C8B-B14F-4D97-AF65-F5344CB8AC3E}">
        <p14:creationId xmlns:p14="http://schemas.microsoft.com/office/powerpoint/2010/main" val="2037659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9B426EBD-5DC0-41EA-96E6-DAD60876047D}"/>
              </a:ext>
            </a:extLst>
          </p:cNvPr>
          <p:cNvPicPr>
            <a:picLocks noChangeAspect="1"/>
          </p:cNvPicPr>
          <p:nvPr/>
        </p:nvPicPr>
        <p:blipFill>
          <a:blip r:embed="rId3"/>
          <a:stretch>
            <a:fillRect/>
          </a:stretch>
        </p:blipFill>
        <p:spPr>
          <a:xfrm>
            <a:off x="274320" y="182880"/>
            <a:ext cx="1097280" cy="402336"/>
          </a:xfrm>
          <a:prstGeom prst="rect">
            <a:avLst/>
          </a:prstGeom>
        </p:spPr>
      </p:pic>
      <p:sp>
        <p:nvSpPr>
          <p:cNvPr id="3" name="Shape 0">
            <a:extLst>
              <a:ext uri="{FF2B5EF4-FFF2-40B4-BE49-F238E27FC236}">
                <a16:creationId xmlns:a16="http://schemas.microsoft.com/office/drawing/2014/main" id="{4BD49182-B538-453E-B115-0EA1FA931817}"/>
              </a:ext>
            </a:extLst>
          </p:cNvPr>
          <p:cNvSpPr>
            <a:spLocks noGrp="1"/>
          </p:cNvSpPr>
          <p:nvPr/>
        </p:nvSpPr>
        <p:spPr>
          <a:xfrm>
            <a:off x="1645920" y="164592"/>
            <a:ext cx="6858000" cy="475488"/>
          </a:xfrm>
          <a:prstGeom prst="roundRect">
            <a:avLst>
              <a:gd name="adj" fmla="val 23077"/>
            </a:avLst>
          </a:prstGeom>
          <a:solidFill>
            <a:srgbClr val="FF6600"/>
          </a:solidFill>
          <a:ln w="12700">
            <a:solidFill>
              <a:srgbClr val="FF6600"/>
            </a:solidFill>
            <a:prstDash val="solid"/>
          </a:ln>
          <a:effectLst>
            <a:outerShdw blurRad="76200" dist="38100" dir="5400000" algn="bl" rotWithShape="0">
              <a:srgbClr val="000000">
                <a:alpha val="35000"/>
              </a:srgbClr>
            </a:outerShdw>
          </a:effectLst>
        </p:spPr>
      </p:sp>
      <p:sp>
        <p:nvSpPr>
          <p:cNvPr id="4" name="Text 1">
            <a:extLst>
              <a:ext uri="{FF2B5EF4-FFF2-40B4-BE49-F238E27FC236}">
                <a16:creationId xmlns:a16="http://schemas.microsoft.com/office/drawing/2014/main" id="{78C46C95-CFE7-45E5-A09C-90AC7DCEA5B9}"/>
              </a:ext>
            </a:extLst>
          </p:cNvPr>
          <p:cNvSpPr>
            <a:spLocks noGrp="1"/>
          </p:cNvSpPr>
          <p:nvPr/>
        </p:nvSpPr>
        <p:spPr>
          <a:xfrm>
            <a:off x="1645920" y="164592"/>
            <a:ext cx="6858000" cy="475488"/>
          </a:xfrm>
          <a:prstGeom prst="rect">
            <a:avLst/>
          </a:prstGeom>
          <a:noFill/>
        </p:spPr>
        <p:txBody>
          <a:bodyPr wrap="square" lIns="0" tIns="0" rIns="0" bIns="0" anchor="ctr"/>
          <a:lstStyle/>
          <a:p>
            <a:pPr marL="0" indent="0" algn="ctr">
              <a:buNone/>
            </a:pPr>
            <a:r>
              <a:rPr sz="1800" b="1">
                <a:solidFill>
                  <a:srgbClr val="FFFFFF"/>
                </a:solidFill>
                <a:latin typeface="Times New Roman"/>
                <a:ea typeface="Times New Roman"/>
                <a:cs typeface="Times New Roman"/>
              </a:rPr>
              <a:t>Module 5: Service Communication</a:t>
            </a:r>
            <a:endParaRPr sz="1800"/>
          </a:p>
        </p:txBody>
      </p:sp>
      <p:graphicFrame>
        <p:nvGraphicFramePr>
          <p:cNvPr id="5" name="Table 4">
            <a:extLst>
              <a:ext uri="{FF2B5EF4-FFF2-40B4-BE49-F238E27FC236}">
                <a16:creationId xmlns:a16="http://schemas.microsoft.com/office/drawing/2014/main" id="{3E270C07-49C9-49B7-8C5A-427B6B1641D4}"/>
              </a:ext>
            </a:extLst>
          </p:cNvPr>
          <p:cNvGraphicFramePr/>
          <p:nvPr/>
        </p:nvGraphicFramePr>
        <p:xfrm>
          <a:off x="638175" y="952500"/>
          <a:ext cx="7867650" cy="2419347"/>
        </p:xfrm>
        <a:graphic>
          <a:graphicData uri="http://schemas.openxmlformats.org/drawingml/2006/table">
            <a:tbl>
              <a:tblPr/>
              <a:tblGrid>
                <a:gridCol w="2324100">
                  <a:extLst>
                    <a:ext uri="{9D8B030D-6E8A-4147-A177-3AD203B41FA5}">
                      <a16:colId xmlns:a16="http://schemas.microsoft.com/office/drawing/2014/main" val="20000"/>
                    </a:ext>
                  </a:extLst>
                </a:gridCol>
                <a:gridCol w="857250">
                  <a:extLst>
                    <a:ext uri="{9D8B030D-6E8A-4147-A177-3AD203B41FA5}">
                      <a16:colId xmlns:a16="http://schemas.microsoft.com/office/drawing/2014/main" val="20001"/>
                    </a:ext>
                  </a:extLst>
                </a:gridCol>
                <a:gridCol w="4686300">
                  <a:extLst>
                    <a:ext uri="{9D8B030D-6E8A-4147-A177-3AD203B41FA5}">
                      <a16:colId xmlns:a16="http://schemas.microsoft.com/office/drawing/2014/main" val="20002"/>
                    </a:ext>
                  </a:extLst>
                </a:gridCol>
              </a:tblGrid>
              <a:tr h="345621">
                <a:tc>
                  <a:txBody>
                    <a:bodyPr/>
                    <a:lstStyle/>
                    <a:p>
                      <a:r>
                        <a:rPr sz="1425" b="1">
                          <a:solidFill>
                            <a:srgbClr val="FFFFFF"/>
                          </a:solidFill>
                          <a:latin typeface="Times New Roman"/>
                          <a:ea typeface="Times New Roman"/>
                          <a:cs typeface="Times New Roman"/>
                        </a:rPr>
                        <a:t>Component</a:t>
                      </a:r>
                    </a:p>
                  </a:txBody>
                  <a:tcPr>
                    <a:solidFill>
                      <a:srgbClr val="C55A11"/>
                    </a:solidFill>
                  </a:tcPr>
                </a:tc>
                <a:tc>
                  <a:txBody>
                    <a:bodyPr/>
                    <a:lstStyle/>
                    <a:p>
                      <a:r>
                        <a:rPr sz="1425" b="1">
                          <a:solidFill>
                            <a:srgbClr val="FFFFFF"/>
                          </a:solidFill>
                          <a:latin typeface="Times New Roman"/>
                          <a:ea typeface="Times New Roman"/>
                          <a:cs typeface="Times New Roman"/>
                        </a:rPr>
                        <a:t>Port</a:t>
                      </a:r>
                    </a:p>
                  </a:txBody>
                  <a:tcPr>
                    <a:solidFill>
                      <a:srgbClr val="C55A11"/>
                    </a:solidFill>
                  </a:tcPr>
                </a:tc>
                <a:tc>
                  <a:txBody>
                    <a:bodyPr/>
                    <a:lstStyle/>
                    <a:p>
                      <a:r>
                        <a:rPr sz="1425" b="1">
                          <a:solidFill>
                            <a:srgbClr val="FFFFFF"/>
                          </a:solidFill>
                          <a:latin typeface="Times New Roman"/>
                          <a:ea typeface="Times New Roman"/>
                          <a:cs typeface="Times New Roman"/>
                        </a:rPr>
                        <a:t>Responsibility</a:t>
                      </a:r>
                    </a:p>
                  </a:txBody>
                  <a:tcPr>
                    <a:solidFill>
                      <a:srgbClr val="C55A11"/>
                    </a:solidFill>
                  </a:tcPr>
                </a:tc>
                <a:extLst>
                  <a:ext uri="{0D108BD9-81ED-4DB2-BD59-A6C34878D82A}">
                    <a16:rowId xmlns:a16="http://schemas.microsoft.com/office/drawing/2014/main" val="10000"/>
                  </a:ext>
                </a:extLst>
              </a:tr>
              <a:tr h="345621">
                <a:tc>
                  <a:txBody>
                    <a:bodyPr/>
                    <a:lstStyle/>
                    <a:p>
                      <a:r>
                        <a:rPr sz="1425" b="0">
                          <a:solidFill>
                            <a:srgbClr val="002060"/>
                          </a:solidFill>
                          <a:latin typeface="Times New Roman"/>
                          <a:ea typeface="Times New Roman"/>
                          <a:cs typeface="Times New Roman"/>
                        </a:rPr>
                        <a:t>Angular frontend</a:t>
                      </a:r>
                    </a:p>
                  </a:txBody>
                  <a:tcPr>
                    <a:solidFill>
                      <a:srgbClr val="FFF6EF"/>
                    </a:solidFill>
                  </a:tcPr>
                </a:tc>
                <a:tc>
                  <a:txBody>
                    <a:bodyPr/>
                    <a:lstStyle/>
                    <a:p>
                      <a:r>
                        <a:rPr sz="1425" b="0">
                          <a:solidFill>
                            <a:srgbClr val="002060"/>
                          </a:solidFill>
                          <a:latin typeface="Times New Roman"/>
                          <a:ea typeface="Times New Roman"/>
                          <a:cs typeface="Times New Roman"/>
                        </a:rPr>
                        <a:t>4200</a:t>
                      </a:r>
                    </a:p>
                  </a:txBody>
                  <a:tcPr>
                    <a:solidFill>
                      <a:srgbClr val="FFF6EF"/>
                    </a:solidFill>
                  </a:tcPr>
                </a:tc>
                <a:tc>
                  <a:txBody>
                    <a:bodyPr/>
                    <a:lstStyle/>
                    <a:p>
                      <a:r>
                        <a:rPr sz="1425" b="0">
                          <a:solidFill>
                            <a:srgbClr val="002060"/>
                          </a:solidFill>
                          <a:latin typeface="Times New Roman"/>
                          <a:ea typeface="Times New Roman"/>
                          <a:cs typeface="Times New Roman"/>
                        </a:rPr>
                        <a:t>Shopping and management pages</a:t>
                      </a:r>
                    </a:p>
                  </a:txBody>
                  <a:tcPr>
                    <a:solidFill>
                      <a:srgbClr val="FFF6EF"/>
                    </a:solidFill>
                  </a:tcPr>
                </a:tc>
                <a:extLst>
                  <a:ext uri="{0D108BD9-81ED-4DB2-BD59-A6C34878D82A}">
                    <a16:rowId xmlns:a16="http://schemas.microsoft.com/office/drawing/2014/main" val="10001"/>
                  </a:ext>
                </a:extLst>
              </a:tr>
              <a:tr h="345621">
                <a:tc>
                  <a:txBody>
                    <a:bodyPr/>
                    <a:lstStyle/>
                    <a:p>
                      <a:r>
                        <a:rPr sz="1425" b="0">
                          <a:solidFill>
                            <a:srgbClr val="002060"/>
                          </a:solidFill>
                          <a:latin typeface="Times New Roman"/>
                          <a:ea typeface="Times New Roman"/>
                          <a:cs typeface="Times New Roman"/>
                        </a:rPr>
                        <a:t>API Gateway</a:t>
                      </a:r>
                    </a:p>
                  </a:txBody>
                  <a:tcPr>
                    <a:solidFill>
                      <a:srgbClr val="FFFFFF"/>
                    </a:solidFill>
                  </a:tcPr>
                </a:tc>
                <a:tc>
                  <a:txBody>
                    <a:bodyPr/>
                    <a:lstStyle/>
                    <a:p>
                      <a:r>
                        <a:rPr sz="1425" b="0">
                          <a:solidFill>
                            <a:srgbClr val="002060"/>
                          </a:solidFill>
                          <a:latin typeface="Times New Roman"/>
                          <a:ea typeface="Times New Roman"/>
                          <a:cs typeface="Times New Roman"/>
                        </a:rPr>
                        <a:t>8080</a:t>
                      </a:r>
                    </a:p>
                  </a:txBody>
                  <a:tcPr>
                    <a:solidFill>
                      <a:srgbClr val="FFFFFF"/>
                    </a:solidFill>
                  </a:tcPr>
                </a:tc>
                <a:tc>
                  <a:txBody>
                    <a:bodyPr/>
                    <a:lstStyle/>
                    <a:p>
                      <a:r>
                        <a:rPr sz="1425" b="0">
                          <a:solidFill>
                            <a:srgbClr val="002060"/>
                          </a:solidFill>
                          <a:latin typeface="Times New Roman"/>
                          <a:ea typeface="Times New Roman"/>
                          <a:cs typeface="Times New Roman"/>
                        </a:rPr>
                        <a:t>Routes frontend API requests</a:t>
                      </a:r>
                    </a:p>
                  </a:txBody>
                  <a:tcPr>
                    <a:solidFill>
                      <a:srgbClr val="FFFFFF"/>
                    </a:solidFill>
                  </a:tcPr>
                </a:tc>
                <a:extLst>
                  <a:ext uri="{0D108BD9-81ED-4DB2-BD59-A6C34878D82A}">
                    <a16:rowId xmlns:a16="http://schemas.microsoft.com/office/drawing/2014/main" val="10002"/>
                  </a:ext>
                </a:extLst>
              </a:tr>
              <a:tr h="345621">
                <a:tc>
                  <a:txBody>
                    <a:bodyPr/>
                    <a:lstStyle/>
                    <a:p>
                      <a:r>
                        <a:rPr sz="1425" b="0">
                          <a:solidFill>
                            <a:srgbClr val="002060"/>
                          </a:solidFill>
                          <a:latin typeface="Times New Roman"/>
                          <a:ea typeface="Times New Roman"/>
                          <a:cs typeface="Times New Roman"/>
                        </a:rPr>
                        <a:t>User Service</a:t>
                      </a:r>
                    </a:p>
                  </a:txBody>
                  <a:tcPr>
                    <a:solidFill>
                      <a:srgbClr val="FFF6EF"/>
                    </a:solidFill>
                  </a:tcPr>
                </a:tc>
                <a:tc>
                  <a:txBody>
                    <a:bodyPr/>
                    <a:lstStyle/>
                    <a:p>
                      <a:r>
                        <a:rPr sz="1425" b="0">
                          <a:solidFill>
                            <a:srgbClr val="002060"/>
                          </a:solidFill>
                          <a:latin typeface="Times New Roman"/>
                          <a:ea typeface="Times New Roman"/>
                          <a:cs typeface="Times New Roman"/>
                        </a:rPr>
                        <a:t>8081</a:t>
                      </a:r>
                    </a:p>
                  </a:txBody>
                  <a:tcPr>
                    <a:solidFill>
                      <a:srgbClr val="FFF6EF"/>
                    </a:solidFill>
                  </a:tcPr>
                </a:tc>
                <a:tc>
                  <a:txBody>
                    <a:bodyPr/>
                    <a:lstStyle/>
                    <a:p>
                      <a:r>
                        <a:rPr sz="1425" b="0">
                          <a:solidFill>
                            <a:srgbClr val="002060"/>
                          </a:solidFill>
                          <a:latin typeface="Times New Roman"/>
                          <a:ea typeface="Times New Roman"/>
                          <a:cs typeface="Times New Roman"/>
                        </a:rPr>
                        <a:t>Accounts, login and roles</a:t>
                      </a:r>
                    </a:p>
                  </a:txBody>
                  <a:tcPr>
                    <a:solidFill>
                      <a:srgbClr val="FFF6EF"/>
                    </a:solidFill>
                  </a:tcPr>
                </a:tc>
                <a:extLst>
                  <a:ext uri="{0D108BD9-81ED-4DB2-BD59-A6C34878D82A}">
                    <a16:rowId xmlns:a16="http://schemas.microsoft.com/office/drawing/2014/main" val="10003"/>
                  </a:ext>
                </a:extLst>
              </a:tr>
              <a:tr h="345621">
                <a:tc>
                  <a:txBody>
                    <a:bodyPr/>
                    <a:lstStyle/>
                    <a:p>
                      <a:r>
                        <a:rPr sz="1425" b="0">
                          <a:solidFill>
                            <a:srgbClr val="002060"/>
                          </a:solidFill>
                          <a:latin typeface="Times New Roman"/>
                          <a:ea typeface="Times New Roman"/>
                          <a:cs typeface="Times New Roman"/>
                        </a:rPr>
                        <a:t>Product Service</a:t>
                      </a:r>
                    </a:p>
                  </a:txBody>
                  <a:tcPr>
                    <a:solidFill>
                      <a:srgbClr val="FFFFFF"/>
                    </a:solidFill>
                  </a:tcPr>
                </a:tc>
                <a:tc>
                  <a:txBody>
                    <a:bodyPr/>
                    <a:lstStyle/>
                    <a:p>
                      <a:r>
                        <a:rPr sz="1425" b="0">
                          <a:solidFill>
                            <a:srgbClr val="002060"/>
                          </a:solidFill>
                          <a:latin typeface="Times New Roman"/>
                          <a:ea typeface="Times New Roman"/>
                          <a:cs typeface="Times New Roman"/>
                        </a:rPr>
                        <a:t>8082</a:t>
                      </a:r>
                    </a:p>
                  </a:txBody>
                  <a:tcPr>
                    <a:solidFill>
                      <a:srgbClr val="FFFFFF"/>
                    </a:solidFill>
                  </a:tcPr>
                </a:tc>
                <a:tc>
                  <a:txBody>
                    <a:bodyPr/>
                    <a:lstStyle/>
                    <a:p>
                      <a:r>
                        <a:rPr sz="1425" b="0">
                          <a:solidFill>
                            <a:srgbClr val="002060"/>
                          </a:solidFill>
                          <a:latin typeface="Times New Roman"/>
                          <a:ea typeface="Times New Roman"/>
                          <a:cs typeface="Times New Roman"/>
                        </a:rPr>
                        <a:t>Listings and stock reservations</a:t>
                      </a:r>
                    </a:p>
                  </a:txBody>
                  <a:tcPr>
                    <a:solidFill>
                      <a:srgbClr val="FFFFFF"/>
                    </a:solidFill>
                  </a:tcPr>
                </a:tc>
                <a:extLst>
                  <a:ext uri="{0D108BD9-81ED-4DB2-BD59-A6C34878D82A}">
                    <a16:rowId xmlns:a16="http://schemas.microsoft.com/office/drawing/2014/main" val="10004"/>
                  </a:ext>
                </a:extLst>
              </a:tr>
              <a:tr h="345621">
                <a:tc>
                  <a:txBody>
                    <a:bodyPr/>
                    <a:lstStyle/>
                    <a:p>
                      <a:r>
                        <a:rPr sz="1425" b="0">
                          <a:solidFill>
                            <a:srgbClr val="002060"/>
                          </a:solidFill>
                          <a:latin typeface="Times New Roman"/>
                          <a:ea typeface="Times New Roman"/>
                          <a:cs typeface="Times New Roman"/>
                        </a:rPr>
                        <a:t>Order Service</a:t>
                      </a:r>
                    </a:p>
                  </a:txBody>
                  <a:tcPr>
                    <a:solidFill>
                      <a:srgbClr val="FFF6EF"/>
                    </a:solidFill>
                  </a:tcPr>
                </a:tc>
                <a:tc>
                  <a:txBody>
                    <a:bodyPr/>
                    <a:lstStyle/>
                    <a:p>
                      <a:r>
                        <a:rPr sz="1425" b="0">
                          <a:solidFill>
                            <a:srgbClr val="002060"/>
                          </a:solidFill>
                          <a:latin typeface="Times New Roman"/>
                          <a:ea typeface="Times New Roman"/>
                          <a:cs typeface="Times New Roman"/>
                        </a:rPr>
                        <a:t>8083</a:t>
                      </a:r>
                    </a:p>
                  </a:txBody>
                  <a:tcPr>
                    <a:solidFill>
                      <a:srgbClr val="FFF6EF"/>
                    </a:solidFill>
                  </a:tcPr>
                </a:tc>
                <a:tc>
                  <a:txBody>
                    <a:bodyPr/>
                    <a:lstStyle/>
                    <a:p>
                      <a:r>
                        <a:rPr sz="1425" b="0">
                          <a:solidFill>
                            <a:srgbClr val="002060"/>
                          </a:solidFill>
                          <a:latin typeface="Times New Roman"/>
                          <a:ea typeface="Times New Roman"/>
                          <a:cs typeface="Times New Roman"/>
                        </a:rPr>
                        <a:t>Checkout and order history</a:t>
                      </a:r>
                    </a:p>
                  </a:txBody>
                  <a:tcPr>
                    <a:solidFill>
                      <a:srgbClr val="FFF6EF"/>
                    </a:solidFill>
                  </a:tcPr>
                </a:tc>
                <a:extLst>
                  <a:ext uri="{0D108BD9-81ED-4DB2-BD59-A6C34878D82A}">
                    <a16:rowId xmlns:a16="http://schemas.microsoft.com/office/drawing/2014/main" val="10005"/>
                  </a:ext>
                </a:extLst>
              </a:tr>
              <a:tr h="345621">
                <a:tc>
                  <a:txBody>
                    <a:bodyPr/>
                    <a:lstStyle/>
                    <a:p>
                      <a:r>
                        <a:rPr sz="1425" b="0">
                          <a:solidFill>
                            <a:srgbClr val="002060"/>
                          </a:solidFill>
                          <a:latin typeface="Times New Roman"/>
                          <a:ea typeface="Times New Roman"/>
                          <a:cs typeface="Times New Roman"/>
                        </a:rPr>
                        <a:t>Invoice Service</a:t>
                      </a:r>
                    </a:p>
                  </a:txBody>
                  <a:tcPr>
                    <a:solidFill>
                      <a:srgbClr val="FFFFFF"/>
                    </a:solidFill>
                  </a:tcPr>
                </a:tc>
                <a:tc>
                  <a:txBody>
                    <a:bodyPr/>
                    <a:lstStyle/>
                    <a:p>
                      <a:r>
                        <a:rPr sz="1425" b="0">
                          <a:solidFill>
                            <a:srgbClr val="002060"/>
                          </a:solidFill>
                          <a:latin typeface="Times New Roman"/>
                          <a:ea typeface="Times New Roman"/>
                          <a:cs typeface="Times New Roman"/>
                        </a:rPr>
                        <a:t>8084</a:t>
                      </a:r>
                    </a:p>
                  </a:txBody>
                  <a:tcPr>
                    <a:solidFill>
                      <a:srgbClr val="FFFFFF"/>
                    </a:solidFill>
                  </a:tcPr>
                </a:tc>
                <a:tc>
                  <a:txBody>
                    <a:bodyPr/>
                    <a:lstStyle/>
                    <a:p>
                      <a:r>
                        <a:rPr sz="1425" b="0">
                          <a:solidFill>
                            <a:srgbClr val="002060"/>
                          </a:solidFill>
                          <a:latin typeface="Times New Roman"/>
                          <a:ea typeface="Times New Roman"/>
                          <a:cs typeface="Times New Roman"/>
                        </a:rPr>
                        <a:t>SOAP invoice generation</a:t>
                      </a:r>
                    </a:p>
                  </a:txBody>
                  <a:tcPr>
                    <a:solidFill>
                      <a:srgbClr val="FFFFFF"/>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E1A78978-A272-4277-AC8C-4D09D324F25A}"/>
              </a:ext>
            </a:extLst>
          </p:cNvPr>
          <p:cNvSpPr>
            <a:spLocks noGrp="1"/>
          </p:cNvSpPr>
          <p:nvPr/>
        </p:nvSpPr>
        <p:spPr>
          <a:xfrm>
            <a:off x="638175" y="3590925"/>
            <a:ext cx="7867650" cy="581025"/>
          </a:xfrm>
          <a:prstGeom prst="rect">
            <a:avLst/>
          </a:prstGeom>
          <a:noFill/>
          <a:ln w="0">
            <a:noFill/>
          </a:ln>
        </p:spPr>
        <p:txBody>
          <a:bodyPr lIns="0" tIns="0" rIns="0" bIns="0"/>
          <a:lstStyle>
            <a:defPPr>
              <a:defRPr sz="1575" b="0">
                <a:solidFill>
                  <a:srgbClr val="002060"/>
                </a:solidFill>
                <a:latin typeface="Times New Roman"/>
                <a:ea typeface="Times New Roman"/>
                <a:cs typeface="Times New Roman"/>
              </a:defRPr>
            </a:defPPr>
          </a:lstStyle>
          <a:p>
            <a:pPr>
              <a:defRPr sz="1575" b="0">
                <a:solidFill>
                  <a:srgbClr val="002060"/>
                </a:solidFill>
                <a:latin typeface="Times New Roman"/>
                <a:ea typeface="Times New Roman"/>
                <a:cs typeface="Times New Roman"/>
              </a:defRPr>
            </a:pPr>
            <a:r>
              <a:rPr sz="1575" b="0">
                <a:solidFill>
                  <a:srgbClr val="002060"/>
                </a:solidFill>
                <a:latin typeface="Times New Roman"/>
                <a:ea typeface="Times New Roman"/>
                <a:cs typeface="Times New Roman"/>
              </a:rPr>
              <a:t>Order Service uses REST for inventory and SOAP for invoices. Each service owns a schema in the ecomm CockroachDB database.</a:t>
            </a:r>
          </a:p>
        </p:txBody>
      </p:sp>
      <p:sp>
        <p:nvSpPr>
          <p:cNvPr id="7" name="Rectangle 6">
            <a:extLst>
              <a:ext uri="{FF2B5EF4-FFF2-40B4-BE49-F238E27FC236}">
                <a16:creationId xmlns:a16="http://schemas.microsoft.com/office/drawing/2014/main" id="{13B72A38-221B-4D5F-AE82-A97DB6D756E7}"/>
              </a:ext>
            </a:extLst>
          </p:cNvPr>
          <p:cNvSpPr>
            <a:spLocks noGrp="1"/>
          </p:cNvSpPr>
          <p:nvPr/>
        </p:nvSpPr>
        <p:spPr>
          <a:xfrm>
            <a:off x="638175" y="4410075"/>
            <a:ext cx="7867650" cy="276225"/>
          </a:xfrm>
          <a:prstGeom prst="rect">
            <a:avLst/>
          </a:prstGeom>
          <a:noFill/>
          <a:ln w="0">
            <a:noFill/>
          </a:ln>
        </p:spPr>
        <p:txBody>
          <a:bodyPr lIns="0" tIns="0" rIns="0" bIns="0"/>
          <a:lstStyle>
            <a:defPPr>
              <a:defRPr sz="1575" b="1">
                <a:solidFill>
                  <a:srgbClr val="C55A11"/>
                </a:solidFill>
                <a:latin typeface="Times New Roman"/>
                <a:ea typeface="Times New Roman"/>
                <a:cs typeface="Times New Roman"/>
              </a:defRPr>
            </a:defPPr>
          </a:lstStyle>
          <a:p>
            <a:pPr>
              <a:defRPr sz="1575" b="1">
                <a:solidFill>
                  <a:srgbClr val="C55A11"/>
                </a:solidFill>
                <a:latin typeface="Times New Roman"/>
                <a:ea typeface="Times New Roman"/>
                <a:cs typeface="Times New Roman"/>
              </a:defRPr>
            </a:pPr>
            <a:r>
              <a:rPr sz="1575" b="1">
                <a:solidFill>
                  <a:srgbClr val="C55A11"/>
                </a:solidFill>
                <a:latin typeface="Times New Roman"/>
                <a:ea typeface="Times New Roman"/>
                <a:cs typeface="Times New Roman"/>
              </a:rPr>
              <a:t>AOP log fields: operation, outcome, durationMs, traceId</a:t>
            </a:r>
          </a:p>
        </p:txBody>
      </p:sp>
      <p:sp>
        <p:nvSpPr>
          <p:cNvPr id="8" name="Rectangle 7">
            <a:extLst>
              <a:ext uri="{FF2B5EF4-FFF2-40B4-BE49-F238E27FC236}">
                <a16:creationId xmlns:a16="http://schemas.microsoft.com/office/drawing/2014/main" id="{4C39B112-F5D2-477A-BCF5-3818B6041453}"/>
              </a:ext>
            </a:extLst>
          </p:cNvPr>
          <p:cNvSpPr>
            <a:spLocks noGrp="1"/>
          </p:cNvSpPr>
          <p:nvPr/>
        </p:nvSpPr>
        <p:spPr>
          <a:xfrm>
            <a:off x="638175" y="4772025"/>
            <a:ext cx="7867650" cy="238125"/>
          </a:xfrm>
          <a:prstGeom prst="rect">
            <a:avLst/>
          </a:prstGeom>
          <a:noFill/>
          <a:ln w="0">
            <a:noFill/>
          </a:ln>
        </p:spPr>
        <p:txBody>
          <a:bodyPr lIns="0" tIns="0" rIns="0" bIns="0"/>
          <a:lstStyle>
            <a:defPPr>
              <a:defRPr sz="1350" b="0">
                <a:solidFill>
                  <a:srgbClr val="555555"/>
                </a:solidFill>
                <a:latin typeface="Times New Roman"/>
                <a:ea typeface="Times New Roman"/>
                <a:cs typeface="Times New Roman"/>
              </a:defRPr>
            </a:defPPr>
          </a:lstStyle>
          <a:p>
            <a:pPr>
              <a:defRPr sz="1350" b="0">
                <a:solidFill>
                  <a:srgbClr val="555555"/>
                </a:solidFill>
                <a:latin typeface="Times New Roman"/>
                <a:ea typeface="Times New Roman"/>
                <a:cs typeface="Times New Roman"/>
              </a:defRPr>
            </a:pPr>
            <a:r>
              <a:rPr sz="1350" b="0">
                <a:solidFill>
                  <a:srgbClr val="555555"/>
                </a:solidFill>
                <a:latin typeface="Times New Roman"/>
                <a:ea typeface="Times New Roman"/>
                <a:cs typeface="Times New Roman"/>
              </a:rPr>
              <a:t>Internal service calls carry a separate backend credential.</a:t>
            </a:r>
          </a:p>
        </p:txBody>
      </p:sp>
    </p:spTree>
    <p:extLst>
      <p:ext uri="{BB962C8B-B14F-4D97-AF65-F5344CB8AC3E}">
        <p14:creationId xmlns:p14="http://schemas.microsoft.com/office/powerpoint/2010/main" val="240539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35110695-5270-416D-9874-0D1C78151CE3}"/>
              </a:ext>
            </a:extLst>
          </p:cNvPr>
          <p:cNvPicPr>
            <a:picLocks noChangeAspect="1"/>
          </p:cNvPicPr>
          <p:nvPr/>
        </p:nvPicPr>
        <p:blipFill>
          <a:blip r:embed="rId3"/>
          <a:stretch>
            <a:fillRect/>
          </a:stretch>
        </p:blipFill>
        <p:spPr>
          <a:xfrm>
            <a:off x="274320" y="182880"/>
            <a:ext cx="1097280" cy="402336"/>
          </a:xfrm>
          <a:prstGeom prst="rect">
            <a:avLst/>
          </a:prstGeom>
        </p:spPr>
      </p:pic>
      <p:sp>
        <p:nvSpPr>
          <p:cNvPr id="3" name="Shape 0">
            <a:extLst>
              <a:ext uri="{FF2B5EF4-FFF2-40B4-BE49-F238E27FC236}">
                <a16:creationId xmlns:a16="http://schemas.microsoft.com/office/drawing/2014/main" id="{1DE293AF-EBE6-4C4A-9C1E-53EE37957522}"/>
              </a:ext>
            </a:extLst>
          </p:cNvPr>
          <p:cNvSpPr>
            <a:spLocks noGrp="1"/>
          </p:cNvSpPr>
          <p:nvPr/>
        </p:nvSpPr>
        <p:spPr>
          <a:xfrm>
            <a:off x="1645920" y="164592"/>
            <a:ext cx="6858000" cy="475488"/>
          </a:xfrm>
          <a:prstGeom prst="roundRect">
            <a:avLst>
              <a:gd name="adj" fmla="val 23077"/>
            </a:avLst>
          </a:prstGeom>
          <a:solidFill>
            <a:srgbClr val="FF6600"/>
          </a:solidFill>
          <a:ln w="12700">
            <a:solidFill>
              <a:srgbClr val="FF6600"/>
            </a:solidFill>
            <a:prstDash val="solid"/>
          </a:ln>
          <a:effectLst>
            <a:outerShdw blurRad="76200" dist="38100" dir="5400000" algn="bl" rotWithShape="0">
              <a:srgbClr val="000000">
                <a:alpha val="35000"/>
              </a:srgbClr>
            </a:outerShdw>
          </a:effectLst>
        </p:spPr>
      </p:sp>
      <p:sp>
        <p:nvSpPr>
          <p:cNvPr id="4" name="Text 1">
            <a:extLst>
              <a:ext uri="{FF2B5EF4-FFF2-40B4-BE49-F238E27FC236}">
                <a16:creationId xmlns:a16="http://schemas.microsoft.com/office/drawing/2014/main" id="{9B82AD32-918F-4138-A9E9-EB7C2EF2BD77}"/>
              </a:ext>
            </a:extLst>
          </p:cNvPr>
          <p:cNvSpPr>
            <a:spLocks noGrp="1"/>
          </p:cNvSpPr>
          <p:nvPr/>
        </p:nvSpPr>
        <p:spPr>
          <a:xfrm>
            <a:off x="1645920" y="164592"/>
            <a:ext cx="6858000" cy="475488"/>
          </a:xfrm>
          <a:prstGeom prst="rect">
            <a:avLst/>
          </a:prstGeom>
          <a:noFill/>
        </p:spPr>
        <p:txBody>
          <a:bodyPr wrap="square" lIns="0" tIns="0" rIns="0" bIns="0" anchor="ctr"/>
          <a:lstStyle/>
          <a:p>
            <a:pPr marL="0" indent="0" algn="ctr">
              <a:buNone/>
            </a:pPr>
            <a:r>
              <a:rPr sz="1800" b="1">
                <a:solidFill>
                  <a:srgbClr val="FFFFFF"/>
                </a:solidFill>
                <a:latin typeface="Times New Roman"/>
                <a:ea typeface="Times New Roman"/>
                <a:cs typeface="Times New Roman"/>
              </a:rPr>
              <a:t>Future Enhancements</a:t>
            </a:r>
            <a:endParaRPr sz="1800"/>
          </a:p>
        </p:txBody>
      </p:sp>
      <p:sp>
        <p:nvSpPr>
          <p:cNvPr id="5" name="Text 2">
            <a:extLst>
              <a:ext uri="{FF2B5EF4-FFF2-40B4-BE49-F238E27FC236}">
                <a16:creationId xmlns:a16="http://schemas.microsoft.com/office/drawing/2014/main" id="{03FE3732-259B-463E-97B2-8AB8581485FD}"/>
              </a:ext>
            </a:extLst>
          </p:cNvPr>
          <p:cNvSpPr>
            <a:spLocks noGrp="1"/>
          </p:cNvSpPr>
          <p:nvPr/>
        </p:nvSpPr>
        <p:spPr>
          <a:xfrm>
            <a:off x="640080" y="1005840"/>
            <a:ext cx="7863840" cy="3657600"/>
          </a:xfrm>
          <a:prstGeom prst="rect">
            <a:avLst/>
          </a:prstGeom>
          <a:noFill/>
        </p:spPr>
        <p:txBody>
          <a:bodyPr wrap="square" lIns="0" tIns="0" rIns="0" bIns="0" anchor="t"/>
          <a:lstStyle/>
          <a:p>
            <a:pPr marL="342900" indent="-342900">
              <a:spcAft>
                <a:spcPts val="800"/>
              </a:spcAft>
              <a:buSzPct val="100000"/>
              <a:buChar char="•"/>
            </a:pPr>
            <a:r>
              <a:rPr sz="1600">
                <a:solidFill>
                  <a:srgbClr val="333333"/>
                </a:solidFill>
                <a:latin typeface="Times New Roman"/>
                <a:ea typeface="Times New Roman"/>
                <a:cs typeface="Times New Roman"/>
              </a:rPr>
              <a:t>Integrate a payment provider with secure payment confirmation.</a:t>
            </a:r>
            <a:endParaRPr sz="1600"/>
          </a:p>
          <a:p>
            <a:pPr marL="342900" indent="-342900">
              <a:spcAft>
                <a:spcPts val="800"/>
              </a:spcAft>
              <a:buSzPct val="100000"/>
              <a:buChar char="•"/>
            </a:pPr>
            <a:r>
              <a:rPr sz="1600">
                <a:solidFill>
                  <a:srgbClr val="333333"/>
                </a:solidFill>
                <a:latin typeface="Times New Roman"/>
                <a:ea typeface="Times New Roman"/>
                <a:cs typeface="Times New Roman"/>
              </a:rPr>
              <a:t>Add delivery tracking, returns and refund workflows.</a:t>
            </a:r>
            <a:endParaRPr sz="1600"/>
          </a:p>
          <a:p>
            <a:pPr marL="342900" indent="-342900">
              <a:spcAft>
                <a:spcPts val="800"/>
              </a:spcAft>
              <a:buSzPct val="100000"/>
              <a:buChar char="•"/>
            </a:pPr>
            <a:r>
              <a:rPr sz="1600">
                <a:solidFill>
                  <a:srgbClr val="333333"/>
                </a:solidFill>
                <a:latin typeface="Times New Roman"/>
                <a:ea typeface="Times New Roman"/>
                <a:cs typeface="Times New Roman"/>
              </a:rPr>
              <a:t>Send order and invoice notifications by email or SMS.</a:t>
            </a:r>
            <a:endParaRPr sz="1600"/>
          </a:p>
          <a:p>
            <a:pPr marL="342900" indent="-342900">
              <a:spcAft>
                <a:spcPts val="800"/>
              </a:spcAft>
              <a:buSzPct val="100000"/>
              <a:buChar char="•"/>
            </a:pPr>
            <a:r>
              <a:rPr sz="1600">
                <a:solidFill>
                  <a:srgbClr val="333333"/>
                </a:solidFill>
                <a:latin typeface="Times New Roman"/>
                <a:ea typeface="Times New Roman"/>
                <a:cs typeface="Times New Roman"/>
              </a:rPr>
              <a:t>Use a message broker for asynchronous service events.</a:t>
            </a:r>
            <a:endParaRPr sz="1600"/>
          </a:p>
          <a:p>
            <a:pPr marL="342900" indent="-342900">
              <a:spcAft>
                <a:spcPts val="800"/>
              </a:spcAft>
              <a:buSzPct val="100000"/>
              <a:buChar char="•"/>
            </a:pPr>
            <a:r>
              <a:rPr sz="1600">
                <a:solidFill>
                  <a:srgbClr val="333333"/>
                </a:solidFill>
                <a:latin typeface="Times New Roman"/>
                <a:ea typeface="Times New Roman"/>
                <a:cs typeface="Times New Roman"/>
              </a:rPr>
              <a:t>Add centralised monitoring, circuit breakers and service discovery.</a:t>
            </a:r>
            <a:endParaRPr sz="1600"/>
          </a:p>
          <a:p>
            <a:pPr marL="342900" indent="-342900">
              <a:spcAft>
                <a:spcPts val="800"/>
              </a:spcAft>
              <a:buSzPct val="100000"/>
              <a:buChar char="•"/>
            </a:pPr>
            <a:r>
              <a:rPr sz="1600">
                <a:solidFill>
                  <a:srgbClr val="333333"/>
                </a:solidFill>
                <a:latin typeface="Times New Roman"/>
                <a:ea typeface="Times New Roman"/>
                <a:cs typeface="Times New Roman"/>
              </a:rPr>
              <a:t>Move uploaded images to managed object storage for deployment.</a:t>
            </a:r>
            <a:endParaRPr sz="1600"/>
          </a:p>
        </p:txBody>
      </p:sp>
    </p:spTree>
    <p:extLst>
      <p:ext uri="{BB962C8B-B14F-4D97-AF65-F5344CB8AC3E}">
        <p14:creationId xmlns:p14="http://schemas.microsoft.com/office/powerpoint/2010/main" val="5833714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50D62692-069A-4C0C-8C5A-D558CA097B43}"/>
              </a:ext>
            </a:extLst>
          </p:cNvPr>
          <p:cNvPicPr>
            <a:picLocks noChangeAspect="1"/>
          </p:cNvPicPr>
          <p:nvPr/>
        </p:nvPicPr>
        <p:blipFill>
          <a:blip r:embed="rId3"/>
          <a:stretch>
            <a:fillRect/>
          </a:stretch>
        </p:blipFill>
        <p:spPr>
          <a:xfrm>
            <a:off x="274320" y="182880"/>
            <a:ext cx="1097280" cy="402336"/>
          </a:xfrm>
          <a:prstGeom prst="rect">
            <a:avLst/>
          </a:prstGeom>
        </p:spPr>
      </p:pic>
      <p:sp>
        <p:nvSpPr>
          <p:cNvPr id="3" name="Shape 0">
            <a:extLst>
              <a:ext uri="{FF2B5EF4-FFF2-40B4-BE49-F238E27FC236}">
                <a16:creationId xmlns:a16="http://schemas.microsoft.com/office/drawing/2014/main" id="{7696FFDA-1821-4253-89B9-D78AD40B1F21}"/>
              </a:ext>
            </a:extLst>
          </p:cNvPr>
          <p:cNvSpPr>
            <a:spLocks noGrp="1"/>
          </p:cNvSpPr>
          <p:nvPr/>
        </p:nvSpPr>
        <p:spPr>
          <a:xfrm>
            <a:off x="1645920" y="164592"/>
            <a:ext cx="6858000" cy="475488"/>
          </a:xfrm>
          <a:prstGeom prst="roundRect">
            <a:avLst>
              <a:gd name="adj" fmla="val 23077"/>
            </a:avLst>
          </a:prstGeom>
          <a:solidFill>
            <a:srgbClr val="FF6600"/>
          </a:solidFill>
          <a:ln w="12700">
            <a:solidFill>
              <a:srgbClr val="FF6600"/>
            </a:solidFill>
            <a:prstDash val="solid"/>
          </a:ln>
          <a:effectLst>
            <a:outerShdw blurRad="76200" dist="38100" dir="5400000" algn="bl" rotWithShape="0">
              <a:srgbClr val="000000">
                <a:alpha val="35000"/>
              </a:srgbClr>
            </a:outerShdw>
          </a:effectLst>
        </p:spPr>
      </p:sp>
      <p:sp>
        <p:nvSpPr>
          <p:cNvPr id="4" name="Text 1">
            <a:extLst>
              <a:ext uri="{FF2B5EF4-FFF2-40B4-BE49-F238E27FC236}">
                <a16:creationId xmlns:a16="http://schemas.microsoft.com/office/drawing/2014/main" id="{F35FE038-8D41-45EE-937E-EB19029FAF48}"/>
              </a:ext>
            </a:extLst>
          </p:cNvPr>
          <p:cNvSpPr>
            <a:spLocks noGrp="1"/>
          </p:cNvSpPr>
          <p:nvPr/>
        </p:nvSpPr>
        <p:spPr>
          <a:xfrm>
            <a:off x="1645920" y="164592"/>
            <a:ext cx="6858000" cy="475488"/>
          </a:xfrm>
          <a:prstGeom prst="rect">
            <a:avLst/>
          </a:prstGeom>
          <a:noFill/>
        </p:spPr>
        <p:txBody>
          <a:bodyPr wrap="square" lIns="0" tIns="0" rIns="0" bIns="0" anchor="ctr"/>
          <a:lstStyle/>
          <a:p>
            <a:pPr marL="0" indent="0" algn="ctr">
              <a:buNone/>
            </a:pPr>
            <a:r>
              <a:rPr sz="1800" b="1">
                <a:solidFill>
                  <a:srgbClr val="FFFFFF"/>
                </a:solidFill>
                <a:latin typeface="Times New Roman"/>
                <a:ea typeface="Times New Roman"/>
                <a:cs typeface="Times New Roman"/>
              </a:rPr>
              <a:t>Conclusion</a:t>
            </a:r>
            <a:endParaRPr sz="1800"/>
          </a:p>
        </p:txBody>
      </p:sp>
      <p:sp>
        <p:nvSpPr>
          <p:cNvPr id="5" name="Text 2">
            <a:extLst>
              <a:ext uri="{FF2B5EF4-FFF2-40B4-BE49-F238E27FC236}">
                <a16:creationId xmlns:a16="http://schemas.microsoft.com/office/drawing/2014/main" id="{EC77908A-0739-409A-962D-4A102B97D8F0}"/>
              </a:ext>
            </a:extLst>
          </p:cNvPr>
          <p:cNvSpPr>
            <a:spLocks noGrp="1"/>
          </p:cNvSpPr>
          <p:nvPr/>
        </p:nvSpPr>
        <p:spPr>
          <a:xfrm>
            <a:off x="640080" y="1005840"/>
            <a:ext cx="7863840" cy="3657600"/>
          </a:xfrm>
          <a:prstGeom prst="rect">
            <a:avLst/>
          </a:prstGeom>
          <a:noFill/>
        </p:spPr>
        <p:txBody>
          <a:bodyPr wrap="square" lIns="0" tIns="0" rIns="0" bIns="0" anchor="t"/>
          <a:lstStyle/>
          <a:p>
            <a:pPr marL="342900" indent="-342900">
              <a:spcAft>
                <a:spcPts val="800"/>
              </a:spcAft>
              <a:buSzPct val="100000"/>
              <a:buChar char="•"/>
            </a:pPr>
            <a:r>
              <a:rPr sz="1600">
                <a:solidFill>
                  <a:srgbClr val="333333"/>
                </a:solidFill>
                <a:latin typeface="Times New Roman"/>
                <a:ea typeface="Times New Roman"/>
                <a:cs typeface="Times New Roman"/>
              </a:rPr>
              <a:t>Built a marketplace with customer, seller and administrator workflows.</a:t>
            </a:r>
            <a:endParaRPr sz="1600"/>
          </a:p>
          <a:p>
            <a:pPr marL="342900" indent="-342900">
              <a:spcAft>
                <a:spcPts val="800"/>
              </a:spcAft>
              <a:buSzPct val="100000"/>
              <a:buChar char="•"/>
            </a:pPr>
            <a:r>
              <a:rPr sz="1600">
                <a:solidFill>
                  <a:srgbClr val="333333"/>
                </a:solidFill>
                <a:latin typeface="Times New Roman"/>
                <a:ea typeface="Times New Roman"/>
                <a:cs typeface="Times New Roman"/>
              </a:rPr>
              <a:t>Implemented REST product and order APIs with validation and access control.</a:t>
            </a:r>
            <a:endParaRPr sz="1600"/>
          </a:p>
          <a:p>
            <a:pPr marL="342900" indent="-342900">
              <a:spcAft>
                <a:spcPts val="800"/>
              </a:spcAft>
              <a:buSzPct val="100000"/>
              <a:buChar char="•"/>
            </a:pPr>
            <a:r>
              <a:rPr sz="1600">
                <a:solidFill>
                  <a:srgbClr val="333333"/>
                </a:solidFill>
                <a:latin typeface="Times New Roman"/>
                <a:ea typeface="Times New Roman"/>
                <a:cs typeface="Times New Roman"/>
              </a:rPr>
              <a:t>Used stock reservations and retry handling to keep checkout consistent.</a:t>
            </a:r>
            <a:endParaRPr sz="1600"/>
          </a:p>
          <a:p>
            <a:pPr marL="342900" indent="-342900">
              <a:spcAft>
                <a:spcPts val="800"/>
              </a:spcAft>
              <a:buSzPct val="100000"/>
              <a:buChar char="•"/>
            </a:pPr>
            <a:r>
              <a:rPr sz="1600">
                <a:solidFill>
                  <a:srgbClr val="333333"/>
                </a:solidFill>
                <a:latin typeface="Times New Roman"/>
                <a:ea typeface="Times New Roman"/>
                <a:cs typeface="Times New Roman"/>
              </a:rPr>
              <a:t>Demonstrated SOAP invoicing, AOP logging and separate service schemas.</a:t>
            </a:r>
            <a:endParaRPr sz="1600"/>
          </a:p>
        </p:txBody>
      </p:sp>
    </p:spTree>
    <p:extLst>
      <p:ext uri="{BB962C8B-B14F-4D97-AF65-F5344CB8AC3E}">
        <p14:creationId xmlns:p14="http://schemas.microsoft.com/office/powerpoint/2010/main" val="1453050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a:extLst>
              <a:ext uri="{FF2B5EF4-FFF2-40B4-BE49-F238E27FC236}">
                <a16:creationId xmlns:a16="http://schemas.microsoft.com/office/drawing/2014/main" id="{D09DCD07-4027-438B-A8F8-18489486D502}"/>
              </a:ext>
            </a:extLst>
          </p:cNvPr>
          <p:cNvPicPr>
            <a:picLocks noChangeAspect="1"/>
          </p:cNvPicPr>
          <p:nvPr/>
        </p:nvPicPr>
        <p:blipFill>
          <a:blip r:embed="rId3"/>
          <a:stretch>
            <a:fillRect/>
          </a:stretch>
        </p:blipFill>
        <p:spPr>
          <a:xfrm>
            <a:off x="2286000" y="914400"/>
            <a:ext cx="4572000" cy="621792"/>
          </a:xfrm>
          <a:prstGeom prst="rect">
            <a:avLst/>
          </a:prstGeom>
        </p:spPr>
      </p:pic>
      <p:sp>
        <p:nvSpPr>
          <p:cNvPr id="3" name="Text 0">
            <a:extLst>
              <a:ext uri="{FF2B5EF4-FFF2-40B4-BE49-F238E27FC236}">
                <a16:creationId xmlns:a16="http://schemas.microsoft.com/office/drawing/2014/main" id="{E8FA694E-1982-4C8E-9B97-E1ED72173C9B}"/>
              </a:ext>
            </a:extLst>
          </p:cNvPr>
          <p:cNvSpPr>
            <a:spLocks noGrp="1"/>
          </p:cNvSpPr>
          <p:nvPr/>
        </p:nvSpPr>
        <p:spPr>
          <a:xfrm>
            <a:off x="457200" y="2103120"/>
            <a:ext cx="8229600" cy="914400"/>
          </a:xfrm>
          <a:prstGeom prst="rect">
            <a:avLst/>
          </a:prstGeom>
          <a:noFill/>
        </p:spPr>
        <p:txBody>
          <a:bodyPr wrap="square" lIns="0" tIns="0" rIns="0" bIns="0" anchor="ctr"/>
          <a:lstStyle/>
          <a:p>
            <a:pPr marL="0" indent="0" algn="ctr">
              <a:buNone/>
            </a:pPr>
            <a:r>
              <a:rPr sz="4000" b="1">
                <a:solidFill>
                  <a:srgbClr val="C55A11"/>
                </a:solidFill>
                <a:latin typeface="Times New Roman"/>
                <a:ea typeface="Times New Roman"/>
                <a:cs typeface="Times New Roman"/>
              </a:rPr>
              <a:t>THANK YOU...</a:t>
            </a:r>
            <a:endParaRPr sz="4000"/>
          </a:p>
        </p:txBody>
      </p:sp>
      <p:sp>
        <p:nvSpPr>
          <p:cNvPr id="4" name="Text 1">
            <a:extLst>
              <a:ext uri="{FF2B5EF4-FFF2-40B4-BE49-F238E27FC236}">
                <a16:creationId xmlns:a16="http://schemas.microsoft.com/office/drawing/2014/main" id="{C48BE291-6032-4AFF-AACA-1FABE48D9C6C}"/>
              </a:ext>
            </a:extLst>
          </p:cNvPr>
          <p:cNvSpPr>
            <a:spLocks noGrp="1"/>
          </p:cNvSpPr>
          <p:nvPr/>
        </p:nvSpPr>
        <p:spPr>
          <a:xfrm>
            <a:off x="457200" y="3108960"/>
            <a:ext cx="8229600" cy="457200"/>
          </a:xfrm>
          <a:prstGeom prst="rect">
            <a:avLst/>
          </a:prstGeom>
          <a:noFill/>
        </p:spPr>
        <p:txBody>
          <a:bodyPr wrap="square" lIns="0" tIns="0" rIns="0" bIns="0" anchor="ctr"/>
          <a:lstStyle/>
          <a:p>
            <a:pPr marL="0" indent="0" algn="ctr">
              <a:buNone/>
            </a:pPr>
            <a:r>
              <a:rPr sz="1800" b="1">
                <a:solidFill>
                  <a:srgbClr val="002060"/>
                </a:solidFill>
                <a:latin typeface="Times New Roman"/>
                <a:ea typeface="Times New Roman"/>
                <a:cs typeface="Times New Roman"/>
              </a:rPr>
              <a:t>E-Commerce Product &amp; Order Management System</a:t>
            </a:r>
            <a:endParaRPr sz="1800"/>
          </a:p>
        </p:txBody>
      </p:sp>
    </p:spTree>
    <p:extLst>
      <p:ext uri="{BB962C8B-B14F-4D97-AF65-F5344CB8AC3E}">
        <p14:creationId xmlns:p14="http://schemas.microsoft.com/office/powerpoint/2010/main" val="15057652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1923</Words>
  <Application>Microsoft Office PowerPoint</Application>
  <DocSecurity>0</DocSecurity>
  <PresentationFormat>On-screen Show (16:9)</PresentationFormat>
  <Paragraphs>195</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Kishore Velamarthi</cp:lastModifiedBy>
  <cp:revision>1</cp:revision>
  <dcterms:created xsi:type="dcterms:W3CDTF">2026-10-09T09:30:26Z</dcterms:created>
  <dcterms:modified xsi:type="dcterms:W3CDTF">2026-10-25T10:09:34Z</dcterms:modified>
</cp:coreProperties>
</file>